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notesSlides/notesSlide13.xml" ContentType="application/vnd.openxmlformats-officedocument.presentationml.notesSlide+xml"/>
  <Override PartName="/ppt/tags/tag13.xml" ContentType="application/vnd.openxmlformats-officedocument.presentationml.tags+xml"/>
  <Override PartName="/ppt/notesSlides/notesSlide14.xml" ContentType="application/vnd.openxmlformats-officedocument.presentationml.notesSlide+xml"/>
  <Override PartName="/ppt/tags/tag14.xml" ContentType="application/vnd.openxmlformats-officedocument.presentationml.tags+xml"/>
  <Override PartName="/ppt/notesSlides/notesSlide15.xml" ContentType="application/vnd.openxmlformats-officedocument.presentationml.notesSlide+xml"/>
  <Override PartName="/ppt/tags/tag15.xml" ContentType="application/vnd.openxmlformats-officedocument.presentationml.tags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214" r:id="rId4"/>
    <p:sldId id="2215" r:id="rId5"/>
    <p:sldId id="2216" r:id="rId6"/>
    <p:sldId id="2217" r:id="rId7"/>
    <p:sldId id="2218" r:id="rId8"/>
    <p:sldId id="2219" r:id="rId9"/>
    <p:sldId id="2220" r:id="rId10"/>
    <p:sldId id="2221" r:id="rId11"/>
    <p:sldId id="2222" r:id="rId12"/>
    <p:sldId id="2224" r:id="rId13"/>
    <p:sldId id="2225" r:id="rId14"/>
    <p:sldId id="2226" r:id="rId15"/>
    <p:sldId id="2227" r:id="rId16"/>
    <p:sldId id="2228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85615"/>
  </p:normalViewPr>
  <p:slideViewPr>
    <p:cSldViewPr snapToGrid="0">
      <p:cViewPr varScale="1">
        <p:scale>
          <a:sx n="95" d="100"/>
          <a:sy n="95" d="100"/>
        </p:scale>
        <p:origin x="12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503E8A-EF42-6F4E-AF9F-CE7A27B63D4E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DE8C99-175B-F54C-833A-B3ED9FCD49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6736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" altLang="zh-CN" b="0" i="0" dirty="0">
              <a:effectLst/>
              <a:latin typeface="Inter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DE8C99-175B-F54C-833A-B3ED9FCD49E5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63785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DE8C99-175B-F54C-833A-B3ED9FCD49E5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973396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0B89E-2158-37C8-80E6-BF4478323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4AF1D1F-29E2-E4A4-E5DC-8260BB7CCD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A8924FB-59C1-95FC-A77C-8D4770712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1BD368-5602-453A-DC25-1199425601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185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EFED6-2B9C-A369-84F5-AEE688A0F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D26DDB-05BD-9100-4775-192CF1F036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8398DB0-73B3-8F0F-E3AD-AC801E9E04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048E76-AE0C-823B-4841-0CE314BE73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52929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4AA1A-8A21-9D0F-E996-B2B7896F9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3A4D11F-3C4D-3183-9DA4-831F138C6F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AEECE35-7F6B-F4C7-ED27-653D518066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D9A8E4-CC9D-E275-5DC5-250DD9CE8D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60572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EEECC-2B9F-9102-9DD8-2A3DD4B53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476D9A4-F5F5-439D-AE8F-1DAFB940B6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CE7B76C-60B4-0DEC-DEE6-5D07B420B2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A3F6EB-7EA2-4554-29F1-75D79011ED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36766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8D82B-FB18-169A-B6F1-A65326BEA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F89162F-5C3D-1EFE-165C-165B777832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4BA5EDA-8E5C-335F-7EEC-C6D2526F0E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B0B23C-09FB-1132-DCD7-F9AE28392E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4063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646A1-275C-FA73-7748-73DF521C4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D21B18-30BF-9B86-8D46-BA6FB8BEF1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643D936-3BD4-6B52-EE1C-B2C42B99F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984292-A561-A6F5-ABB8-3D96308DC8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76512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1E1FA-814B-4268-C356-F73477BCD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28039A3-3B71-213F-322D-39B66D2C84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E2FFE88-0BB6-DF19-458F-9D5D436F87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2919EE-EF1D-216C-FF79-97FC59D2AD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54325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91AA5-8FFC-96AF-FBC5-71A47037B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67975A-F5D9-080F-7E8A-039BC7ED7B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E408C37-CC85-99F0-C1F7-452A511BBA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85A012-DA6D-FCE4-5762-6628318F5D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9614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D7BED-F253-6BEE-0A3F-44A42DE1E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9C6A82-971B-E1E6-5633-A1C911FF4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8F4A71E-38A6-3F5A-917C-D0AE69A78D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8D942F-F2CB-B557-999A-E8733EC63D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02880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B815C-FC20-8129-07D0-75500513C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04F481E-4120-682C-1169-19602833DF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628A01-238A-4AD5-EA61-D2FE54BA30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B937B3-2E6F-D9A7-4F10-B5D076FF6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19392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A1720-B4A6-F37B-5CF1-4D9FFA524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8755883-CDEF-FB06-A977-8165F7D948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76CEE32-3047-152B-E6CB-74D2EA88CB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010B86-D413-C0BE-A70E-49DDB917DE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47823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0DA94-1374-6D42-916E-52F654094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72C8CD8-7D52-CB26-B111-FA1B6EEE3A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1EE1849-768F-81D2-C025-0CC06A99D1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A472BD-83FB-FBF2-860B-01C2CA9CEF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8941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AFB48-BAAF-82F1-5433-0C5DDEB52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5987BB3-571D-A020-C1D4-AB92152CE8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579A61A-170A-C8B7-3BFF-9966C39D28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D416E9-BA51-F55D-8370-CDB760D445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1374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40D68-AC0B-6E0F-3513-1B8499370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F05440F-C49D-9117-C0BF-718E0C8147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A42E1A2-7C18-A932-147F-748A88328D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EBA72E-5C71-2FB0-5143-93B72D1F83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4569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27B75A-3EE6-FD3E-6CED-406E6C29FF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20FD7B9-84C3-98DC-1966-3E5C403B3C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43F5E3-EAF2-9B8F-8F30-2CCF94D2B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274006-D219-AB18-A772-A2129426C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3F9D53-97F1-AE4D-8C7E-92D0E57AC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9258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E0392-24EF-6984-3607-3F6D33829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ED53E9-307F-771B-4435-4BAC30341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63CE43-4999-21F5-ED4E-F62695367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644595-90FE-DD88-4BF6-77438D0ED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8C4637-E456-EE1E-C72F-AFE7DDD73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64689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C5A762-8CEB-9FB4-5187-7448FDD53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2191BB4-29AA-C687-F0DF-E05591810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808A33-15F9-4F54-B042-FFCE796AA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7554D9-4C3C-0628-C9DE-FD726E555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9032BB-6E38-DFFB-07CC-8005447C9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8102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3545FC-22C9-D93C-2A3A-4195B7D35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7808EC-C8DF-D321-A528-B63A6C55BD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5CA073-0043-6112-5AD0-CE8C2E428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A29BA8-1BB3-9110-7A3D-541C0109B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5AA313-E8A8-6112-FC1D-9E5D321E8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7AC8B8-193A-8F05-A521-556676434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82687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420243-F6C3-EF3C-CDD5-397088D7F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F421EF-1016-1DEF-5CC3-049352298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072088-7D2F-FE3E-BF5E-454535362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3F4E7C3-937D-CF08-6FB0-15F2F576D7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7E599D9-864C-F317-F245-4D34D96332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6E4885F-26E0-4383-4A10-E67A68CDA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4CDE755-C81E-6ECF-E6BA-F18DE01AF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553416C-77C7-3A33-CC8F-078F271D7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58228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450130-58D8-B972-1143-174853E5A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D875F1E-F9F1-636A-0FB7-CB27FC53F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8D1630F-2BA8-401F-75FE-929120AC2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D65356E-1D25-F144-6612-BD353A48C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37450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A7C3782-FC69-CB48-0157-96C4620C8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0465A53-D2F4-3AAC-EA10-9BF844027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C35903-BFA4-26CB-33AE-0D40347B5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2758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BF94C-06B2-C0DA-2778-2C368956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8194E6-6F88-6FA5-818B-CC62FE928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C3936FD-7689-2F18-0917-E0FE3CBED1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623E5D-DE7B-2627-804A-8F88E1986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9E7A64-7C1B-3993-3D46-0F7CFC59D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1C2768-2188-3C64-2F93-D4534DFC6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96062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B28CED-2C6C-62B1-09C3-740A04BF1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BE89661-96A9-B903-389D-5B77EC1CBA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BAFB80C-9703-7608-121D-3D07C5910A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12C321-8CC7-2578-CD19-6D71E1DA9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FA61B3-2F11-5323-805D-8CAEDE8D8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7E65BA-1C26-887A-35EE-4BCD7105E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09682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E1F615-D931-5119-845F-DEA56FDE0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CE9B39B-036D-C622-A492-7529DA04B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4DE474-4A9F-6325-55E1-548E9DEB3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7DDD73-ACBB-1566-2556-BD7F3BEBC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98DD92-6FE9-1A8A-0168-30928A2E4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85000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2D8C8CB-1A4C-9248-2199-1A404CF48D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C455DF5-6CAA-3970-2640-33C61545C5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FFBD1E-1568-DC56-428E-6AF0543E0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AC54D2-0A11-0210-BCF3-81F27990A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9F8D00-396D-5A04-392A-6A0973F06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05247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E965E69-0304-0777-D418-ABF7342E5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AF746A-7CA4-9A62-6EAF-A5ABA6BD5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203211-20DC-245B-E685-198BAFCCC0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C713B3-0345-AC44-882D-7B13CECCCA0F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03A07C-1A2C-038C-7F72-9735A37AA8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6B1138-A014-AE75-E35E-B1893C0F2E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04714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33FDCF5-A392-3E73-2C9F-CD3B4F03F399}"/>
              </a:ext>
            </a:extLst>
          </p:cNvPr>
          <p:cNvSpPr txBox="1"/>
          <p:nvPr/>
        </p:nvSpPr>
        <p:spPr>
          <a:xfrm>
            <a:off x="2195593" y="2402938"/>
            <a:ext cx="90961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altLang="zh-CN" sz="3600" b="1" dirty="0">
                <a:latin typeface="Times New Roman" panose="02020603050405020304" charset="0"/>
                <a:cs typeface="Times New Roman" panose="02020603050405020304" charset="0"/>
              </a:rPr>
              <a:t>AI Agents for Scientific Discovery</a:t>
            </a:r>
          </a:p>
          <a:p>
            <a:pPr algn="ctr"/>
            <a:r>
              <a:rPr lang="en" altLang="zh-CN" sz="2800" dirty="0">
                <a:latin typeface="Times New Roman" panose="02020603050405020304" charset="0"/>
                <a:cs typeface="Times New Roman" panose="02020603050405020304" charset="0"/>
              </a:rPr>
              <a:t>                                         --- The </a:t>
            </a:r>
            <a:r>
              <a:rPr lang="en" altLang="zh-CN" sz="2800" dirty="0" err="1">
                <a:latin typeface="Times New Roman" panose="02020603050405020304" charset="0"/>
                <a:cs typeface="Times New Roman" panose="02020603050405020304" charset="0"/>
              </a:rPr>
              <a:t>LangGraph</a:t>
            </a:r>
            <a:r>
              <a:rPr lang="en" altLang="zh-CN" sz="2800" dirty="0">
                <a:latin typeface="Times New Roman" panose="02020603050405020304" charset="0"/>
                <a:cs typeface="Times New Roman" panose="02020603050405020304" charset="0"/>
              </a:rPr>
              <a:t> in </a:t>
            </a:r>
            <a:r>
              <a:rPr lang="en" altLang="zh-CN" sz="2800" dirty="0" err="1">
                <a:latin typeface="Times New Roman" panose="02020603050405020304" charset="0"/>
                <a:cs typeface="Times New Roman" panose="02020603050405020304" charset="0"/>
              </a:rPr>
              <a:t>Biomni</a:t>
            </a:r>
            <a:endParaRPr lang="en" altLang="zh-CN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F90FCD-CBF2-8C8F-C751-63C45FC543BC}"/>
              </a:ext>
            </a:extLst>
          </p:cNvPr>
          <p:cNvSpPr txBox="1"/>
          <p:nvPr/>
        </p:nvSpPr>
        <p:spPr>
          <a:xfrm>
            <a:off x="4073066" y="4611700"/>
            <a:ext cx="43479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altLang="zh-CN" sz="2400" b="0" i="0" dirty="0">
                <a:solidFill>
                  <a:srgbClr val="3230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Presenter: </a:t>
            </a:r>
            <a:r>
              <a:rPr lang="en" altLang="zh-CN" sz="2400" dirty="0" err="1">
                <a:solidFill>
                  <a:srgbClr val="3230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Xingbo</a:t>
            </a:r>
            <a:r>
              <a:rPr lang="en" altLang="zh-CN" sz="2400" dirty="0">
                <a:solidFill>
                  <a:srgbClr val="3230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Harry, </a:t>
            </a:r>
            <a:r>
              <a:rPr lang="en" altLang="zh-CN" sz="2400" dirty="0" err="1">
                <a:solidFill>
                  <a:srgbClr val="3230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Duzhen</a:t>
            </a:r>
            <a:r>
              <a:rPr lang="en" altLang="zh-CN" sz="2400" b="0" i="0" dirty="0">
                <a:solidFill>
                  <a:srgbClr val="3230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" altLang="zh-CN" sz="2400" dirty="0">
                <a:solidFill>
                  <a:srgbClr val="3230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October 24, 2025</a:t>
            </a:r>
            <a:endParaRPr lang="en-US" altLang="zh-CN" sz="2400" dirty="0">
              <a:solidFill>
                <a:srgbClr val="32302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84A72E7-266D-9954-0E85-CA1ED5F96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265" y="-21265"/>
            <a:ext cx="4490422" cy="150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522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1B68E-0BF3-6FB4-FBAA-AF16ADAA2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D1C441-5357-AC3F-0EBD-1BDA64D5FCB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547562" y="2308225"/>
            <a:ext cx="2654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Catalog</a:t>
            </a:r>
            <a:endParaRPr lang="zh-CN" sz="5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237443E-DCF7-38BA-159B-18782BC2AEF1}"/>
              </a:ext>
            </a:extLst>
          </p:cNvPr>
          <p:cNvGrpSpPr/>
          <p:nvPr/>
        </p:nvGrpSpPr>
        <p:grpSpPr>
          <a:xfrm>
            <a:off x="4823202" y="732787"/>
            <a:ext cx="6965315" cy="5384800"/>
            <a:chOff x="8580" y="1930"/>
            <a:chExt cx="8612" cy="8480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FA8EF1C-35A5-7196-2411-8AD2EA149F64}"/>
                </a:ext>
              </a:extLst>
            </p:cNvPr>
            <p:cNvSpPr/>
            <p:nvPr/>
          </p:nvSpPr>
          <p:spPr>
            <a:xfrm>
              <a:off x="8580" y="1930"/>
              <a:ext cx="8612" cy="8480"/>
            </a:xfrm>
            <a:prstGeom prst="rect">
              <a:avLst/>
            </a:prstGeom>
            <a:solidFill>
              <a:srgbClr val="2A6BB2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C20DCC81-7B23-ECF2-816E-D574B6E64521}"/>
                </a:ext>
              </a:extLst>
            </p:cNvPr>
            <p:cNvSpPr txBox="1"/>
            <p:nvPr/>
          </p:nvSpPr>
          <p:spPr>
            <a:xfrm>
              <a:off x="8769" y="3412"/>
              <a:ext cx="7817" cy="40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2">
                <a:lnSpc>
                  <a:spcPct val="150000"/>
                </a:lnSpc>
              </a:pPr>
              <a:r>
                <a:rPr lang="en" altLang="zh-CN" sz="28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1. System Prompt Construction</a:t>
              </a:r>
            </a:p>
            <a:p>
              <a:pPr lvl="2">
                <a:lnSpc>
                  <a:spcPct val="150000"/>
                </a:lnSpc>
              </a:pPr>
              <a:r>
                <a:rPr lang="en" altLang="zh-CN" sz="28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2. </a:t>
              </a:r>
              <a:r>
                <a:rPr lang="en" altLang="zh-CN" sz="2800" b="1" dirty="0" err="1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LangGraph</a:t>
              </a:r>
              <a:r>
                <a:rPr lang="en" altLang="zh-CN" sz="28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 Definition</a:t>
              </a:r>
            </a:p>
            <a:p>
              <a:pPr lvl="2">
                <a:lnSpc>
                  <a:spcPct val="150000"/>
                </a:lnSpc>
              </a:pPr>
              <a:r>
                <a:rPr lang="en" altLang="zh-CN" sz="28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3. Query-aware Tool Retriever</a:t>
              </a:r>
            </a:p>
            <a:p>
              <a:pPr lvl="2">
                <a:lnSpc>
                  <a:spcPct val="150000"/>
                </a:lnSpc>
              </a:pPr>
              <a:r>
                <a:rPr lang="en" altLang="zh-CN" sz="28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4. </a:t>
              </a:r>
              <a:r>
                <a:rPr lang="en" altLang="zh-CN" sz="2800" b="1" dirty="0" err="1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LangGraph</a:t>
              </a:r>
              <a:r>
                <a:rPr lang="en" altLang="zh-CN" sz="28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 Execution Stream 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6B48A23A-082E-E12D-B659-992DD4060D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1265" y="-21265"/>
            <a:ext cx="4490422" cy="150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842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F6F60-6180-D6A0-39B7-FE77100C5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2BD928D9-B047-9619-2622-25E174697DE6}"/>
              </a:ext>
            </a:extLst>
          </p:cNvPr>
          <p:cNvSpPr txBox="1"/>
          <p:nvPr/>
        </p:nvSpPr>
        <p:spPr>
          <a:xfrm>
            <a:off x="78105" y="196323"/>
            <a:ext cx="9666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System Prompt Construction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74016F-E699-0A8B-092A-758A450C24D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7B9A23D-A311-7E8D-F6E5-687045C589CA}"/>
              </a:ext>
            </a:extLst>
          </p:cNvPr>
          <p:cNvSpPr txBox="1"/>
          <p:nvPr/>
        </p:nvSpPr>
        <p:spPr>
          <a:xfrm>
            <a:off x="78105" y="1034039"/>
            <a:ext cx="120357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Function of System Prompt</a:t>
            </a:r>
          </a:p>
          <a:p>
            <a:pPr lvl="1" algn="just"/>
            <a:r>
              <a:rPr lang="en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" altLang="zh-CN" sz="20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efining a series of behaviors for how an LLM addresses user queries.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6D39038-3006-0F35-D94D-BFE0C83B7041}"/>
              </a:ext>
            </a:extLst>
          </p:cNvPr>
          <p:cNvSpPr txBox="1"/>
          <p:nvPr/>
        </p:nvSpPr>
        <p:spPr>
          <a:xfrm>
            <a:off x="78105" y="1769762"/>
            <a:ext cx="120357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Format of System Prompt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Background and Role Definition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D66ACD5-FB07-31FE-FEFF-69AF68A28232}"/>
              </a:ext>
            </a:extLst>
          </p:cNvPr>
          <p:cNvSpPr txBox="1"/>
          <p:nvPr/>
        </p:nvSpPr>
        <p:spPr>
          <a:xfrm>
            <a:off x="78104" y="3448914"/>
            <a:ext cx="120357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form of solving a task</a:t>
            </a:r>
            <a:endParaRPr kumimoji="1"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6674004-BBED-F657-0231-B2754C8760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6693" y="2488088"/>
            <a:ext cx="9018824" cy="98297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BA803BB-696E-93D2-B165-4E95A254A1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8789" y="3874656"/>
            <a:ext cx="7668176" cy="294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427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3AB45-DE16-AEDC-F809-3F79C90E6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2BFE6282-20AD-84B9-985E-F9218E79441C}"/>
              </a:ext>
            </a:extLst>
          </p:cNvPr>
          <p:cNvSpPr txBox="1"/>
          <p:nvPr/>
        </p:nvSpPr>
        <p:spPr>
          <a:xfrm>
            <a:off x="78105" y="196323"/>
            <a:ext cx="9666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System Prompt Construction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4630C3A-5E42-26C5-1912-3C2D76FE4FF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7A34CC9-0865-62F3-EAB2-FA537916E465}"/>
              </a:ext>
            </a:extLst>
          </p:cNvPr>
          <p:cNvSpPr txBox="1"/>
          <p:nvPr/>
        </p:nvSpPr>
        <p:spPr>
          <a:xfrm>
            <a:off x="78103" y="959810"/>
            <a:ext cx="120357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Format of System Prompt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Options at Each Step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945DB52-FC7B-5E9D-ED7E-157F724B99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877" y="1844783"/>
            <a:ext cx="8458200" cy="496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845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09A11-12A9-029C-DEFA-81ED8621D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5E8E7814-AA4E-B509-7C5D-FAC4D8997562}"/>
              </a:ext>
            </a:extLst>
          </p:cNvPr>
          <p:cNvSpPr txBox="1"/>
          <p:nvPr/>
        </p:nvSpPr>
        <p:spPr>
          <a:xfrm>
            <a:off x="78105" y="196323"/>
            <a:ext cx="9666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System Prompt Construction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564A4F5-32B3-D4B1-DDF8-AE1068886FA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6A32642-A73A-92AA-F351-15349CD6D2BA}"/>
              </a:ext>
            </a:extLst>
          </p:cNvPr>
          <p:cNvSpPr txBox="1"/>
          <p:nvPr/>
        </p:nvSpPr>
        <p:spPr>
          <a:xfrm>
            <a:off x="78103" y="959810"/>
            <a:ext cx="120357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Format of System Prompt</a:t>
            </a:r>
          </a:p>
          <a:p>
            <a:pPr marL="342900" indent="-342900">
              <a:buFont typeface="Wingdings" pitchFamily="2" charset="2"/>
              <a:buChar char="Ø"/>
            </a:pPr>
            <a:endParaRPr kumimoji="1"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Resources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Format</a:t>
            </a:r>
          </a:p>
          <a:p>
            <a:pPr marL="1257300" lvl="2" indent="-342900">
              <a:buFont typeface="Wingdings" pitchFamily="2" charset="2"/>
              <a:buChar char="p"/>
            </a:pPr>
            <a:r>
              <a:rPr kumimoji="1"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Dictionary (20+fileds, 200+ python tool </a:t>
            </a:r>
            <a:r>
              <a:rPr kumimoji="1" lang="en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funtions</a:t>
            </a:r>
            <a:r>
              <a:rPr kumimoji="1"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257300" lvl="2" indent="-342900">
              <a:buFont typeface="Wingdings" pitchFamily="2" charset="2"/>
              <a:buChar char="p"/>
            </a:pPr>
            <a:endParaRPr kumimoji="1"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6ACDB59-9699-BC6B-A290-F1C59DD0B7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430" y="2831292"/>
            <a:ext cx="3307862" cy="281843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2B4A47C-2353-0A4D-0380-E67E526743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630" y="2424538"/>
            <a:ext cx="7397262" cy="443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502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F6743-5D08-D115-672F-E37C90F6F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95EB57C6-C8CC-75A6-D347-24F5D743320C}"/>
              </a:ext>
            </a:extLst>
          </p:cNvPr>
          <p:cNvSpPr txBox="1"/>
          <p:nvPr/>
        </p:nvSpPr>
        <p:spPr>
          <a:xfrm>
            <a:off x="78105" y="196323"/>
            <a:ext cx="9666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System Prompt Construction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0376E5E-2A06-FE94-D8C1-580B5B6560B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8CE97A8-898E-DF35-1DDC-2DE144A504BC}"/>
              </a:ext>
            </a:extLst>
          </p:cNvPr>
          <p:cNvSpPr txBox="1"/>
          <p:nvPr/>
        </p:nvSpPr>
        <p:spPr>
          <a:xfrm>
            <a:off x="78103" y="959810"/>
            <a:ext cx="1203578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Format of System Prompt</a:t>
            </a:r>
          </a:p>
          <a:p>
            <a:pPr marL="342900" indent="-342900">
              <a:buFont typeface="Wingdings" pitchFamily="2" charset="2"/>
              <a:buChar char="Ø"/>
            </a:pPr>
            <a:endParaRPr kumimoji="1"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Resources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Format</a:t>
            </a:r>
          </a:p>
          <a:p>
            <a:pPr marL="1257300" lvl="2" indent="-342900">
              <a:buFont typeface="Wingdings" pitchFamily="2" charset="2"/>
              <a:buChar char="p"/>
            </a:pPr>
            <a:r>
              <a:rPr kumimoji="1"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Biological Data Lake (70+ datasets)</a:t>
            </a:r>
          </a:p>
          <a:p>
            <a:pPr marL="1257300" lvl="2" indent="-342900">
              <a:buFont typeface="Wingdings" pitchFamily="2" charset="2"/>
              <a:buChar char="p"/>
            </a:pPr>
            <a:endParaRPr kumimoji="1"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Wingdings" pitchFamily="2" charset="2"/>
              <a:buChar char="p"/>
            </a:pPr>
            <a:endParaRPr kumimoji="1"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A0061F1-D7A3-9C36-8FCF-980E36683D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3542" y="2509084"/>
            <a:ext cx="5173835" cy="204609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D6F82BB-FC91-41E9-E9F1-F84088F69C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7303" y="4985641"/>
            <a:ext cx="7772400" cy="182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780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52F73-C1D2-15D3-6571-006B1E417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3204C874-CDEB-3810-7ED2-D2D63206A88B}"/>
              </a:ext>
            </a:extLst>
          </p:cNvPr>
          <p:cNvSpPr txBox="1"/>
          <p:nvPr/>
        </p:nvSpPr>
        <p:spPr>
          <a:xfrm>
            <a:off x="78105" y="196323"/>
            <a:ext cx="9666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System Prompt Construction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5D06F31-A32D-43B7-B45A-94C7F74E891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87F09F-B4C6-666D-93D4-A0826C9DB5B4}"/>
              </a:ext>
            </a:extLst>
          </p:cNvPr>
          <p:cNvSpPr txBox="1"/>
          <p:nvPr/>
        </p:nvSpPr>
        <p:spPr>
          <a:xfrm>
            <a:off x="78103" y="959810"/>
            <a:ext cx="1203578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Format of System Prompt</a:t>
            </a:r>
          </a:p>
          <a:p>
            <a:pPr marL="342900" indent="-342900">
              <a:buFont typeface="Wingdings" pitchFamily="2" charset="2"/>
              <a:buChar char="Ø"/>
            </a:pPr>
            <a:endParaRPr kumimoji="1"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Resources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Format</a:t>
            </a:r>
          </a:p>
          <a:p>
            <a:pPr marL="1257300" lvl="2" indent="-342900">
              <a:buFont typeface="Wingdings" pitchFamily="2" charset="2"/>
              <a:buChar char="p"/>
            </a:pPr>
            <a:r>
              <a:rPr kumimoji="1"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Library (100+)</a:t>
            </a:r>
          </a:p>
          <a:p>
            <a:pPr marL="1257300" lvl="2" indent="-342900">
              <a:buFont typeface="Wingdings" pitchFamily="2" charset="2"/>
              <a:buChar char="p"/>
            </a:pPr>
            <a:endParaRPr kumimoji="1"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Wingdings" pitchFamily="2" charset="2"/>
              <a:buChar char="p"/>
            </a:pPr>
            <a:endParaRPr kumimoji="1"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3D40C36-AD25-326D-D140-2DDE36CDCE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3" y="2539207"/>
            <a:ext cx="5460512" cy="177958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BDCCE88-F83A-F9D4-1E2D-1AFB238993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8615" y="1964743"/>
            <a:ext cx="6663606" cy="302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781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50DEA-C9BA-2A71-FCFF-4F0945C31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D9A85F41-3DEC-D57C-CD6E-F9A441A671CB}"/>
              </a:ext>
            </a:extLst>
          </p:cNvPr>
          <p:cNvSpPr txBox="1"/>
          <p:nvPr/>
        </p:nvSpPr>
        <p:spPr>
          <a:xfrm>
            <a:off x="78105" y="196323"/>
            <a:ext cx="9666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System Prompt Construction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1E2532B-080E-DC91-6371-E53D9407FE1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E074377-643E-5BE2-6E90-D128F1213EBF}"/>
              </a:ext>
            </a:extLst>
          </p:cNvPr>
          <p:cNvSpPr txBox="1"/>
          <p:nvPr/>
        </p:nvSpPr>
        <p:spPr>
          <a:xfrm>
            <a:off x="78103" y="959810"/>
            <a:ext cx="120357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Format of System Prompt</a:t>
            </a:r>
          </a:p>
          <a:p>
            <a:pPr marL="342900" indent="-342900">
              <a:buFont typeface="Wingdings" pitchFamily="2" charset="2"/>
              <a:buChar char="Ø"/>
            </a:pPr>
            <a:endParaRPr kumimoji="1"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Requirements</a:t>
            </a:r>
          </a:p>
          <a:p>
            <a:pPr marL="1257300" lvl="2" indent="-342900">
              <a:buFont typeface="Wingdings" pitchFamily="2" charset="2"/>
              <a:buChar char="p"/>
            </a:pPr>
            <a:endParaRPr kumimoji="1"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Wingdings" pitchFamily="2" charset="2"/>
              <a:buChar char="p"/>
            </a:pPr>
            <a:endParaRPr kumimoji="1"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4D9038D-07F6-0D4E-5313-BB71DDC3B4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040" y="2410119"/>
            <a:ext cx="11331913" cy="173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174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26483-88D5-2F89-4FD1-856CFF502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BC485E61-FA69-7E10-B9C8-E57F2EB49A0B}"/>
              </a:ext>
            </a:extLst>
          </p:cNvPr>
          <p:cNvSpPr txBox="1"/>
          <p:nvPr/>
        </p:nvSpPr>
        <p:spPr>
          <a:xfrm>
            <a:off x="78105" y="196323"/>
            <a:ext cx="9666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LangGraph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Definition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5292A4D-EA74-29F6-7138-9D224513987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3F1740B-E384-3187-CA88-DA1B8E456188}"/>
              </a:ext>
            </a:extLst>
          </p:cNvPr>
          <p:cNvSpPr txBox="1"/>
          <p:nvPr/>
        </p:nvSpPr>
        <p:spPr>
          <a:xfrm>
            <a:off x="78103" y="959810"/>
            <a:ext cx="120357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State</a:t>
            </a:r>
          </a:p>
          <a:p>
            <a:pPr lvl="1"/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Defining the input &amp; output format of each Node.</a:t>
            </a:r>
          </a:p>
          <a:p>
            <a:pPr lvl="1"/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Wingdings" pitchFamily="2" charset="2"/>
              <a:buChar char="p"/>
            </a:pPr>
            <a:endParaRPr kumimoji="1"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FC39FCD-4A6B-B4BD-CBEB-1CCCF1F09E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8463" y="1929017"/>
            <a:ext cx="9555073" cy="138499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22F7474-6320-AB2F-63BC-36373228E870}"/>
              </a:ext>
            </a:extLst>
          </p:cNvPr>
          <p:cNvSpPr txBox="1"/>
          <p:nvPr/>
        </p:nvSpPr>
        <p:spPr>
          <a:xfrm>
            <a:off x="156211" y="3590721"/>
            <a:ext cx="120357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</a:p>
          <a:p>
            <a:pPr lvl="1"/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Defining the workflow of </a:t>
            </a:r>
            <a:r>
              <a:rPr kumimoji="1"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LangGraph</a:t>
            </a:r>
            <a:endParaRPr kumimoji="1"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Wingdings" pitchFamily="2" charset="2"/>
              <a:buChar char="p"/>
            </a:pPr>
            <a:endParaRPr kumimoji="1"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72DF28E-29C9-4D78-C3CC-275B6F0945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1868" y="4429579"/>
            <a:ext cx="5911752" cy="2388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055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F9E4F-1AD2-683A-359A-7CC7CDBCB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B19C3A04-EBE8-9763-46AB-485B07326476}"/>
              </a:ext>
            </a:extLst>
          </p:cNvPr>
          <p:cNvSpPr txBox="1"/>
          <p:nvPr/>
        </p:nvSpPr>
        <p:spPr>
          <a:xfrm>
            <a:off x="78105" y="196323"/>
            <a:ext cx="9666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LangGraph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Definition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DEA1BAC-E439-BC0A-B84E-83558A70699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1EC0601-9184-BF58-009A-D355BBDB70F2}"/>
              </a:ext>
            </a:extLst>
          </p:cNvPr>
          <p:cNvSpPr txBox="1"/>
          <p:nvPr/>
        </p:nvSpPr>
        <p:spPr>
          <a:xfrm>
            <a:off x="78103" y="959810"/>
            <a:ext cx="120357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Construction</a:t>
            </a:r>
            <a:endParaRPr kumimoji="1"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Wingdings" pitchFamily="2" charset="2"/>
              <a:buChar char="p"/>
            </a:pPr>
            <a:endParaRPr kumimoji="1"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2BA48CC-5ECA-B057-8B5B-87CEE84E3A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2" y="1381189"/>
            <a:ext cx="6017896" cy="3073594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B652EEE9-3867-CCC5-A724-2F234B625FC2}"/>
              </a:ext>
            </a:extLst>
          </p:cNvPr>
          <p:cNvSpPr/>
          <p:nvPr/>
        </p:nvSpPr>
        <p:spPr>
          <a:xfrm>
            <a:off x="8267103" y="1167064"/>
            <a:ext cx="1100679" cy="44032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START</a:t>
            </a:r>
            <a:endParaRPr kumimoji="1" lang="zh-CN" altLang="en-US" dirty="0"/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0BA36885-B893-0814-CCF4-9A7BB60A1C8F}"/>
              </a:ext>
            </a:extLst>
          </p:cNvPr>
          <p:cNvCxnSpPr/>
          <p:nvPr/>
        </p:nvCxnSpPr>
        <p:spPr>
          <a:xfrm>
            <a:off x="8817442" y="1607386"/>
            <a:ext cx="0" cy="5386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A9E15E8F-64D0-E0C0-AC4A-B07F94E4B755}"/>
              </a:ext>
            </a:extLst>
          </p:cNvPr>
          <p:cNvSpPr/>
          <p:nvPr/>
        </p:nvSpPr>
        <p:spPr>
          <a:xfrm>
            <a:off x="8363954" y="2145995"/>
            <a:ext cx="909105" cy="944435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/>
              <a:t>generation</a:t>
            </a:r>
            <a:endParaRPr kumimoji="1" lang="zh-CN" altLang="en-US" sz="1200" b="1" dirty="0"/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919AADAB-5B36-58CD-2DD2-585CE25E055B}"/>
              </a:ext>
            </a:extLst>
          </p:cNvPr>
          <p:cNvCxnSpPr/>
          <p:nvPr/>
        </p:nvCxnSpPr>
        <p:spPr>
          <a:xfrm>
            <a:off x="8840888" y="3090430"/>
            <a:ext cx="0" cy="5386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C270F985-6E5D-92DE-EB83-F6EFDB2B6AAB}"/>
              </a:ext>
            </a:extLst>
          </p:cNvPr>
          <p:cNvSpPr/>
          <p:nvPr/>
        </p:nvSpPr>
        <p:spPr>
          <a:xfrm>
            <a:off x="8292677" y="3637387"/>
            <a:ext cx="1100679" cy="44032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Routing</a:t>
            </a:r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05DAB39B-FA6A-66FA-205A-C18BE540E467}"/>
              </a:ext>
            </a:extLst>
          </p:cNvPr>
          <p:cNvCxnSpPr>
            <a:stCxn id="15" idx="2"/>
          </p:cNvCxnSpPr>
          <p:nvPr/>
        </p:nvCxnSpPr>
        <p:spPr>
          <a:xfrm flipH="1">
            <a:off x="8267103" y="4077709"/>
            <a:ext cx="575914" cy="8839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图片 17">
            <a:extLst>
              <a:ext uri="{FF2B5EF4-FFF2-40B4-BE49-F238E27FC236}">
                <a16:creationId xmlns:a16="http://schemas.microsoft.com/office/drawing/2014/main" id="{651F148B-DCF3-F67B-A516-0B338ADE98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436" y="4478229"/>
            <a:ext cx="5061227" cy="2404825"/>
          </a:xfrm>
          <a:prstGeom prst="rect">
            <a:avLst/>
          </a:prstGeom>
        </p:spPr>
      </p:pic>
      <p:sp>
        <p:nvSpPr>
          <p:cNvPr id="19" name="椭圆 18">
            <a:extLst>
              <a:ext uri="{FF2B5EF4-FFF2-40B4-BE49-F238E27FC236}">
                <a16:creationId xmlns:a16="http://schemas.microsoft.com/office/drawing/2014/main" id="{5061FBA0-80FB-ABC0-EEF8-BB00C107A519}"/>
              </a:ext>
            </a:extLst>
          </p:cNvPr>
          <p:cNvSpPr/>
          <p:nvPr/>
        </p:nvSpPr>
        <p:spPr>
          <a:xfrm>
            <a:off x="7754529" y="4961668"/>
            <a:ext cx="909105" cy="944435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/>
              <a:t>execution</a:t>
            </a:r>
            <a:endParaRPr kumimoji="1" lang="zh-CN" altLang="en-US" sz="1200" b="1" dirty="0"/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C41D4F7B-7760-11B4-A3B8-EB9BDEAED3A1}"/>
              </a:ext>
            </a:extLst>
          </p:cNvPr>
          <p:cNvCxnSpPr>
            <a:stCxn id="15" idx="2"/>
          </p:cNvCxnSpPr>
          <p:nvPr/>
        </p:nvCxnSpPr>
        <p:spPr>
          <a:xfrm>
            <a:off x="8843017" y="4077709"/>
            <a:ext cx="815420" cy="10246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BF2B775E-9338-7E6A-7815-063F75615802}"/>
              </a:ext>
            </a:extLst>
          </p:cNvPr>
          <p:cNvSpPr/>
          <p:nvPr/>
        </p:nvSpPr>
        <p:spPr>
          <a:xfrm>
            <a:off x="9108097" y="5137534"/>
            <a:ext cx="1100679" cy="44032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END</a:t>
            </a:r>
            <a:endParaRPr kumimoji="1" lang="zh-CN" altLang="en-US" dirty="0"/>
          </a:p>
        </p:txBody>
      </p:sp>
      <p:cxnSp>
        <p:nvCxnSpPr>
          <p:cNvPr id="24" name="曲线连接符 23">
            <a:extLst>
              <a:ext uri="{FF2B5EF4-FFF2-40B4-BE49-F238E27FC236}">
                <a16:creationId xmlns:a16="http://schemas.microsoft.com/office/drawing/2014/main" id="{0EC758CC-D3DF-E125-F0F7-100DFCBDB5CC}"/>
              </a:ext>
            </a:extLst>
          </p:cNvPr>
          <p:cNvCxnSpPr>
            <a:cxnSpLocks/>
            <a:stCxn id="19" idx="2"/>
          </p:cNvCxnSpPr>
          <p:nvPr/>
        </p:nvCxnSpPr>
        <p:spPr>
          <a:xfrm rot="10800000" flipH="1">
            <a:off x="7754528" y="2431500"/>
            <a:ext cx="609423" cy="3002387"/>
          </a:xfrm>
          <a:prstGeom prst="curvedConnector4">
            <a:avLst>
              <a:gd name="adj1" fmla="val -37511"/>
              <a:gd name="adj2" fmla="val 10706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肘形连接符 44">
            <a:extLst>
              <a:ext uri="{FF2B5EF4-FFF2-40B4-BE49-F238E27FC236}">
                <a16:creationId xmlns:a16="http://schemas.microsoft.com/office/drawing/2014/main" id="{1A4EA9A0-46E7-02F8-0D60-64039EA6C6A7}"/>
              </a:ext>
            </a:extLst>
          </p:cNvPr>
          <p:cNvCxnSpPr>
            <a:stCxn id="15" idx="3"/>
          </p:cNvCxnSpPr>
          <p:nvPr/>
        </p:nvCxnSpPr>
        <p:spPr>
          <a:xfrm flipV="1">
            <a:off x="9393356" y="2618212"/>
            <a:ext cx="815420" cy="123933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F62E6719-2CD3-E276-DF01-522286D40A7E}"/>
              </a:ext>
            </a:extLst>
          </p:cNvPr>
          <p:cNvCxnSpPr>
            <a:cxnSpLocks/>
          </p:cNvCxnSpPr>
          <p:nvPr/>
        </p:nvCxnSpPr>
        <p:spPr>
          <a:xfrm flipH="1" flipV="1">
            <a:off x="9250727" y="2560169"/>
            <a:ext cx="1015356" cy="691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4315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E526B-DD40-E30E-7756-3F92B67E5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C7FFC6EE-2C75-929D-E2F8-61F45CE30085}"/>
              </a:ext>
            </a:extLst>
          </p:cNvPr>
          <p:cNvSpPr txBox="1"/>
          <p:nvPr/>
        </p:nvSpPr>
        <p:spPr>
          <a:xfrm>
            <a:off x="78105" y="196323"/>
            <a:ext cx="96661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Query-aware </a:t>
            </a:r>
            <a:r>
              <a:rPr lang="en" altLang="zh-C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Tool Retrieval</a:t>
            </a:r>
          </a:p>
          <a:p>
            <a:endParaRPr lang="en" altLang="zh-C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66D6B4F-9718-A536-33C9-57E1795420A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706F4FA-8620-427D-E80B-133B657E783B}"/>
              </a:ext>
            </a:extLst>
          </p:cNvPr>
          <p:cNvSpPr txBox="1"/>
          <p:nvPr/>
        </p:nvSpPr>
        <p:spPr>
          <a:xfrm>
            <a:off x="-305519" y="992526"/>
            <a:ext cx="589239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n" altLang="zh-CN" sz="20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Prompt the LLM to select resources relevant to the current user query from all available resources (python function, data lake, and library)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1"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itchFamily="2" charset="2"/>
              <a:buChar char="Ø"/>
            </a:pPr>
            <a:endParaRPr kumimoji="1"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buFont typeface="Wingdings" pitchFamily="2" charset="2"/>
              <a:buChar char="p"/>
            </a:pPr>
            <a:endParaRPr kumimoji="1"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4199566-EF37-B40B-24BB-8FB9E947EE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458" y="2527392"/>
            <a:ext cx="5387625" cy="387424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BA611F3-E29C-DA92-6C4A-515EDEFCE4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7838" y="442128"/>
            <a:ext cx="6797950" cy="622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464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31462-3C8E-519C-9DC8-6BC8E2C46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77E1770C-2824-F757-BA22-6F51DA695A6F}"/>
              </a:ext>
            </a:extLst>
          </p:cNvPr>
          <p:cNvSpPr txBox="1"/>
          <p:nvPr/>
        </p:nvSpPr>
        <p:spPr>
          <a:xfrm>
            <a:off x="78105" y="196323"/>
            <a:ext cx="9666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Query-aware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Tool Retrieval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A8F7D7D-232A-82F8-96E8-4C0275F3926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1E64637-055E-7FAD-48D1-CD8AF7161A94}"/>
              </a:ext>
            </a:extLst>
          </p:cNvPr>
          <p:cNvSpPr txBox="1"/>
          <p:nvPr/>
        </p:nvSpPr>
        <p:spPr>
          <a:xfrm>
            <a:off x="192741" y="879209"/>
            <a:ext cx="12259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Update the system prompt (which initially includes all resources) with the selected resources relevant to the current user query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FDEFE89-0856-8025-5ACB-7A34E2620E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5740" y="1540272"/>
            <a:ext cx="8865643" cy="292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182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6B76F-CDC3-AA30-8C84-9FA12260D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BC09F7F9-DA6D-0949-14FE-EE66FFA805AF}"/>
              </a:ext>
            </a:extLst>
          </p:cNvPr>
          <p:cNvSpPr txBox="1"/>
          <p:nvPr/>
        </p:nvSpPr>
        <p:spPr>
          <a:xfrm>
            <a:off x="78105" y="196323"/>
            <a:ext cx="9666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4.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LangGraph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Execution Stream 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3B130D2-0CBB-2FA2-1F6F-332B16FACE1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0F976F1-AD9E-1A62-47E5-3A895EF82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5" y="1865033"/>
            <a:ext cx="7747000" cy="28321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F4C6C99-E02F-B874-A214-BB735ED2507F}"/>
              </a:ext>
            </a:extLst>
          </p:cNvPr>
          <p:cNvSpPr/>
          <p:nvPr/>
        </p:nvSpPr>
        <p:spPr>
          <a:xfrm>
            <a:off x="9423550" y="1126723"/>
            <a:ext cx="1100679" cy="44032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START</a:t>
            </a:r>
            <a:endParaRPr kumimoji="1" lang="zh-CN" altLang="en-US" dirty="0"/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F395CE71-C955-C3B3-54E7-402CB68AF0BD}"/>
              </a:ext>
            </a:extLst>
          </p:cNvPr>
          <p:cNvCxnSpPr/>
          <p:nvPr/>
        </p:nvCxnSpPr>
        <p:spPr>
          <a:xfrm>
            <a:off x="9973889" y="1567045"/>
            <a:ext cx="0" cy="5386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E2ACBC8B-CD5A-9FFB-5905-7CF6D08087B4}"/>
              </a:ext>
            </a:extLst>
          </p:cNvPr>
          <p:cNvSpPr/>
          <p:nvPr/>
        </p:nvSpPr>
        <p:spPr>
          <a:xfrm>
            <a:off x="9520401" y="2105654"/>
            <a:ext cx="909105" cy="944435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/>
              <a:t>generation</a:t>
            </a:r>
            <a:endParaRPr kumimoji="1" lang="zh-CN" altLang="en-US" sz="1200" b="1" dirty="0"/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747F983D-45B4-D230-7D73-B018F7839BDE}"/>
              </a:ext>
            </a:extLst>
          </p:cNvPr>
          <p:cNvCxnSpPr/>
          <p:nvPr/>
        </p:nvCxnSpPr>
        <p:spPr>
          <a:xfrm>
            <a:off x="9997335" y="3050089"/>
            <a:ext cx="0" cy="5386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6861E28D-4F73-85FF-B57D-656232BF6AE0}"/>
              </a:ext>
            </a:extLst>
          </p:cNvPr>
          <p:cNvSpPr/>
          <p:nvPr/>
        </p:nvSpPr>
        <p:spPr>
          <a:xfrm>
            <a:off x="9449124" y="3597046"/>
            <a:ext cx="1100679" cy="44032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Routing</a:t>
            </a:r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87D5F312-222A-024C-BD62-20FA3EC13DE5}"/>
              </a:ext>
            </a:extLst>
          </p:cNvPr>
          <p:cNvCxnSpPr>
            <a:stCxn id="10" idx="2"/>
          </p:cNvCxnSpPr>
          <p:nvPr/>
        </p:nvCxnSpPr>
        <p:spPr>
          <a:xfrm flipH="1">
            <a:off x="9423550" y="4037368"/>
            <a:ext cx="575914" cy="8839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椭圆 11">
            <a:extLst>
              <a:ext uri="{FF2B5EF4-FFF2-40B4-BE49-F238E27FC236}">
                <a16:creationId xmlns:a16="http://schemas.microsoft.com/office/drawing/2014/main" id="{2D6455F1-A91B-9BB9-09CF-BA95CF3921FC}"/>
              </a:ext>
            </a:extLst>
          </p:cNvPr>
          <p:cNvSpPr/>
          <p:nvPr/>
        </p:nvSpPr>
        <p:spPr>
          <a:xfrm>
            <a:off x="8910976" y="4921327"/>
            <a:ext cx="909105" cy="944435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/>
              <a:t>execution</a:t>
            </a:r>
            <a:endParaRPr kumimoji="1" lang="zh-CN" altLang="en-US" sz="1200" b="1" dirty="0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701B4E4D-C186-34D5-0EA9-97A52AF7DB53}"/>
              </a:ext>
            </a:extLst>
          </p:cNvPr>
          <p:cNvCxnSpPr>
            <a:stCxn id="10" idx="2"/>
          </p:cNvCxnSpPr>
          <p:nvPr/>
        </p:nvCxnSpPr>
        <p:spPr>
          <a:xfrm>
            <a:off x="9999464" y="4037368"/>
            <a:ext cx="815420" cy="10246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EAFD79F1-F136-0D7B-B61B-FEECE154D8B8}"/>
              </a:ext>
            </a:extLst>
          </p:cNvPr>
          <p:cNvSpPr/>
          <p:nvPr/>
        </p:nvSpPr>
        <p:spPr>
          <a:xfrm>
            <a:off x="10264544" y="5097193"/>
            <a:ext cx="1100679" cy="44032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END</a:t>
            </a:r>
            <a:endParaRPr kumimoji="1" lang="zh-CN" altLang="en-US" dirty="0"/>
          </a:p>
        </p:txBody>
      </p:sp>
      <p:cxnSp>
        <p:nvCxnSpPr>
          <p:cNvPr id="15" name="曲线连接符 14">
            <a:extLst>
              <a:ext uri="{FF2B5EF4-FFF2-40B4-BE49-F238E27FC236}">
                <a16:creationId xmlns:a16="http://schemas.microsoft.com/office/drawing/2014/main" id="{E50F1729-F07F-152B-40D4-A63EDFAF9B53}"/>
              </a:ext>
            </a:extLst>
          </p:cNvPr>
          <p:cNvCxnSpPr>
            <a:cxnSpLocks/>
            <a:stCxn id="12" idx="2"/>
          </p:cNvCxnSpPr>
          <p:nvPr/>
        </p:nvCxnSpPr>
        <p:spPr>
          <a:xfrm rot="10800000" flipH="1">
            <a:off x="8910975" y="2391159"/>
            <a:ext cx="609423" cy="3002387"/>
          </a:xfrm>
          <a:prstGeom prst="curvedConnector4">
            <a:avLst>
              <a:gd name="adj1" fmla="val -37511"/>
              <a:gd name="adj2" fmla="val 10706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肘形连接符 15">
            <a:extLst>
              <a:ext uri="{FF2B5EF4-FFF2-40B4-BE49-F238E27FC236}">
                <a16:creationId xmlns:a16="http://schemas.microsoft.com/office/drawing/2014/main" id="{BF308F8D-E46B-2AA0-BD14-B25A0C72A492}"/>
              </a:ext>
            </a:extLst>
          </p:cNvPr>
          <p:cNvCxnSpPr>
            <a:stCxn id="10" idx="3"/>
          </p:cNvCxnSpPr>
          <p:nvPr/>
        </p:nvCxnSpPr>
        <p:spPr>
          <a:xfrm flipV="1">
            <a:off x="10549803" y="2577871"/>
            <a:ext cx="815420" cy="123933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A33F6BD0-B99F-3C2C-B38C-52053DB5464F}"/>
              </a:ext>
            </a:extLst>
          </p:cNvPr>
          <p:cNvCxnSpPr>
            <a:cxnSpLocks/>
          </p:cNvCxnSpPr>
          <p:nvPr/>
        </p:nvCxnSpPr>
        <p:spPr>
          <a:xfrm flipH="1" flipV="1">
            <a:off x="10407174" y="2519828"/>
            <a:ext cx="1015356" cy="691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8435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4337B-638F-DBB8-EF2A-E3D724776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37196CA2-BC93-4B33-E731-2459177CE2B7}"/>
              </a:ext>
            </a:extLst>
          </p:cNvPr>
          <p:cNvSpPr txBox="1"/>
          <p:nvPr/>
        </p:nvSpPr>
        <p:spPr>
          <a:xfrm>
            <a:off x="78105" y="196323"/>
            <a:ext cx="9666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4.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LangGraph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Execution Stream 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A3B55BD-F493-407C-3DC5-C26466108F8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3F8FF25-B7C6-0336-D058-648E87760275}"/>
              </a:ext>
            </a:extLst>
          </p:cNvPr>
          <p:cNvSpPr txBox="1"/>
          <p:nvPr/>
        </p:nvSpPr>
        <p:spPr>
          <a:xfrm>
            <a:off x="179294" y="894549"/>
            <a:ext cx="11833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- &gt; Generation</a:t>
            </a:r>
            <a:endParaRPr kumimoji="1"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86B38AB0-D71B-06FF-EFD7-453443E1D7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9495" y="1263881"/>
            <a:ext cx="7772400" cy="1097413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D9B466F3-9672-8F0B-DEB1-87E73ED0B001}"/>
              </a:ext>
            </a:extLst>
          </p:cNvPr>
          <p:cNvSpPr txBox="1"/>
          <p:nvPr/>
        </p:nvSpPr>
        <p:spPr>
          <a:xfrm>
            <a:off x="179294" y="2361294"/>
            <a:ext cx="118334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kumimoji="1"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generation() function in </a:t>
            </a: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node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</a:t>
            </a:r>
            <a:r>
              <a:rPr kumimoji="1"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E9D1B5C3-5C09-0882-1F06-2550489893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7255" y="2730626"/>
            <a:ext cx="6530788" cy="402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628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9446D-DB15-CA82-8D7E-1D12DDA5B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85E04FCE-9A7E-362D-C505-41547606F7C6}"/>
              </a:ext>
            </a:extLst>
          </p:cNvPr>
          <p:cNvSpPr txBox="1"/>
          <p:nvPr/>
        </p:nvSpPr>
        <p:spPr>
          <a:xfrm>
            <a:off x="78105" y="196323"/>
            <a:ext cx="9666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4.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LangGraph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Execution Stream 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BC297A1-F89F-0B5B-A739-65C9C504EC1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D289467-7966-AE05-599B-9B8E0A43C7C4}"/>
              </a:ext>
            </a:extLst>
          </p:cNvPr>
          <p:cNvSpPr txBox="1"/>
          <p:nvPr/>
        </p:nvSpPr>
        <p:spPr>
          <a:xfrm>
            <a:off x="179294" y="842654"/>
            <a:ext cx="118334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kumimoji="1"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generation() function in </a:t>
            </a: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node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 </a:t>
            </a:r>
            <a:r>
              <a:rPr kumimoji="1"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35EAE49-7F27-58BC-91CA-2815C63482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1165820"/>
            <a:ext cx="7534499" cy="569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968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FD949-1479-01A8-81E7-44C75FFB2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9B769A7D-B4E1-B876-2478-C2CEFCEDE28E}"/>
              </a:ext>
            </a:extLst>
          </p:cNvPr>
          <p:cNvSpPr txBox="1"/>
          <p:nvPr/>
        </p:nvSpPr>
        <p:spPr>
          <a:xfrm>
            <a:off x="78105" y="196323"/>
            <a:ext cx="9666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4.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LangGraph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Execution Stream 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3B77E0-8C6D-19BE-9C90-9229C84E4E9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13D74EC-FE3A-F9A4-FF5D-9D27E851B596}"/>
              </a:ext>
            </a:extLst>
          </p:cNvPr>
          <p:cNvSpPr txBox="1"/>
          <p:nvPr/>
        </p:nvSpPr>
        <p:spPr>
          <a:xfrm>
            <a:off x="179294" y="842654"/>
            <a:ext cx="11833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kumimoji="1"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execution() function in </a:t>
            </a: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node </a:t>
            </a:r>
            <a:r>
              <a:rPr kumimoji="1"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80ACCC9-4AF5-492F-D837-F034FE60FB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8059" y="1211986"/>
            <a:ext cx="7042260" cy="560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5025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709</TotalTime>
  <Words>361</Words>
  <Application>Microsoft Macintosh PowerPoint</Application>
  <PresentationFormat>宽屏</PresentationFormat>
  <Paragraphs>89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等线</vt:lpstr>
      <vt:lpstr>等线 Light</vt:lpstr>
      <vt:lpstr>Inter</vt:lpstr>
      <vt:lpstr>Arial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Duzhen Zhang</dc:creator>
  <cp:lastModifiedBy>Duzhen Zhang</cp:lastModifiedBy>
  <cp:revision>494</cp:revision>
  <dcterms:created xsi:type="dcterms:W3CDTF">2025-09-08T06:01:48Z</dcterms:created>
  <dcterms:modified xsi:type="dcterms:W3CDTF">2025-11-27T10:22:34Z</dcterms:modified>
</cp:coreProperties>
</file>