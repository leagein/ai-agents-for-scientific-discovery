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218" r:id="rId4"/>
    <p:sldId id="2214" r:id="rId5"/>
    <p:sldId id="2215" r:id="rId6"/>
    <p:sldId id="2219" r:id="rId7"/>
    <p:sldId id="2220" r:id="rId8"/>
    <p:sldId id="2221" r:id="rId9"/>
    <p:sldId id="2222" r:id="rId10"/>
    <p:sldId id="2223" r:id="rId11"/>
    <p:sldId id="2224" r:id="rId12"/>
    <p:sldId id="2225" r:id="rId13"/>
    <p:sldId id="2226" r:id="rId14"/>
    <p:sldId id="2227" r:id="rId15"/>
    <p:sldId id="2228" r:id="rId16"/>
    <p:sldId id="2229" r:id="rId17"/>
    <p:sldId id="2230" r:id="rId18"/>
    <p:sldId id="2231" r:id="rId19"/>
    <p:sldId id="2232" r:id="rId20"/>
    <p:sldId id="223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2000"/>
  </p:normalViewPr>
  <p:slideViewPr>
    <p:cSldViewPr snapToGrid="0">
      <p:cViewPr varScale="1">
        <p:scale>
          <a:sx n="91" d="100"/>
          <a:sy n="91" d="100"/>
        </p:scale>
        <p:origin x="1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3E8A-EF42-6F4E-AF9F-CE7A27B63D4E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E8C99-175B-F54C-833A-B3ED9FCD49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73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" altLang="zh-CN" b="0" i="0" dirty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78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339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0C89-9BDD-083E-F3BB-243882EC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AE9645-4A2C-1E47-BD3C-2765C737B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B094F3-7CDE-CC70-66B3-DFEE2174F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17CA0C-4C6D-645B-8E71-1DF2CC6CF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30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B89E-2158-37C8-80E6-BF447832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AF1D1F-29E2-E4A4-E5DC-8260BB7C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8924FB-59C1-95FC-A77C-8D4770712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BD368-5602-453A-DC25-11994256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85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1A8D-4608-2952-5431-387DB787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90C386-C78C-2135-EF1B-59238F5B4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3F0532-FD2C-4367-FFC1-E274FDBE5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E4D7B-91CB-168A-B602-A7998931D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00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000D-060D-70FB-F8FF-C14C76BA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5CC536-876F-684D-69F8-917B550B1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17CDD3-0989-578A-B94C-69F16C47D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8BB865-A28C-90F8-11A2-002DCAE1A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325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23C5-5EB8-63B4-CC3E-A4ED73BE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63E259-F721-C84E-F7E3-591757386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F7A820-34BB-8371-F785-46BC3B33A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41B20A-F446-92CC-6547-E83983676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37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22C4-7F97-AFD9-BFCB-ED1B54CC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6CD01C-F1D1-3D46-EBAE-080B84947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331B74-263A-A853-A635-406E68198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A95E39-8C2F-1B82-46BB-BD70F2A44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963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9F15C-C056-D861-C81E-556F7D53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DD748A-B758-4BB9-F217-248105F3B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BBB442-764D-B913-A47A-198D90C58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58C66D-B66B-7AC6-DAEE-EE348D2C6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918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D318B-3103-6C77-A2A4-6C6AC344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F5D364-0980-5A7B-E944-FE118DADE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4BA34B-9337-597C-ABC8-F806E3FFB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7C821-CAE2-009F-46E2-24BB2F6F8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25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03B5-E010-72AA-13B3-33FCAE88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95A7AE-8139-10BE-22C7-74AB4CD4D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9E26EB-4C21-D682-67BC-5E2C05609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FB8344-9F6C-87DD-6332-8F08BDCCF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154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40BC-616E-F0C1-46AD-CEC76B72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1215B1-28A1-0970-667A-6652B29BF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B986D9-DC6B-436C-B901-9E61AEBCC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FFD5FD-315E-7829-48EA-E69EAE541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108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7889-C8E8-2855-7532-45DA3EE3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61A171-1290-C33C-E3CD-A9FAD747F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DDF31-276B-D503-5280-8A8CBE537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88625C-DE25-A157-124A-B3FB019C2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670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6368-F91E-8520-9008-70F09591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A3C0F1-7857-04E1-4201-B6F14D82C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4A8E09-FF49-EDFF-A416-C07053151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DCA60-9B34-903D-57E2-DE8475305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7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E082-B89D-CD6C-511F-5C28B010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328738-8D61-00E7-1C89-7A871A374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2AF2E8-746D-16AA-498E-ADC002E4F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6DB06-A95C-7529-04C6-50FCDC28B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802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C16C-5202-7338-FEC9-B78A9057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80AEB3-DE2F-0F09-33F0-6B77F048F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2FD1A7-C61D-2218-2A15-FF2888176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91BD8E-CA71-2558-C6BD-E159D3E5F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526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1C52-6938-D3D9-5DD7-92474A24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DA9D1A-56DB-C81D-9785-2BBE43C35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9BB49E-6CA3-8A3B-790D-C850C8B5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21038-2F9A-EA96-A675-2F513B6BC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134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23F1-B282-98A1-02E9-9621A3B3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626B08-AB3D-8618-2815-F83F0A749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69B8D8-799A-3CD5-9957-51BDB55EE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0A7543-90E4-5A29-AA0A-F642DCD08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04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619A-0F74-5908-A5C1-5BE5DCDB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EF435A-4AD8-C842-2DBD-7089A1411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DE3B8F-7C7D-CCB6-0345-BA21A3C2D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879EB-9B30-E900-1445-2928AD21C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078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EE3E-0937-F602-FF59-DD0A2AB7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9610CE-C7C6-CE48-27A1-4B03D606D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076026-21BF-9BD1-80B1-A53ABFD62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B3781A-3D4F-B998-AC0A-03CD2809A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91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7B75A-3EE6-FD3E-6CED-406E6C29F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FD7B9-84C3-98DC-1966-3E5C403B3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3F5E3-EAF2-9B8F-8F30-2CCF94D2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74006-D219-AB18-A772-A2129426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F9D53-97F1-AE4D-8C7E-92D0E57A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2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0392-24EF-6984-3607-3F6D3382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D53E9-307F-771B-4435-4BAC3034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3CE43-4999-21F5-ED4E-F6269536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44595-90FE-DD88-4BF6-77438D0E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C4637-E456-EE1E-C72F-AFE7DDD7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46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5A762-8CEB-9FB4-5187-7448FDD5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191BB4-29AA-C687-F0DF-E05591810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08A33-15F9-4F54-B042-FFCE796A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554D9-4C3C-0628-C9DE-FD726E55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032BB-6E38-DFFB-07CC-8005447C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10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545FC-22C9-D93C-2A3A-4195B7D3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808EC-C8DF-D321-A528-B63A6C55B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CA073-0043-6112-5AD0-CE8C2E428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A29BA8-1BB3-9110-7A3D-541C0109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AA313-E8A8-6112-FC1D-9E5D321E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AC8B8-193A-8F05-A521-55667643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68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20243-F6C3-EF3C-CDD5-397088D7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421EF-1016-1DEF-5CC3-04935229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72088-7D2F-FE3E-BF5E-454535362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F4E7C3-937D-CF08-6FB0-15F2F576D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E599D9-864C-F317-F245-4D34D9633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E4885F-26E0-4383-4A10-E67A68CD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DE755-C81E-6ECF-E6BA-F18DE01A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3416C-77C7-3A33-CC8F-078F271D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82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50130-58D8-B972-1143-174853E5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875F1E-F9F1-636A-0FB7-CB27FC53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D1630F-2BA8-401F-75FE-929120AC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65356E-1D25-F144-6612-BD353A48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45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C3782-FC69-CB48-0157-96C4620C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65A53-D2F4-3AAC-EA10-9BF84402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C35903-BFA4-26CB-33AE-0D40347B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5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BF94C-06B2-C0DA-2778-2C368956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8194E6-6F88-6FA5-818B-CC62FE92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3936FD-7689-2F18-0917-E0FE3CBED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23E5D-DE7B-2627-804A-8F88E198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E7A64-7C1B-3993-3D46-0F7CFC5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C2768-2188-3C64-2F93-D4534DFC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0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28CED-2C6C-62B1-09C3-740A04BF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E89661-96A9-B903-389D-5B77EC1CB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AFB80C-9703-7608-121D-3D07C591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2C321-8CC7-2578-CD19-6D71E1DA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FA61B3-2F11-5323-805D-8CAEDE8D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7E65BA-1C26-887A-35EE-4BCD7105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6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1F615-D931-5119-845F-DEA56FDE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E9B39B-036D-C622-A492-7529DA04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DE474-4A9F-6325-55E1-548E9DE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DDD73-ACBB-1566-2556-BD7F3BEB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DD92-6FE9-1A8A-0168-30928A2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0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8C8CB-1A4C-9248-2199-1A404CF4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455DF5-6CAA-3970-2640-33C61545C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FBD1E-1568-DC56-428E-6AF0543E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C54D2-0A11-0210-BCF3-81F27990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F8D00-396D-5A04-392A-6A0973F0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52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965E69-0304-0777-D418-ABF7342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F746A-7CA4-9A62-6EAF-A5ABA6BD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3211-20DC-245B-E685-198BAFC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713B3-0345-AC44-882D-7B13CECCCA0F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3A07C-1A2C-038C-7F72-9735A37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B1138-A014-AE75-E35E-B1893C0F2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71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hyperlink" Target="https://kwpz0zmy845.feishu.cn/wiki/DoSiwHMiJisqbtk9SUtc9qTMn7c?from=from_copylink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3FDCF5-A392-3E73-2C9F-CD3B4F03F399}"/>
              </a:ext>
            </a:extLst>
          </p:cNvPr>
          <p:cNvSpPr txBox="1"/>
          <p:nvPr/>
        </p:nvSpPr>
        <p:spPr>
          <a:xfrm>
            <a:off x="2195593" y="2402938"/>
            <a:ext cx="9096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3600" b="1" dirty="0">
                <a:latin typeface="Times New Roman" panose="02020603050405020304" charset="0"/>
                <a:cs typeface="Times New Roman" panose="02020603050405020304" charset="0"/>
              </a:rPr>
              <a:t>AI Agents for Scientific Discovery</a:t>
            </a:r>
          </a:p>
          <a:p>
            <a:pPr algn="ctr"/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--- The Case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Study</a:t>
            </a:r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of </a:t>
            </a:r>
            <a:r>
              <a:rPr lang="en" altLang="zh-CN" sz="2800" dirty="0" err="1">
                <a:latin typeface="Times New Roman" panose="02020603050405020304" charset="0"/>
                <a:cs typeface="Times New Roman" panose="02020603050405020304" charset="0"/>
              </a:rPr>
              <a:t>Biomni</a:t>
            </a:r>
            <a:endParaRPr lang="en" altLang="zh-C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90FCD-CBF2-8C8F-C751-63C45FC543BC}"/>
              </a:ext>
            </a:extLst>
          </p:cNvPr>
          <p:cNvSpPr txBox="1"/>
          <p:nvPr/>
        </p:nvSpPr>
        <p:spPr>
          <a:xfrm>
            <a:off x="4073066" y="4611700"/>
            <a:ext cx="4347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Harry,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Xingbo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Duzhen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Loka, Liang</a:t>
            </a:r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 </a:t>
            </a:r>
            <a:r>
              <a:rPr lang="en-US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  <a:endParaRPr lang="en-US" altLang="zh-CN" sz="2400" dirty="0">
              <a:solidFill>
                <a:srgbClr val="3230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4A72E7-266D-9954-0E85-CA1ED5F9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68E-0BF3-6FB4-FBAA-AF16ADAA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1C441-5357-AC3F-0EBD-1BDA64D5FC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47562" y="2308225"/>
            <a:ext cx="265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Catalog</a:t>
            </a:r>
            <a:endParaRPr lang="zh-CN" sz="5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37443E-DCF7-38BA-159B-18782BC2AEF1}"/>
              </a:ext>
            </a:extLst>
          </p:cNvPr>
          <p:cNvGrpSpPr/>
          <p:nvPr/>
        </p:nvGrpSpPr>
        <p:grpSpPr>
          <a:xfrm>
            <a:off x="4823202" y="732787"/>
            <a:ext cx="6965315" cy="5384800"/>
            <a:chOff x="8580" y="1930"/>
            <a:chExt cx="8612" cy="848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FA8EF1C-35A5-7196-2411-8AD2EA149F64}"/>
                </a:ext>
              </a:extLst>
            </p:cNvPr>
            <p:cNvSpPr/>
            <p:nvPr/>
          </p:nvSpPr>
          <p:spPr>
            <a:xfrm>
              <a:off x="8580" y="1930"/>
              <a:ext cx="8612" cy="8480"/>
            </a:xfrm>
            <a:prstGeom prst="rect">
              <a:avLst/>
            </a:prstGeom>
            <a:solidFill>
              <a:srgbClr val="2A6BB2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20DCC81-7B23-ECF2-816E-D574B6E64521}"/>
                </a:ext>
              </a:extLst>
            </p:cNvPr>
            <p:cNvSpPr txBox="1"/>
            <p:nvPr/>
          </p:nvSpPr>
          <p:spPr>
            <a:xfrm>
              <a:off x="8977" y="3542"/>
              <a:ext cx="7817" cy="4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2">
                <a:lnSpc>
                  <a:spcPct val="150000"/>
                </a:lnSpc>
              </a:pPr>
              <a:endParaRPr lang="en" altLang="zh-C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  <a:p>
              <a:pPr lvl="2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How </a:t>
              </a:r>
              <a:r>
                <a:rPr lang="en" altLang="zh-CN" sz="2800" b="1" dirty="0" err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Biomni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Uses Memory</a:t>
              </a:r>
            </a:p>
            <a:p>
              <a:pPr lvl="2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Examples with Tool Interaction</a:t>
              </a:r>
            </a:p>
            <a:p>
              <a:pPr lvl="2">
                <a:lnSpc>
                  <a:spcPct val="150000"/>
                </a:lnSpc>
              </a:pP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B48A23A-082E-E12D-B659-992DD406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05B4-40F6-2099-2445-2A36285B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D469919-0A98-29D2-95F4-692B8C73A932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How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Biomni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Uses Memory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DEA8BA-F803-6549-90ED-9DABB79E5D4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9C5102-3FF5-846F-ADE3-781630A7F207}"/>
              </a:ext>
            </a:extLst>
          </p:cNvPr>
          <p:cNvSpPr txBox="1"/>
          <p:nvPr/>
        </p:nvSpPr>
        <p:spPr>
          <a:xfrm>
            <a:off x="78105" y="930129"/>
            <a:ext cx="6177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Node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Always uses all memories for generating response.</a:t>
            </a:r>
          </a:p>
          <a:p>
            <a:pPr lvl="1"/>
            <a:endParaRPr lang="en" altLang="zh-CN" sz="20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4BFE39C-24FF-853B-0D21-BF693E5B4FE9}"/>
              </a:ext>
            </a:extLst>
          </p:cNvPr>
          <p:cNvSpPr/>
          <p:nvPr/>
        </p:nvSpPr>
        <p:spPr>
          <a:xfrm>
            <a:off x="9100821" y="935183"/>
            <a:ext cx="1007999" cy="100799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E51C94-2BF5-8A82-E8E3-E70B3BE37DF7}"/>
              </a:ext>
            </a:extLst>
          </p:cNvPr>
          <p:cNvSpPr/>
          <p:nvPr/>
        </p:nvSpPr>
        <p:spPr>
          <a:xfrm>
            <a:off x="8025402" y="2411876"/>
            <a:ext cx="3158836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Node</a:t>
            </a:r>
          </a:p>
          <a:p>
            <a:pPr algn="ctr"/>
            <a:r>
              <a:rPr lang="en" altLang="zh-CN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generate</a:t>
            </a:r>
            <a:r>
              <a:rPr lang="en" altLang="zh-CN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AgentState</a:t>
            </a:r>
            <a:r>
              <a:rPr lang="en" altLang="zh-CN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pPr algn="ctr"/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1260939E-2CD9-4161-C215-3706651EA026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 flipH="1">
            <a:off x="9604820" y="1943182"/>
            <a:ext cx="1" cy="4686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52C4A31-8D01-0089-6F56-3CA2F3777938}"/>
              </a:ext>
            </a:extLst>
          </p:cNvPr>
          <p:cNvCxnSpPr>
            <a:cxnSpLocks/>
          </p:cNvCxnSpPr>
          <p:nvPr/>
        </p:nvCxnSpPr>
        <p:spPr>
          <a:xfrm flipH="1">
            <a:off x="9580915" y="3049455"/>
            <a:ext cx="1" cy="4686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决策 13">
            <a:extLst>
              <a:ext uri="{FF2B5EF4-FFF2-40B4-BE49-F238E27FC236}">
                <a16:creationId xmlns:a16="http://schemas.microsoft.com/office/drawing/2014/main" id="{8FA77EDB-D1A7-630D-38CC-619D38566216}"/>
              </a:ext>
            </a:extLst>
          </p:cNvPr>
          <p:cNvSpPr/>
          <p:nvPr/>
        </p:nvSpPr>
        <p:spPr>
          <a:xfrm>
            <a:off x="8459203" y="3529652"/>
            <a:ext cx="2284989" cy="1412188"/>
          </a:xfrm>
          <a:prstGeom prst="flowChartDecision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Function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60BD661-8B87-6EA9-7033-5CA297FD1121}"/>
              </a:ext>
            </a:extLst>
          </p:cNvPr>
          <p:cNvSpPr/>
          <p:nvPr/>
        </p:nvSpPr>
        <p:spPr>
          <a:xfrm>
            <a:off x="11184238" y="5184229"/>
            <a:ext cx="1007999" cy="100799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332E3E72-C32B-57B8-A31A-5054E57FE820}"/>
              </a:ext>
            </a:extLst>
          </p:cNvPr>
          <p:cNvCxnSpPr>
            <a:cxnSpLocks/>
            <a:stCxn id="14" idx="2"/>
            <a:endCxn id="15" idx="2"/>
          </p:cNvCxnSpPr>
          <p:nvPr/>
        </p:nvCxnSpPr>
        <p:spPr>
          <a:xfrm>
            <a:off x="9601698" y="4941840"/>
            <a:ext cx="1582540" cy="74638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F4B7EE7-168B-8C03-D409-D86F94DE2754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flipH="1">
            <a:off x="8025402" y="4941840"/>
            <a:ext cx="1576296" cy="7322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5D2A4E2D-E267-AEC1-BC6A-04705D697C19}"/>
              </a:ext>
            </a:extLst>
          </p:cNvPr>
          <p:cNvSpPr/>
          <p:nvPr/>
        </p:nvSpPr>
        <p:spPr>
          <a:xfrm>
            <a:off x="6445984" y="5674051"/>
            <a:ext cx="3158836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Node</a:t>
            </a:r>
          </a:p>
          <a:p>
            <a:pPr algn="ctr"/>
            <a:r>
              <a:rPr lang="en" altLang="zh-CN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execute</a:t>
            </a:r>
            <a:r>
              <a:rPr lang="en" altLang="zh-CN" sz="1600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AgentState</a:t>
            </a:r>
            <a:r>
              <a:rPr lang="en" altLang="zh-CN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pPr algn="ctr"/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3714B922-D5E4-3416-6FB4-CEEBB0A7F691}"/>
              </a:ext>
            </a:extLst>
          </p:cNvPr>
          <p:cNvCxnSpPr>
            <a:stCxn id="25" idx="0"/>
          </p:cNvCxnSpPr>
          <p:nvPr/>
        </p:nvCxnSpPr>
        <p:spPr>
          <a:xfrm flipV="1">
            <a:off x="8025402" y="3049455"/>
            <a:ext cx="433801" cy="262459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D88E136-D7A9-6E17-DC44-7A4B1C645AC1}"/>
              </a:ext>
            </a:extLst>
          </p:cNvPr>
          <p:cNvCxnSpPr>
            <a:stCxn id="14" idx="3"/>
          </p:cNvCxnSpPr>
          <p:nvPr/>
        </p:nvCxnSpPr>
        <p:spPr>
          <a:xfrm flipV="1">
            <a:off x="10744192" y="3049455"/>
            <a:ext cx="0" cy="118629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54B543B1-6828-46AC-B166-4691748A8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01" y="1828607"/>
            <a:ext cx="6768292" cy="754535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D02D067-4358-AB5E-BA64-4F1CFD476861}"/>
              </a:ext>
            </a:extLst>
          </p:cNvPr>
          <p:cNvSpPr txBox="1"/>
          <p:nvPr/>
        </p:nvSpPr>
        <p:spPr>
          <a:xfrm>
            <a:off x="467401" y="2781670"/>
            <a:ext cx="69634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state[‘messages’] includes all the conversation interaction histories.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modified to select specific memories (e.g., the latest few memories)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0A160E3-BB88-70D3-E3C2-778EF1C96808}"/>
              </a:ext>
            </a:extLst>
          </p:cNvPr>
          <p:cNvSpPr txBox="1"/>
          <p:nvPr/>
        </p:nvSpPr>
        <p:spPr>
          <a:xfrm>
            <a:off x="78105" y="4421148"/>
            <a:ext cx="6177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Node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uses the previous one memory</a:t>
            </a:r>
            <a:r>
              <a:rPr kumimoji="1" lang="en-US" altLang="zh-C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" altLang="zh-CN" sz="20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7530E88-7665-751E-D4AC-87DD43E21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39" y="5125654"/>
            <a:ext cx="6010728" cy="79890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EB873B90-E144-9760-D784-CFE9AA8ADD9E}"/>
              </a:ext>
            </a:extLst>
          </p:cNvPr>
          <p:cNvSpPr txBox="1"/>
          <p:nvPr/>
        </p:nvSpPr>
        <p:spPr>
          <a:xfrm>
            <a:off x="363840" y="6087853"/>
            <a:ext cx="6010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the code wrapped in the  &lt;execute&gt; tag from the previous message and execute the code to get results.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1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6F60-6180-D6A0-39B7-FE77100C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BD928D9-B047-9619-2622-25E174697DE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74016F-E699-0A8B-092A-758A450C24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B9A23D-A311-7E8D-F6E5-687045C589CA}"/>
              </a:ext>
            </a:extLst>
          </p:cNvPr>
          <p:cNvSpPr txBox="1"/>
          <p:nvPr/>
        </p:nvSpPr>
        <p:spPr>
          <a:xfrm>
            <a:off x="78105" y="930129"/>
            <a:ext cx="12035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 Types </a:t>
            </a:r>
            <a:r>
              <a:rPr kumimoji="1" lang="en-US" altLang="zh-CN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kumimoji="1"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Libraries (100+)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Tool Functions (21 </a:t>
            </a:r>
            <a:r>
              <a:rPr kumimoji="1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fileds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200+ python tool functions)</a:t>
            </a:r>
            <a:endParaRPr lang="en" altLang="zh-CN" sz="20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CA2CF4-A65D-D4B0-43F1-96F7305AE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74" y="2023006"/>
            <a:ext cx="8223833" cy="18942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8237B4B-6111-B042-1448-8C3C38A7F020}"/>
              </a:ext>
            </a:extLst>
          </p:cNvPr>
          <p:cNvSpPr txBox="1"/>
          <p:nvPr/>
        </p:nvSpPr>
        <p:spPr>
          <a:xfrm>
            <a:off x="519545" y="3885618"/>
            <a:ext cx="10640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Data Lake (70+ datasets)</a:t>
            </a: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BA4FD21-2D3B-921B-3490-4F722E75D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816" y="4301374"/>
            <a:ext cx="7158702" cy="162897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6E152C6-356E-9AC1-00DA-6205CEE06AF9}"/>
              </a:ext>
            </a:extLst>
          </p:cNvPr>
          <p:cNvSpPr txBox="1"/>
          <p:nvPr/>
        </p:nvSpPr>
        <p:spPr>
          <a:xfrm>
            <a:off x="163743" y="5912251"/>
            <a:ext cx="1186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user query,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selects all tools relevant to the query and places them in the system prompt, so the LLM can call them when solving the query.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42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F845-AF88-E72B-87C7-3EC4A26B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5DEEFFA-C34E-F5BE-CFA8-32BE02DAE3A7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5C05C6-AF2D-6BF2-C403-4EE42596CDF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C23019-0287-9490-343D-54DEEDB4D6B0}"/>
              </a:ext>
            </a:extLst>
          </p:cNvPr>
          <p:cNvSpPr txBox="1"/>
          <p:nvPr/>
        </p:nvSpPr>
        <p:spPr>
          <a:xfrm>
            <a:off x="249382" y="1018308"/>
            <a:ext cx="58331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" altLang="zh-CN" dirty="0">
                <a:solidFill>
                  <a:srgbClr val="6425D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Message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FDA active ingredient information for ibuprofen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9C6B1A-E965-58D0-D9CD-F52628F84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15" y="3322647"/>
            <a:ext cx="5072064" cy="117353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699E155-930A-717F-E039-360A96E79A48}"/>
              </a:ext>
            </a:extLst>
          </p:cNvPr>
          <p:cNvSpPr txBox="1"/>
          <p:nvPr/>
        </p:nvSpPr>
        <p:spPr>
          <a:xfrm>
            <a:off x="6109422" y="842654"/>
            <a:ext cx="1055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en-US" altLang="zh-CN" dirty="0">
                <a:solidFill>
                  <a:srgbClr val="6425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Message: </a:t>
            </a:r>
            <a:endParaRPr lang="zh-CN" altLang="en-US" dirty="0">
              <a:solidFill>
                <a:srgbClr val="6425D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EDF65DA-6EA7-CF47-AD3F-B8391F618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364" y="1258932"/>
            <a:ext cx="5904636" cy="447436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11F850B-42C0-ABB9-3E59-5464F24559C4}"/>
              </a:ext>
            </a:extLst>
          </p:cNvPr>
          <p:cNvSpPr txBox="1"/>
          <p:nvPr/>
        </p:nvSpPr>
        <p:spPr>
          <a:xfrm>
            <a:off x="471488" y="5129213"/>
            <a:ext cx="581587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Detailed Examples of Tool Interaction:</a:t>
            </a: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  <a:hlinkClick r:id="rId6"/>
            </a:endParaRPr>
          </a:p>
          <a:p>
            <a:r>
              <a:rPr kumimoji="1" lang="en" altLang="zh-CN" dirty="0">
                <a:hlinkClick r:id="rId6"/>
              </a:rPr>
              <a:t>https://kwpz0zmy845.feishu.cn/wiki/DoSiwHMiJisqbtk9SUtc9qTMn7c?from=from_copylink</a:t>
            </a:r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455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CFFD-2292-1EB8-6F8F-D8E92253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A2559C12-6389-07B9-DD4D-1949E92A044E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E256B9-0462-CAD1-F1A3-409BD7C43C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4AA1B6-F90B-6116-E325-56CF9F418217}"/>
              </a:ext>
            </a:extLst>
          </p:cNvPr>
          <p:cNvSpPr txBox="1"/>
          <p:nvPr/>
        </p:nvSpPr>
        <p:spPr>
          <a:xfrm>
            <a:off x="249382" y="1018308"/>
            <a:ext cx="117209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Generate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&lt;execute&gt; tag in the AI Message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A83DA5-0A22-161A-8CD7-A4AB46CED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403303"/>
            <a:ext cx="6892189" cy="430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3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C086-B7DB-B197-77AA-E4245B82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11DBAA13-4984-452C-7DC9-82CAEF90C247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6C8BC4-5517-2FDA-9A1C-0D430C8F911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F9BE75-8802-AC87-9179-81D21FC95BE8}"/>
              </a:ext>
            </a:extLst>
          </p:cNvPr>
          <p:cNvSpPr txBox="1"/>
          <p:nvPr/>
        </p:nvSpPr>
        <p:spPr>
          <a:xfrm>
            <a:off x="249382" y="1018308"/>
            <a:ext cx="117209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DBF3AE-BAEC-2297-2201-08803A29F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838" y="1868615"/>
            <a:ext cx="7772400" cy="487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1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B451-BC0A-05EB-BE75-8579FD1B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5A5B839-BA1E-976F-D917-5DA30074D309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195EBA-4139-4360-E652-9A491508013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BFB151-E556-DA3D-C051-7B2094E07F1D}"/>
              </a:ext>
            </a:extLst>
          </p:cNvPr>
          <p:cNvSpPr txBox="1"/>
          <p:nvPr/>
        </p:nvSpPr>
        <p:spPr>
          <a:xfrm>
            <a:off x="249382" y="1018308"/>
            <a:ext cx="117209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Execute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lang="en-US" altLang="zh-CN" sz="2000" dirty="0">
                <a:solidFill>
                  <a:srgbClr val="6425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Message: </a:t>
            </a:r>
            <a:endParaRPr lang="zh-CN" altLang="en-US" sz="2000" dirty="0">
              <a:solidFill>
                <a:srgbClr val="6425D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730A91-80A6-BC59-257E-A47C83C5D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1892277"/>
            <a:ext cx="7772400" cy="483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08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AAB5-2C3A-FA71-3CB5-736D92F4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38EDDDF-748D-DB81-B4BB-1122189B60A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EC4C4F-8B2E-4263-1331-08F85425A40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5EC6C8-3A1F-C1F9-7607-4658242F4999}"/>
              </a:ext>
            </a:extLst>
          </p:cNvPr>
          <p:cNvSpPr txBox="1"/>
          <p:nvPr/>
        </p:nvSpPr>
        <p:spPr>
          <a:xfrm>
            <a:off x="249383" y="1018308"/>
            <a:ext cx="524666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</a:t>
            </a: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D55606-C365-9235-FAA7-27DD41963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4" y="2488122"/>
            <a:ext cx="5040742" cy="11662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942080-BBC3-EAB6-6D96-A81D390AE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008" y="1327320"/>
            <a:ext cx="6554468" cy="512921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AD963C-9F4D-00BA-B9ED-70859F28BECB}"/>
              </a:ext>
            </a:extLst>
          </p:cNvPr>
          <p:cNvSpPr txBox="1"/>
          <p:nvPr/>
        </p:nvSpPr>
        <p:spPr>
          <a:xfrm>
            <a:off x="5590859" y="856942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6425D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AI Message: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81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6F32F-5FD7-9435-EB72-DAD4D9B7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E1C7BB0E-95DF-887A-6C1D-7F2E1DBB9B95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118496-1B11-52D5-E84E-83D9467912C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7FE667-CE07-C7F5-194F-882BEC1A2E03}"/>
              </a:ext>
            </a:extLst>
          </p:cNvPr>
          <p:cNvSpPr txBox="1"/>
          <p:nvPr/>
        </p:nvSpPr>
        <p:spPr>
          <a:xfrm>
            <a:off x="249382" y="1018308"/>
            <a:ext cx="11720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&lt;solution&gt;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 in the AI Message</a:t>
            </a: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B94FA7-23DA-D05F-9E2E-65AE789E7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4" y="2319912"/>
            <a:ext cx="6262688" cy="374440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356214-6CA1-0489-A8ED-0FE47AB6D4F2}"/>
              </a:ext>
            </a:extLst>
          </p:cNvPr>
          <p:cNvSpPr txBox="1"/>
          <p:nvPr/>
        </p:nvSpPr>
        <p:spPr>
          <a:xfrm>
            <a:off x="700087" y="6054090"/>
            <a:ext cx="951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End</a:t>
            </a:r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6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09C6-C469-201A-DC93-EDF25AD1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13D98D3-ED3C-6F3A-ADA6-533EC9A9705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93A527-F0DE-32B1-8C31-10735336E23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316FA8-86BB-C1DF-D2D5-C7CCC783DF31}"/>
              </a:ext>
            </a:extLst>
          </p:cNvPr>
          <p:cNvSpPr txBox="1"/>
          <p:nvPr/>
        </p:nvSpPr>
        <p:spPr>
          <a:xfrm>
            <a:off x="249383" y="1018308"/>
            <a:ext cx="57798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6425D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Message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query_ensembl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the variant ID rs334 to its genomic coordinates in the hg38 human genome assembly.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686D8B-171B-9479-156D-BB9040C4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603" y="3773009"/>
            <a:ext cx="4331587" cy="100221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CFC9EB9-11AE-72C0-52C0-89EF5517B296}"/>
              </a:ext>
            </a:extLst>
          </p:cNvPr>
          <p:cNvSpPr txBox="1"/>
          <p:nvPr/>
        </p:nvSpPr>
        <p:spPr>
          <a:xfrm>
            <a:off x="6064303" y="736147"/>
            <a:ext cx="1055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en-US" altLang="zh-CN" dirty="0">
                <a:solidFill>
                  <a:srgbClr val="6425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Message: </a:t>
            </a:r>
            <a:endParaRPr lang="zh-CN" altLang="en-US" dirty="0">
              <a:solidFill>
                <a:srgbClr val="6425D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66E5A13-D972-DB24-FC6C-88822CACA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751" y="1124215"/>
            <a:ext cx="5779868" cy="553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0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9509-5156-4499-5028-E0BDCC66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D2D44719-88E4-16DE-4026-496F5A55FECA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A98382-CD7A-BE11-DD00-50AC0FF14B8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C9CC20-7667-64DA-20F0-176702588F2C}"/>
              </a:ext>
            </a:extLst>
          </p:cNvPr>
          <p:cNvSpPr txBox="1"/>
          <p:nvPr/>
        </p:nvSpPr>
        <p:spPr>
          <a:xfrm>
            <a:off x="249383" y="1018308"/>
            <a:ext cx="1183784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Generate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&lt;execute&gt; tag in the AI Message</a:t>
            </a:r>
          </a:p>
          <a:p>
            <a:pPr lvl="2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31FE2A-1396-DB8D-857B-590F1C711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104" y="2398161"/>
            <a:ext cx="7219084" cy="445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0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EBAC-5DDD-5DB2-1D80-A91218C05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527894A1-0EAD-0EDB-AECE-77655EF5C6F1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1D3956-5F36-827B-53AE-C8C8831F23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C1D541-77F8-CC07-36E1-4C010A321324}"/>
              </a:ext>
            </a:extLst>
          </p:cNvPr>
          <p:cNvSpPr txBox="1"/>
          <p:nvPr/>
        </p:nvSpPr>
        <p:spPr>
          <a:xfrm>
            <a:off x="249383" y="1018308"/>
            <a:ext cx="11837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5694CC1-9F0E-B1BD-81AF-4F998B4BF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288" y="1879464"/>
            <a:ext cx="7772400" cy="47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5602-FAE2-1F77-EE38-0C4AA0BA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7E2D0F3-4A60-F1B2-F0CE-423393E161CA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6ECE6E-E0F3-5827-BA67-879942807E7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A2161A-C686-48CC-27A4-32FA4DB6F6B4}"/>
              </a:ext>
            </a:extLst>
          </p:cNvPr>
          <p:cNvSpPr txBox="1"/>
          <p:nvPr/>
        </p:nvSpPr>
        <p:spPr>
          <a:xfrm>
            <a:off x="249383" y="1018308"/>
            <a:ext cx="1183784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Execute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solidFill>
                  <a:srgbClr val="6425D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Message: </a:t>
            </a: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29B7A2-FA80-F3A7-C146-6F7F92132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899" y="2472133"/>
            <a:ext cx="7772400" cy="26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3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C004-3161-CF19-3740-7F640297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4C5C62E-1A8A-E7FB-E187-C610D5BACBB5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0BE3FD-B28B-4220-08C2-A8149F92D2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92885B-0952-39C2-888A-5933B8B2A8E5}"/>
              </a:ext>
            </a:extLst>
          </p:cNvPr>
          <p:cNvSpPr txBox="1"/>
          <p:nvPr/>
        </p:nvSpPr>
        <p:spPr>
          <a:xfrm>
            <a:off x="249383" y="1018308"/>
            <a:ext cx="584661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sz="2000" b="1" dirty="0">
              <a:solidFill>
                <a:srgbClr val="6425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sz="2000" b="1" dirty="0">
              <a:solidFill>
                <a:srgbClr val="6425D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sz="2000" b="1" dirty="0">
              <a:solidFill>
                <a:srgbClr val="6425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sz="2000" b="1" dirty="0">
              <a:solidFill>
                <a:srgbClr val="6425D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D3FEAB-05C3-7224-AE6F-43B75DF04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65" y="2425806"/>
            <a:ext cx="5320235" cy="12549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19CF9AD-A987-AC90-4295-D0BAC463F688}"/>
              </a:ext>
            </a:extLst>
          </p:cNvPr>
          <p:cNvSpPr txBox="1"/>
          <p:nvPr/>
        </p:nvSpPr>
        <p:spPr>
          <a:xfrm>
            <a:off x="6096000" y="1018308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en-US" altLang="zh-CN" sz="1800" dirty="0">
                <a:solidFill>
                  <a:srgbClr val="6425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Message: </a:t>
            </a:r>
            <a:endParaRPr lang="e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A74BD8-2DEA-F137-E7C7-018212C40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421" y="1360170"/>
            <a:ext cx="5780196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1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5E08-2180-D1E2-F100-C1028852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FD1DC08-2D73-7E63-4CA3-EDFD64ABE5DA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B62BE0-656C-2B62-9943-60763995485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7BC19C-CEA5-2C46-5AEA-02328434EBDD}"/>
              </a:ext>
            </a:extLst>
          </p:cNvPr>
          <p:cNvSpPr txBox="1"/>
          <p:nvPr/>
        </p:nvSpPr>
        <p:spPr>
          <a:xfrm>
            <a:off x="249383" y="1018308"/>
            <a:ext cx="1183784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&lt;execute&gt; tag in the AI Message</a:t>
            </a:r>
          </a:p>
          <a:p>
            <a:pPr lvl="2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06E605-48B2-2230-DF7B-7FCDC6B10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104" y="2398161"/>
            <a:ext cx="7219084" cy="445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6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AE6F-5405-4CBB-8050-0BBE8242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EDFB6792-2B72-42BD-9865-117EB754415F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565E60-9D7E-0004-210B-275826B8CE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83D489-EF5C-66EF-8CB7-2FDD7DC8082E}"/>
              </a:ext>
            </a:extLst>
          </p:cNvPr>
          <p:cNvSpPr txBox="1"/>
          <p:nvPr/>
        </p:nvSpPr>
        <p:spPr>
          <a:xfrm>
            <a:off x="249383" y="1018308"/>
            <a:ext cx="11837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Execute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406734-0A80-C9BA-2CED-47C93E966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700" y="1908372"/>
            <a:ext cx="7772400" cy="476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78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8333-8C1C-B79C-61FD-06DDBB01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E803460-0545-BA27-5A7E-B6082F085CFB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A323F2-8A66-F6A3-676E-FD7884268E4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FF76D1-C3F0-AFAB-2ACC-587076D938DF}"/>
              </a:ext>
            </a:extLst>
          </p:cNvPr>
          <p:cNvSpPr txBox="1"/>
          <p:nvPr/>
        </p:nvSpPr>
        <p:spPr>
          <a:xfrm>
            <a:off x="249383" y="1018308"/>
            <a:ext cx="1183784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Execute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-US" altLang="zh-CN" sz="2000" dirty="0">
                <a:solidFill>
                  <a:srgbClr val="6425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Message: </a:t>
            </a: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787543-346E-3D75-C3C3-00D566F31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208" y="2507055"/>
            <a:ext cx="9201583" cy="32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41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B22F-DF97-3991-1892-772C60B0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07E1ED0-329C-FFE8-7139-D35E8A747D10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9B8E42-0DC8-D8A3-1ADF-0DE1D13F8F7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B2DB86-3629-8A61-968A-1234B1C0B2D4}"/>
              </a:ext>
            </a:extLst>
          </p:cNvPr>
          <p:cNvSpPr txBox="1"/>
          <p:nvPr/>
        </p:nvSpPr>
        <p:spPr>
          <a:xfrm>
            <a:off x="249383" y="1018308"/>
            <a:ext cx="1183784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Generate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D8393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1EF6F6-7A0B-7622-ED7A-22E15C93C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2171527"/>
            <a:ext cx="5670550" cy="13085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58A801-1B00-EE70-5189-7F7C7FB949F5}"/>
              </a:ext>
            </a:extLst>
          </p:cNvPr>
          <p:cNvSpPr txBox="1"/>
          <p:nvPr/>
        </p:nvSpPr>
        <p:spPr>
          <a:xfrm>
            <a:off x="667632" y="3750647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6425D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AI Message: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D029DD-CC74-499F-F12F-B7F8DD7C5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32" y="4157844"/>
            <a:ext cx="7622212" cy="270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84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56A5-763B-C299-1EF3-17100A99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4224884-3332-DCF6-0DA8-1ECD384A6E37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Examples with Tool Interaction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B49E5D-3A4C-95BB-45A2-00E21E9783F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6440BF-4CB1-88F4-7B12-52161B3FB4B4}"/>
              </a:ext>
            </a:extLst>
          </p:cNvPr>
          <p:cNvSpPr txBox="1"/>
          <p:nvPr/>
        </p:nvSpPr>
        <p:spPr>
          <a:xfrm>
            <a:off x="249382" y="1018308"/>
            <a:ext cx="11720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  <a:r>
              <a:rPr lang="en-US" altLang="zh-CN" sz="2000" dirty="0"/>
              <a:t>: </a:t>
            </a:r>
            <a:r>
              <a:rPr lang="en" altLang="zh-CN" sz="2000" dirty="0">
                <a:solidFill>
                  <a:srgbClr val="D839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-&gt; Generate -&gt; Execute -&gt; Generate -&gt; Execute-&gt; Generate -&gt; End </a:t>
            </a:r>
          </a:p>
          <a:p>
            <a:pPr lvl="1"/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Generate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&lt;solution&gt;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 in the AI Message</a:t>
            </a: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B24C544-E9FC-61A5-BAB4-13FE140CC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437" y="2309682"/>
            <a:ext cx="6262688" cy="374440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F0DE74-0113-30A4-842E-7914B19AD547}"/>
              </a:ext>
            </a:extLst>
          </p:cNvPr>
          <p:cNvSpPr txBox="1"/>
          <p:nvPr/>
        </p:nvSpPr>
        <p:spPr>
          <a:xfrm>
            <a:off x="700087" y="6054090"/>
            <a:ext cx="951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End</a:t>
            </a:r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97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760</Words>
  <Application>Microsoft Macintosh PowerPoint</Application>
  <PresentationFormat>宽屏</PresentationFormat>
  <Paragraphs>171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Inter</vt:lpstr>
      <vt:lpstr>Arial</vt:lpstr>
      <vt:lpstr>Menlo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Duzhen Zhang</dc:creator>
  <cp:lastModifiedBy>Duzhen Zhang</cp:lastModifiedBy>
  <cp:revision>646</cp:revision>
  <dcterms:created xsi:type="dcterms:W3CDTF">2025-09-08T06:01:48Z</dcterms:created>
  <dcterms:modified xsi:type="dcterms:W3CDTF">2025-10-30T18:20:38Z</dcterms:modified>
</cp:coreProperties>
</file>