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218" r:id="rId4"/>
    <p:sldId id="2219" r:id="rId5"/>
    <p:sldId id="2220" r:id="rId6"/>
    <p:sldId id="2222" r:id="rId7"/>
    <p:sldId id="2223" r:id="rId8"/>
    <p:sldId id="2224" r:id="rId9"/>
    <p:sldId id="2225" r:id="rId10"/>
    <p:sldId id="2226" r:id="rId11"/>
    <p:sldId id="2227" r:id="rId12"/>
    <p:sldId id="2228" r:id="rId13"/>
    <p:sldId id="2229" r:id="rId14"/>
    <p:sldId id="2230" r:id="rId15"/>
    <p:sldId id="2231" r:id="rId16"/>
    <p:sldId id="2232" r:id="rId17"/>
    <p:sldId id="2233" r:id="rId18"/>
    <p:sldId id="2234" r:id="rId19"/>
    <p:sldId id="2235" r:id="rId20"/>
    <p:sldId id="2236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2154"/>
  </p:normalViewPr>
  <p:slideViewPr>
    <p:cSldViewPr snapToGrid="0">
      <p:cViewPr varScale="1">
        <p:scale>
          <a:sx n="91" d="100"/>
          <a:sy n="91" d="100"/>
        </p:scale>
        <p:origin x="1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03E8A-EF42-6F4E-AF9F-CE7A27B63D4E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E8C99-175B-F54C-833A-B3ED9FCD49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673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" altLang="zh-CN" b="0" i="0" dirty="0">
              <a:effectLst/>
              <a:latin typeface="Inter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DE8C99-175B-F54C-833A-B3ED9FCD49E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3785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DE8C99-175B-F54C-833A-B3ED9FCD49E5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7339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90C89-9BDD-083E-F3BB-243882EC9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AE9645-4A2C-1E47-BD3C-2765C737B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B094F3-7CDE-CC70-66B3-DFEE2174F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17CA0C-4C6D-645B-8E71-1DF2CC6CF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130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8C70-50FE-FBD2-4867-04FD788BA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B6445E-2E6B-A143-98AA-C773D2365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D36F56-2985-11DB-CF16-7B10E3A64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8CC66F-46DC-28F7-C983-9AE4FA14E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719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CC494-08F3-ABD9-A6D1-26B3F3399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905A0D-560C-A45C-F5E9-AAE4A090F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01B436-B376-10BA-32DE-888097127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375BC7-D735-0DC5-8120-5E5798434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153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E06A9-4805-DFAF-C046-8559671AB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1EFF87-7C0A-5DE6-45C3-E793059A3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8F24C7-83F8-DD34-A0B4-486808932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9F29DB-42C5-496E-9C6C-717460145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405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9C7A5-98F5-02A4-DA89-79FB40E42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084784-7E9B-B636-D9E4-2BEF3E058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8E52BC-0915-331F-BCA4-72676872C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745D4B-85AF-D42E-F407-0E765E199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646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81A87-C20C-47D0-DB17-FD05578B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366FBE-90F0-D658-99F7-4E1047B43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A191F3-1B84-1982-9E08-E2EC1851A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D5912-5E17-1E5F-E3D3-0EEC96F80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516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4FFDD-9633-449E-489A-B009CCEE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2A9159-1E79-7435-9A18-BC027AFEA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24CE15-2C4F-55AB-9C88-13B182513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BA2342-CAA2-30C1-D5BC-D049858F5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410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1AA92-F167-CAAA-D98F-2E9F29978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3E541C-75EF-DF80-13C2-21F14CA88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88B2FF-CE17-773D-44E5-C5975A3D2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1DD952-AC9C-F82D-57F4-E23F1D3CE2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33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678D3-1FD3-94E9-17A0-F8DA8B555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AF0748-8CDD-46CB-C513-69735224F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20667F-D7FB-4C6A-573E-0527F9194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D0D07E-3D6D-C8FC-29E4-CA9C6AD43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712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AA6C3-D907-CBD8-1A69-C8938DA36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D2E0A2-865A-D36A-BE22-F369F7A37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B00523-63C6-7788-F6F5-367FD17CF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C8F3A6-22EA-1B70-D2EE-4960700A5C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776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57470-431D-E544-F0CF-1B2BD7A55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B92A99-FA41-FA8D-005D-4110001DD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10DDEC-B8D8-0FCC-8036-0F053C85A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CC7E82-B9A2-05ED-3598-B16EA7E60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2707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3C774-9C64-B273-AE72-106FEE0F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A0AED4-5818-3B32-3A43-4C3593425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FE5FA5-3443-B787-EA1F-2A1DBE437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E29907-F7EB-26F6-F3CE-EC19E9656C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4856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49914-8A23-071C-885E-59E0024AF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02B586-FDF7-2200-0475-58793CB01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E44870-92F7-A651-3E63-E7E3624DA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A15ED6-F2F7-C9AE-89B3-D96A65055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3680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10620-411E-737F-D36B-2F5239BF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1C6857A-A0A9-1C85-E771-B48BDDCD9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8D79BA-3A80-AB24-B60E-C502A9D61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3D9B8C-EE1E-7CBA-A0E2-A2A04757A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8038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09DC1-EAC1-0199-207F-FB0C6EAE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33B39E-2524-2275-428C-AE4D7DC73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B8141C-6EC9-6B56-407E-2167CECB9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ACD41F-6BEC-2010-6C98-07417106C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2901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9275F-DCB9-6C89-89BC-5E7C846EA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143C9E-251B-DE55-88EB-513D626E3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305F00-4931-ADE1-8C55-8CC39954E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i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15EE24-1816-7BAE-F008-AC9DFD395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4553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22A0F-CD39-3A48-B578-9BBA8AB2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A60CB7-C759-18D9-A0B5-17A2222D9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9E6419-5BA1-627F-B53B-34043FAD4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i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7008D3-7A25-0D03-EC99-C4F8094DD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96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7CD81-F688-8624-FF43-C74BDC304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314A60-3981-4AAA-0C3D-7A3F5576D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126856-7FCD-D1BB-8739-F3343041D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i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4D74BE-C3C6-79C3-48AA-5FF06F7B2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680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7B75A-3EE6-FD3E-6CED-406E6C29F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0FD7B9-84C3-98DC-1966-3E5C403B3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43F5E3-EAF2-9B8F-8F30-2CCF94D2B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274006-D219-AB18-A772-A2129426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3F9D53-97F1-AE4D-8C7E-92D0E57AC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925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E0392-24EF-6984-3607-3F6D33829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ED53E9-307F-771B-4435-4BAC30341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63CE43-4999-21F5-ED4E-F62695367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644595-90FE-DD88-4BF6-77438D0E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8C4637-E456-EE1E-C72F-AFE7DDD73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468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5A762-8CEB-9FB4-5187-7448FDD5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191BB4-29AA-C687-F0DF-E05591810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808A33-15F9-4F54-B042-FFCE796AA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7554D9-4C3C-0628-C9DE-FD726E55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9032BB-6E38-DFFB-07CC-8005447C9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10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545FC-22C9-D93C-2A3A-4195B7D35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7808EC-C8DF-D321-A528-B63A6C55B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5CA073-0043-6112-5AD0-CE8C2E428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A29BA8-1BB3-9110-7A3D-541C0109B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5AA313-E8A8-6112-FC1D-9E5D321E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AC8B8-193A-8F05-A521-556676434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2687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420243-F6C3-EF3C-CDD5-397088D7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F421EF-1016-1DEF-5CC3-049352298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072088-7D2F-FE3E-BF5E-454535362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3F4E7C3-937D-CF08-6FB0-15F2F576D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7E599D9-864C-F317-F245-4D34D96332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6E4885F-26E0-4383-4A10-E67A68CDA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CDE755-C81E-6ECF-E6BA-F18DE01AF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53416C-77C7-3A33-CC8F-078F271D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8228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50130-58D8-B972-1143-174853E5A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875F1E-F9F1-636A-0FB7-CB27FC53F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D1630F-2BA8-401F-75FE-929120AC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65356E-1D25-F144-6612-BD353A48C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745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7C3782-FC69-CB48-0157-96C4620C8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465A53-D2F4-3AAC-EA10-9BF844027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C35903-BFA4-26CB-33AE-0D40347B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758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BF94C-06B2-C0DA-2778-2C368956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8194E6-6F88-6FA5-818B-CC62FE928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3936FD-7689-2F18-0917-E0FE3CBED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623E5D-DE7B-2627-804A-8F88E1986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9E7A64-7C1B-3993-3D46-0F7CFC59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1C2768-2188-3C64-2F93-D4534DFC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6062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B28CED-2C6C-62B1-09C3-740A04BF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E89661-96A9-B903-389D-5B77EC1CB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AFB80C-9703-7608-121D-3D07C5910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12C321-8CC7-2578-CD19-6D71E1DA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FA61B3-2F11-5323-805D-8CAEDE8D8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7E65BA-1C26-887A-35EE-4BCD7105E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968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E1F615-D931-5119-845F-DEA56FDE0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E9B39B-036D-C622-A492-7529DA04B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4DE474-4A9F-6325-55E1-548E9DEB3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7DDD73-ACBB-1566-2556-BD7F3BEBC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98DD92-6FE9-1A8A-0168-30928A2E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500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D8C8CB-1A4C-9248-2199-1A404CF48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455DF5-6CAA-3970-2640-33C61545C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FFBD1E-1568-DC56-428E-6AF0543E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AC54D2-0A11-0210-BCF3-81F27990A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9F8D00-396D-5A04-392A-6A0973F06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524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965E69-0304-0777-D418-ABF7342E5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AF746A-7CA4-9A62-6EAF-A5ABA6BD5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03211-20DC-245B-E685-198BAFCCC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03A07C-1A2C-038C-7F72-9735A37AA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6B1138-A014-AE75-E35E-B1893C0F2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471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onglab-cal/tape" TargetMode="External"/><Relationship Id="rId3" Type="http://schemas.openxmlformats.org/officeDocument/2006/relationships/notesSlide" Target="../notesSlides/notesSlide19.xml"/><Relationship Id="rId7" Type="http://schemas.openxmlformats.org/officeDocument/2006/relationships/hyperlink" Target="https://github.com/EDAPINENUT/CBGBench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hyperlink" Target="https://github.com/chao1224/Geom3D" TargetMode="External"/><Relationship Id="rId5" Type="http://schemas.openxmlformats.org/officeDocument/2006/relationships/hyperlink" Target="https://github.com/deepchem/deepchem" TargetMode="External"/><Relationship Id="rId4" Type="http://schemas.openxmlformats.org/officeDocument/2006/relationships/hyperlink" Target="https://moleculenet.org/" TargetMode="External"/><Relationship Id="rId9" Type="http://schemas.openxmlformats.org/officeDocument/2006/relationships/hyperlink" Target="https://github.com/biomap-research/PFMBench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33FDCF5-A392-3E73-2C9F-CD3B4F03F399}"/>
              </a:ext>
            </a:extLst>
          </p:cNvPr>
          <p:cNvSpPr txBox="1"/>
          <p:nvPr/>
        </p:nvSpPr>
        <p:spPr>
          <a:xfrm>
            <a:off x="1097796" y="2351782"/>
            <a:ext cx="999640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3600" b="1" dirty="0">
                <a:latin typeface="Times New Roman" panose="02020603050405020304" charset="0"/>
                <a:cs typeface="Times New Roman" panose="02020603050405020304" charset="0"/>
              </a:rPr>
              <a:t>AI Agents for Scientific Discovery</a:t>
            </a:r>
          </a:p>
          <a:p>
            <a:pPr algn="ctr"/>
            <a:r>
              <a:rPr lang="en" altLang="zh-CN" sz="2800" dirty="0">
                <a:latin typeface="Times New Roman" panose="02020603050405020304" charset="0"/>
                <a:cs typeface="Times New Roman" panose="02020603050405020304" charset="0"/>
              </a:rPr>
              <a:t>                                         --- LLM Agents for Automated Code </a:t>
            </a:r>
          </a:p>
          <a:p>
            <a:pPr algn="ctr"/>
            <a:r>
              <a:rPr lang="en" altLang="zh-CN" sz="2800" dirty="0">
                <a:latin typeface="Times New Roman" panose="02020603050405020304" charset="0"/>
                <a:cs typeface="Times New Roman" panose="02020603050405020304" charset="0"/>
              </a:rPr>
              <a:t>                                                             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F90FCD-CBF2-8C8F-C751-63C45FC543BC}"/>
              </a:ext>
            </a:extLst>
          </p:cNvPr>
          <p:cNvSpPr txBox="1"/>
          <p:nvPr/>
        </p:nvSpPr>
        <p:spPr>
          <a:xfrm>
            <a:off x="3659007" y="4682038"/>
            <a:ext cx="48739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2400" b="0" i="0" dirty="0">
                <a:solidFill>
                  <a:srgbClr val="3230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Presenter: </a:t>
            </a:r>
            <a:r>
              <a:rPr lang="en" altLang="zh-CN" sz="2400" dirty="0" err="1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Duzhen</a:t>
            </a:r>
            <a:r>
              <a:rPr lang="en" altLang="zh-CN" sz="2400" dirty="0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" altLang="zh-CN" sz="2400" dirty="0" err="1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Xingbo</a:t>
            </a:r>
            <a:r>
              <a:rPr lang="en" altLang="zh-CN" sz="2400" dirty="0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Harry, Loka, Liang</a:t>
            </a:r>
            <a:r>
              <a:rPr lang="en" altLang="zh-CN" sz="2400" b="0" i="0" dirty="0">
                <a:solidFill>
                  <a:srgbClr val="3230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" altLang="zh-CN" sz="2400" dirty="0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</a:t>
            </a:r>
            <a:r>
              <a:rPr lang="en-US" altLang="zh-CN" sz="2400" dirty="0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lang="en" altLang="zh-CN" sz="2400" dirty="0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2025</a:t>
            </a:r>
            <a:endParaRPr lang="en-US" altLang="zh-CN" sz="2400" dirty="0">
              <a:solidFill>
                <a:srgbClr val="32302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4A72E7-266D-9954-0E85-CA1ED5F96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265" y="-21265"/>
            <a:ext cx="4490422" cy="150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22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1B68E-0BF3-6FB4-FBAA-AF16ADAA2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D1C441-5357-AC3F-0EBD-1BDA64D5FCB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547562" y="2308225"/>
            <a:ext cx="265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Catalog</a:t>
            </a:r>
            <a:endParaRPr lang="zh-CN" sz="5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237443E-DCF7-38BA-159B-18782BC2AEF1}"/>
              </a:ext>
            </a:extLst>
          </p:cNvPr>
          <p:cNvGrpSpPr/>
          <p:nvPr/>
        </p:nvGrpSpPr>
        <p:grpSpPr>
          <a:xfrm>
            <a:off x="4823202" y="732787"/>
            <a:ext cx="6965315" cy="5384800"/>
            <a:chOff x="8580" y="1930"/>
            <a:chExt cx="8612" cy="848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FA8EF1C-35A5-7196-2411-8AD2EA149F64}"/>
                </a:ext>
              </a:extLst>
            </p:cNvPr>
            <p:cNvSpPr/>
            <p:nvPr/>
          </p:nvSpPr>
          <p:spPr>
            <a:xfrm>
              <a:off x="8580" y="1930"/>
              <a:ext cx="8612" cy="8480"/>
            </a:xfrm>
            <a:prstGeom prst="rect">
              <a:avLst/>
            </a:prstGeom>
            <a:solidFill>
              <a:srgbClr val="2A6BB2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20DCC81-7B23-ECF2-816E-D574B6E64521}"/>
                </a:ext>
              </a:extLst>
            </p:cNvPr>
            <p:cNvSpPr txBox="1"/>
            <p:nvPr/>
          </p:nvSpPr>
          <p:spPr>
            <a:xfrm>
              <a:off x="8977" y="3542"/>
              <a:ext cx="7817" cy="5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2">
                <a:lnSpc>
                  <a:spcPct val="150000"/>
                </a:lnSpc>
              </a:pPr>
              <a:endParaRPr lang="en" altLang="zh-C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  <a:p>
              <a:pPr lvl="2"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en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" altLang="zh-CN" sz="2800" b="1" dirty="0" err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AlphaEvolve</a:t>
              </a:r>
              <a:endParaRPr lang="en" altLang="zh-C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  <a:p>
              <a:pPr lvl="2"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2.</a:t>
              </a:r>
              <a:r>
                <a:rPr lang="zh-CN" altLang="en-US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" altLang="zh-CN" sz="2800" b="1" dirty="0" err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LLM+Tree</a:t>
              </a:r>
              <a:r>
                <a:rPr lang="en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 Search System</a:t>
              </a:r>
            </a:p>
            <a:p>
              <a:pPr lvl="2"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3.</a:t>
              </a:r>
              <a:r>
                <a:rPr lang="zh-CN" altLang="en-US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Design</a:t>
              </a:r>
              <a:r>
                <a:rPr lang="zh-CN" altLang="en-US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Our Own Model</a:t>
              </a:r>
              <a:endParaRPr lang="en" altLang="zh-C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  <a:p>
              <a:pPr lvl="2">
                <a:lnSpc>
                  <a:spcPct val="150000"/>
                </a:lnSpc>
              </a:pPr>
              <a:r>
                <a:rPr lang="en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 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B48A23A-082E-E12D-B659-992DD4060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265" y="-21265"/>
            <a:ext cx="4490422" cy="150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42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A05B4-40F6-2099-2445-2A36285BC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0D469919-0A98-29D2-95F4-692B8C73A932}"/>
              </a:ext>
            </a:extLst>
          </p:cNvPr>
          <p:cNvSpPr txBox="1"/>
          <p:nvPr/>
        </p:nvSpPr>
        <p:spPr>
          <a:xfrm>
            <a:off x="0" y="40005"/>
            <a:ext cx="12245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AlphaEvolve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Background &amp; Motivation</a:t>
            </a: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DEA8BA-F803-6549-90ED-9DABB79E5D4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4C4812-D6FB-50DC-19E0-B3A338381382}"/>
              </a:ext>
            </a:extLst>
          </p:cNvPr>
          <p:cNvSpPr txBox="1"/>
          <p:nvPr/>
        </p:nvSpPr>
        <p:spPr>
          <a:xfrm>
            <a:off x="78105" y="6493509"/>
            <a:ext cx="1181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Novikov, Alexander, et al. "</a:t>
            </a:r>
            <a:r>
              <a:rPr lang="en" altLang="zh-C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AlphaEvolve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coding agent for scientific and algorithmic discovery." </a:t>
            </a:r>
            <a:r>
              <a:rPr lang="en" altLang="zh-CN" sz="1600" b="0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6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arXiv:2506.13131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(2025).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428B54-44EA-D1D9-F0D5-E90538BCB14C}"/>
              </a:ext>
            </a:extLst>
          </p:cNvPr>
          <p:cNvSpPr txBox="1"/>
          <p:nvPr/>
        </p:nvSpPr>
        <p:spPr>
          <a:xfrm>
            <a:off x="78105" y="686336"/>
            <a:ext cx="1211389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Context</a:t>
            </a:r>
          </a:p>
          <a:p>
            <a:pPr lvl="1" algn="just"/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have shown strong capabilities in code generation. Yet, most systems are limited to evolving short code snippets, lack scalability, and cannot autonomously produce novel algorithms</a:t>
            </a:r>
            <a:r>
              <a:rPr lang="en" altLang="zh-CN" sz="2400" dirty="0"/>
              <a:t>.</a:t>
            </a:r>
          </a:p>
          <a:p>
            <a:pPr lvl="1" algn="just"/>
            <a:endParaRPr kumimoji="1" lang="e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</a:t>
            </a:r>
          </a:p>
          <a:p>
            <a:pPr lvl="1" algn="just"/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 an AI system to autonomously design and improve algorithms, not just reproduce human-written ones, across complex tasks.</a:t>
            </a:r>
          </a:p>
          <a:p>
            <a:pPr lvl="1" algn="just"/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Motivation</a:t>
            </a:r>
          </a:p>
          <a:p>
            <a:pPr lvl="1" algn="just"/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Automating </a:t>
            </a:r>
            <a:r>
              <a:rPr kumimoji="1"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and algorithmic discovery </a:t>
            </a:r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accelerate innovation in both science and computational infrastructure (e.g., optimization, scheduling, numerical methods).</a:t>
            </a:r>
          </a:p>
          <a:p>
            <a:pPr lvl="1" algn="just"/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lvl="1" algn="just"/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we create an </a:t>
            </a:r>
            <a:r>
              <a:rPr kumimoji="1"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LLM-based coding agent</a:t>
            </a:r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iteratively modify, evaluate, and evolve code to generate new, provably correct, and efficient algorithms? 	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712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137BA-573A-D921-DF8F-C0FC401CD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68BFA802-2FA2-1368-A5A9-62FB58F8F919}"/>
              </a:ext>
            </a:extLst>
          </p:cNvPr>
          <p:cNvSpPr txBox="1"/>
          <p:nvPr/>
        </p:nvSpPr>
        <p:spPr>
          <a:xfrm>
            <a:off x="0" y="40005"/>
            <a:ext cx="1224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AlphaEvolve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: Core Method </a:t>
            </a:r>
            <a:endParaRPr lang="en-US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BDD67F-F724-DB9A-3CBB-1EC97AB958A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4C9A1A-7FC3-CA50-036A-C7101EA3F31A}"/>
              </a:ext>
            </a:extLst>
          </p:cNvPr>
          <p:cNvSpPr txBox="1"/>
          <p:nvPr/>
        </p:nvSpPr>
        <p:spPr>
          <a:xfrm>
            <a:off x="78105" y="6493509"/>
            <a:ext cx="1181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Novikov, Alexander, et al. "</a:t>
            </a:r>
            <a:r>
              <a:rPr lang="en" altLang="zh-C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AlphaEvolve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coding agent for scientific and algorithmic discovery." </a:t>
            </a:r>
            <a:r>
              <a:rPr lang="en" altLang="zh-CN" sz="1600" b="0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6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arXiv:2506.13131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(2025).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3B7BBF7-9419-48B0-0B10-456A0709594D}"/>
              </a:ext>
            </a:extLst>
          </p:cNvPr>
          <p:cNvSpPr txBox="1"/>
          <p:nvPr/>
        </p:nvSpPr>
        <p:spPr>
          <a:xfrm>
            <a:off x="78105" y="686336"/>
            <a:ext cx="121138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lvl="1" algn="just"/>
            <a:r>
              <a:rPr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AlphaEvolve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LLM-guided evolutionary coding agent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autonomously writes and optimizes code. It evolves entire codebases (hundreds of lines) rather than isolated functions.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7874E5-C614-F6A7-414C-A907A0938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368" y="1638920"/>
            <a:ext cx="6410569" cy="494975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F32D6FA-9C24-37EB-F230-F5486FC111CA}"/>
              </a:ext>
            </a:extLst>
          </p:cNvPr>
          <p:cNvSpPr txBox="1"/>
          <p:nvPr/>
        </p:nvSpPr>
        <p:spPr>
          <a:xfrm>
            <a:off x="256674" y="1844841"/>
            <a:ext cx="54626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defines “What?”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by describing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needs to be solved.</a:t>
            </a:r>
          </a:p>
          <a:p>
            <a:pPr lvl="1" algn="just"/>
            <a:endParaRPr lang="en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AlphaEvolve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figures out “How?”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Explore, modify, and evolve the code to make it perform better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interconnected modules: Prompt Sampler, LLMs Ensemble, Evaluators Pool, and Program Databases.</a:t>
            </a:r>
          </a:p>
          <a:p>
            <a:pPr lvl="1" algn="just"/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lvl="1" algn="just"/>
            <a:endParaRPr kumimoji="1" lang="en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261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97B66-B23A-1073-48C5-DA0EA3298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0738301C-7C30-99EC-2E50-6B574797699E}"/>
              </a:ext>
            </a:extLst>
          </p:cNvPr>
          <p:cNvSpPr txBox="1"/>
          <p:nvPr/>
        </p:nvSpPr>
        <p:spPr>
          <a:xfrm>
            <a:off x="0" y="40005"/>
            <a:ext cx="1224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AlphaEvolve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: Core Method </a:t>
            </a:r>
            <a:endParaRPr lang="en-US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21061C-2045-1C95-491E-A4A3A3B94EE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7AE4B42-F6E4-7FE2-3924-EF0FF9A04457}"/>
              </a:ext>
            </a:extLst>
          </p:cNvPr>
          <p:cNvSpPr txBox="1"/>
          <p:nvPr/>
        </p:nvSpPr>
        <p:spPr>
          <a:xfrm>
            <a:off x="78105" y="6493509"/>
            <a:ext cx="1181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Novikov, Alexander, et al. "</a:t>
            </a:r>
            <a:r>
              <a:rPr lang="en" altLang="zh-C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AlphaEvolve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coding agent for scientific and algorithmic discovery." </a:t>
            </a:r>
            <a:r>
              <a:rPr lang="en" altLang="zh-CN" sz="1600" b="0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6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arXiv:2506.13131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(2025).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D35DE5-09D6-2FD4-9AF0-7E8C03ACADAC}"/>
              </a:ext>
            </a:extLst>
          </p:cNvPr>
          <p:cNvSpPr txBox="1"/>
          <p:nvPr/>
        </p:nvSpPr>
        <p:spPr>
          <a:xfrm>
            <a:off x="78105" y="686336"/>
            <a:ext cx="12113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90CBC7D-D6F8-8D39-0C50-2E44C8F9D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7744" y="1094496"/>
            <a:ext cx="8955506" cy="539901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27E7ACA-3FE7-0EDD-2371-ABF3ADE32969}"/>
              </a:ext>
            </a:extLst>
          </p:cNvPr>
          <p:cNvSpPr/>
          <p:nvPr/>
        </p:nvSpPr>
        <p:spPr>
          <a:xfrm>
            <a:off x="1233151" y="1332667"/>
            <a:ext cx="1668379" cy="59355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Definition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B48FA851-3CE2-BDCA-0F03-5475A3D4F9FE}"/>
              </a:ext>
            </a:extLst>
          </p:cNvPr>
          <p:cNvCxnSpPr>
            <a:stCxn id="8" idx="2"/>
          </p:cNvCxnSpPr>
          <p:nvPr/>
        </p:nvCxnSpPr>
        <p:spPr>
          <a:xfrm flipH="1">
            <a:off x="2067340" y="1926225"/>
            <a:ext cx="1" cy="474635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D5491F8E-2753-FD80-A330-BDCC6F87E5BE}"/>
              </a:ext>
            </a:extLst>
          </p:cNvPr>
          <p:cNvSpPr/>
          <p:nvPr/>
        </p:nvSpPr>
        <p:spPr>
          <a:xfrm>
            <a:off x="1059722" y="2416121"/>
            <a:ext cx="2015238" cy="59355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Sampler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12A2E4-3BC8-F73D-4717-99DA527CB18A}"/>
              </a:ext>
            </a:extLst>
          </p:cNvPr>
          <p:cNvSpPr/>
          <p:nvPr/>
        </p:nvSpPr>
        <p:spPr>
          <a:xfrm>
            <a:off x="1059722" y="3492116"/>
            <a:ext cx="2015238" cy="59355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2722F139-EA11-9A9B-4EAE-8B764D5DE1B9}"/>
              </a:ext>
            </a:extLst>
          </p:cNvPr>
          <p:cNvCxnSpPr/>
          <p:nvPr/>
        </p:nvCxnSpPr>
        <p:spPr>
          <a:xfrm flipH="1">
            <a:off x="2067340" y="3009679"/>
            <a:ext cx="1" cy="474635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2A8B7016-6108-73AF-51EA-16A92990F6C7}"/>
              </a:ext>
            </a:extLst>
          </p:cNvPr>
          <p:cNvCxnSpPr/>
          <p:nvPr/>
        </p:nvCxnSpPr>
        <p:spPr>
          <a:xfrm flipH="1">
            <a:off x="2067339" y="4078263"/>
            <a:ext cx="1" cy="474635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524E7290-B2DA-4952-8914-4C3C5DD011EA}"/>
              </a:ext>
            </a:extLst>
          </p:cNvPr>
          <p:cNvSpPr/>
          <p:nvPr/>
        </p:nvSpPr>
        <p:spPr>
          <a:xfrm>
            <a:off x="1233151" y="4552069"/>
            <a:ext cx="1668379" cy="59355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BB211D-894B-0381-7F04-C9D503CDDDDF}"/>
              </a:ext>
            </a:extLst>
          </p:cNvPr>
          <p:cNvSpPr/>
          <p:nvPr/>
        </p:nvSpPr>
        <p:spPr>
          <a:xfrm>
            <a:off x="935683" y="5627075"/>
            <a:ext cx="2263311" cy="59355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Database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4CF83047-B0A8-77E0-FB7C-448E301A51C1}"/>
              </a:ext>
            </a:extLst>
          </p:cNvPr>
          <p:cNvCxnSpPr/>
          <p:nvPr/>
        </p:nvCxnSpPr>
        <p:spPr>
          <a:xfrm flipH="1">
            <a:off x="2067339" y="5145627"/>
            <a:ext cx="1" cy="474635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68C345C3-8CD6-589B-828E-31359973E0FB}"/>
              </a:ext>
            </a:extLst>
          </p:cNvPr>
          <p:cNvCxnSpPr>
            <a:cxnSpLocks/>
            <a:stCxn id="16" idx="1"/>
          </p:cNvCxnSpPr>
          <p:nvPr/>
        </p:nvCxnSpPr>
        <p:spPr>
          <a:xfrm rot="10800000">
            <a:off x="336885" y="2712900"/>
            <a:ext cx="598799" cy="3210954"/>
          </a:xfrm>
          <a:prstGeom prst="bentConnector2">
            <a:avLst/>
          </a:prstGeom>
          <a:ln w="25400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22CE83E8-F5C9-CA8F-00B4-8A0A90E85402}"/>
              </a:ext>
            </a:extLst>
          </p:cNvPr>
          <p:cNvCxnSpPr>
            <a:cxnSpLocks/>
          </p:cNvCxnSpPr>
          <p:nvPr/>
        </p:nvCxnSpPr>
        <p:spPr>
          <a:xfrm>
            <a:off x="336884" y="2728942"/>
            <a:ext cx="7228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C13ECB7B-C6C2-5091-881F-C7893B47DBB2}"/>
              </a:ext>
            </a:extLst>
          </p:cNvPr>
          <p:cNvSpPr txBox="1"/>
          <p:nvPr/>
        </p:nvSpPr>
        <p:spPr>
          <a:xfrm>
            <a:off x="1414109" y="520067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8DA184C-F85D-364E-A86C-300369575A38}"/>
              </a:ext>
            </a:extLst>
          </p:cNvPr>
          <p:cNvSpPr txBox="1"/>
          <p:nvPr/>
        </p:nvSpPr>
        <p:spPr>
          <a:xfrm>
            <a:off x="-50300" y="4125963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5727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8B27B-6DEE-0079-BFB3-A2404F31A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1568524B-11AE-0781-AFA9-7BA5EF9C927D}"/>
              </a:ext>
            </a:extLst>
          </p:cNvPr>
          <p:cNvSpPr txBox="1"/>
          <p:nvPr/>
        </p:nvSpPr>
        <p:spPr>
          <a:xfrm>
            <a:off x="0" y="40005"/>
            <a:ext cx="1224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AlphaEvolve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: Core Method </a:t>
            </a:r>
            <a:endParaRPr lang="en-US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1D2734-420A-CAC6-7427-252B0BB3EE0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53D89E-7ACC-663F-134A-2CC4C2605E80}"/>
              </a:ext>
            </a:extLst>
          </p:cNvPr>
          <p:cNvSpPr txBox="1"/>
          <p:nvPr/>
        </p:nvSpPr>
        <p:spPr>
          <a:xfrm>
            <a:off x="78105" y="6493509"/>
            <a:ext cx="1181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Novikov, Alexander, et al. "</a:t>
            </a:r>
            <a:r>
              <a:rPr lang="en" altLang="zh-C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AlphaEvolve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coding agent for scientific and algorithmic discovery." </a:t>
            </a:r>
            <a:r>
              <a:rPr lang="en" altLang="zh-CN" sz="1600" b="0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6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arXiv:2506.13131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(2025).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F23F28-F564-C11F-0DD2-F75080AC8BF6}"/>
              </a:ext>
            </a:extLst>
          </p:cNvPr>
          <p:cNvSpPr txBox="1"/>
          <p:nvPr/>
        </p:nvSpPr>
        <p:spPr>
          <a:xfrm>
            <a:off x="78106" y="686336"/>
            <a:ext cx="602476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defines the </a:t>
            </a: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&amp; eval</a:t>
            </a:r>
          </a:p>
          <a:p>
            <a:pPr lvl="1" algn="just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program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EVOLVE-BLOCK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markers showing what the agent may rewrite.</a:t>
            </a:r>
          </a:p>
          <a:p>
            <a:pPr lvl="2" algn="just"/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evaluate()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that returns scalar metrics (the “score” </a:t>
            </a:r>
            <a:r>
              <a:rPr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AlphaEvolve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improve).</a:t>
            </a: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right Figure, both appear inline: blocks marked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#EVOLVE-BLOCK-START/END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an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evaluate(...)-&gt;</a:t>
            </a:r>
            <a:r>
              <a:rPr lang="en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str,float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the evaluators call.</a:t>
            </a:r>
          </a:p>
          <a:p>
            <a:pPr lvl="2" algn="just"/>
            <a:endParaRPr kumimoji="1"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1CF1F0-7D53-5A7B-0E62-B932B23DD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131" y="1005988"/>
            <a:ext cx="6024763" cy="442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30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49FD1-CDC4-C348-1012-CF343C26C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0FBC40FE-50F1-8D11-119E-D280A10A3374}"/>
              </a:ext>
            </a:extLst>
          </p:cNvPr>
          <p:cNvSpPr txBox="1"/>
          <p:nvPr/>
        </p:nvSpPr>
        <p:spPr>
          <a:xfrm>
            <a:off x="0" y="40005"/>
            <a:ext cx="1224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AlphaEvolve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: Core Method </a:t>
            </a:r>
            <a:endParaRPr lang="en-US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73FFC9-16C9-49F4-0DE6-82A61350F5F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E0DC6F9-04DC-C92D-2C7C-005BF080C2DA}"/>
              </a:ext>
            </a:extLst>
          </p:cNvPr>
          <p:cNvSpPr txBox="1"/>
          <p:nvPr/>
        </p:nvSpPr>
        <p:spPr>
          <a:xfrm>
            <a:off x="78105" y="6493509"/>
            <a:ext cx="1181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Novikov, Alexander, et al. "</a:t>
            </a:r>
            <a:r>
              <a:rPr lang="en" altLang="zh-C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AlphaEvolve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coding agent for scientific and algorithmic discovery." </a:t>
            </a:r>
            <a:r>
              <a:rPr lang="en" altLang="zh-CN" sz="1600" b="0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6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arXiv:2506.13131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(2025).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E9C2918-DE2E-C5A4-F665-710F92C86BD0}"/>
              </a:ext>
            </a:extLst>
          </p:cNvPr>
          <p:cNvSpPr txBox="1"/>
          <p:nvPr/>
        </p:nvSpPr>
        <p:spPr>
          <a:xfrm>
            <a:off x="78106" y="686336"/>
            <a:ext cx="6921078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is </a:t>
            </a: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assembled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rich context. </a:t>
            </a:r>
          </a:p>
          <a:p>
            <a:pPr lvl="1" algn="just"/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high-scoring programs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their metric lines.</a:t>
            </a:r>
          </a:p>
          <a:p>
            <a:pPr lvl="2" algn="just"/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program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improve.</a:t>
            </a:r>
          </a:p>
          <a:p>
            <a:pPr lvl="2" algn="just"/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instructions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how to output diffs (SEARCH/REPLACE format).</a:t>
            </a:r>
          </a:p>
          <a:p>
            <a:pPr marL="1257300" lvl="2" indent="-342900" algn="just">
              <a:buFont typeface="Wingdings" pitchFamily="2" charset="2"/>
              <a:buChar char="p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figure shows exactly that structure (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programs + current program + task + rules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89115B-78A7-13A6-9619-3F7219059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028" y="-25937"/>
            <a:ext cx="37243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95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2700D-2029-0B05-4929-1C45FA533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9E33AE99-2F63-B540-E96D-5513C77EA1BE}"/>
              </a:ext>
            </a:extLst>
          </p:cNvPr>
          <p:cNvSpPr txBox="1"/>
          <p:nvPr/>
        </p:nvSpPr>
        <p:spPr>
          <a:xfrm>
            <a:off x="0" y="40005"/>
            <a:ext cx="1224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AlphaEvolve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: Core Method </a:t>
            </a:r>
            <a:endParaRPr lang="en-US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BF69DB-12B2-493E-B43A-BF40A4B10B0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BAA6BD-BFE7-632E-4E4D-F6C1FE120BE0}"/>
              </a:ext>
            </a:extLst>
          </p:cNvPr>
          <p:cNvSpPr txBox="1"/>
          <p:nvPr/>
        </p:nvSpPr>
        <p:spPr>
          <a:xfrm>
            <a:off x="78105" y="6493509"/>
            <a:ext cx="1181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Novikov, Alexander, et al. "</a:t>
            </a:r>
            <a:r>
              <a:rPr lang="en" altLang="zh-C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AlphaEvolve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coding agent for scientific and algorithmic discovery." </a:t>
            </a:r>
            <a:r>
              <a:rPr lang="en" altLang="zh-CN" sz="1600" b="0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6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arXiv:2506.13131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(2025).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14F4CA-6212-B101-5803-CFA963CC220D}"/>
              </a:ext>
            </a:extLst>
          </p:cNvPr>
          <p:cNvSpPr txBox="1"/>
          <p:nvPr/>
        </p:nvSpPr>
        <p:spPr>
          <a:xfrm>
            <a:off x="78106" y="686336"/>
            <a:ext cx="637349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ensemble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proposes code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optimizer (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 → </a:t>
            </a:r>
            <a:r>
              <a:rPr lang="en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1257300" lvl="2" indent="-342900" algn="just">
              <a:buFont typeface="Wingdings" pitchFamily="2" charset="2"/>
              <a:buChar char="p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architecture (e.g., add blocks),</a:t>
            </a:r>
          </a:p>
          <a:p>
            <a:pPr marL="1257300" lvl="2" indent="-342900" algn="just">
              <a:buFont typeface="Wingdings" pitchFamily="2" charset="2"/>
              <a:buChar char="p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 up new </a:t>
            </a:r>
            <a:r>
              <a:rPr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hyperparams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consistently.</a:t>
            </a:r>
          </a:p>
          <a:p>
            <a:pPr marL="1257300" lvl="2" indent="-342900" algn="just">
              <a:buFont typeface="Wingdings" pitchFamily="2" charset="2"/>
              <a:buChar char="p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right figure shows concrete SEARCH/REPLACE edits across optimizer and network blocks.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format for diffs is specified (SEARCH/REPLACE) so code patches apply cleanly in large files.</a:t>
            </a:r>
          </a:p>
          <a:p>
            <a:pPr marL="1257300" lvl="2" indent="-342900" algn="just">
              <a:buFont typeface="Wingdings" pitchFamily="2" charset="2"/>
              <a:buChar char="p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369939-840B-9B90-6BB9-CFEB89D48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494" y="686336"/>
            <a:ext cx="57404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50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8588E-0219-2770-5033-D00D39B6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0D494101-0655-7EEB-E888-EDB7D69F3B5C}"/>
              </a:ext>
            </a:extLst>
          </p:cNvPr>
          <p:cNvSpPr txBox="1"/>
          <p:nvPr/>
        </p:nvSpPr>
        <p:spPr>
          <a:xfrm>
            <a:off x="0" y="40005"/>
            <a:ext cx="1224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AlphaEvolve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: Core Method </a:t>
            </a:r>
            <a:endParaRPr lang="en-US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6ED8AB-D221-C89A-127F-DC281CEF51D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59571F9-6A42-24EB-03BF-203A4DE84354}"/>
              </a:ext>
            </a:extLst>
          </p:cNvPr>
          <p:cNvSpPr txBox="1"/>
          <p:nvPr/>
        </p:nvSpPr>
        <p:spPr>
          <a:xfrm>
            <a:off x="78105" y="6493509"/>
            <a:ext cx="1181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Novikov, Alexander, et al. "</a:t>
            </a:r>
            <a:r>
              <a:rPr lang="en" altLang="zh-CN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AlphaEvolve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coding agent for scientific and algorithmic discovery." </a:t>
            </a:r>
            <a:r>
              <a:rPr lang="en" altLang="zh-CN" sz="1600" b="0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6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arXiv:2506.13131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(2025).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38B3F8E-2C60-CD99-D52A-96D3773C9C75}"/>
              </a:ext>
            </a:extLst>
          </p:cNvPr>
          <p:cNvSpPr txBox="1"/>
          <p:nvPr/>
        </p:nvSpPr>
        <p:spPr>
          <a:xfrm>
            <a:off x="78105" y="686336"/>
            <a:ext cx="1181686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algn="just"/>
            <a:endParaRPr lang="e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evaluation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child program is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 and scored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evaluation function.</a:t>
            </a:r>
          </a:p>
          <a:p>
            <a:pPr marL="1257300" lvl="2" indent="-342900" algn="just">
              <a:buFont typeface="Wingdings" pitchFamily="2" charset="2"/>
              <a:buChar char="p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&amp; Storage.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AlphaEvolve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scored solutions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database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resurfaces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promising or diverse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ones in future prompts.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archive follows Elites-style principles: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elite per niche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balance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exploitation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(refine the best) and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(preserve different strategies).</a:t>
            </a:r>
          </a:p>
          <a:p>
            <a:pPr marL="1257300" lvl="2" indent="-342900" algn="just">
              <a:buFont typeface="Wingdings" pitchFamily="2" charset="2"/>
              <a:buChar char="p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Iterate asynchronously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distributed pipeline runs many proposals/evals concurrently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letting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generations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accumulate improvements quickly.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282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38602-194A-790F-A8D9-7BBA04D9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1FC1741E-AFD5-136C-03A6-3EF3F4AC945B}"/>
              </a:ext>
            </a:extLst>
          </p:cNvPr>
          <p:cNvSpPr txBox="1"/>
          <p:nvPr/>
        </p:nvSpPr>
        <p:spPr>
          <a:xfrm>
            <a:off x="0" y="40005"/>
            <a:ext cx="1224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LLM+Tree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Search System: Background &amp; Motivation</a:t>
            </a:r>
            <a:endParaRPr lang="en-US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9D8AF4-3E08-D211-0A83-8EC0A22C9A3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2E41CA-E9BF-6E36-D341-3DAF2F564906}"/>
              </a:ext>
            </a:extLst>
          </p:cNvPr>
          <p:cNvSpPr txBox="1"/>
          <p:nvPr/>
        </p:nvSpPr>
        <p:spPr>
          <a:xfrm>
            <a:off x="78105" y="6493509"/>
            <a:ext cx="1181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Aygün, </a:t>
            </a:r>
            <a:r>
              <a:rPr lang="en" altLang="zh-CN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Eser</a:t>
            </a:r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 al. "An AI system to help scientists write expert-level empirical software." </a:t>
            </a:r>
            <a:r>
              <a:rPr lang="en" altLang="zh-CN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arXiv:2509.06503 (2025).</a:t>
            </a:r>
            <a:endParaRPr lang="zh-CN" alt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301910-88BE-E864-C3B5-3CDEE511DB60}"/>
              </a:ext>
            </a:extLst>
          </p:cNvPr>
          <p:cNvSpPr txBox="1"/>
          <p:nvPr/>
        </p:nvSpPr>
        <p:spPr>
          <a:xfrm>
            <a:off x="128337" y="818146"/>
            <a:ext cx="11985558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</a:p>
          <a:p>
            <a:pPr lvl="1" algn="just"/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we automate the creation of 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software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that implements empirical models or algorithms optimized for a measurable objective, using AI?</a:t>
            </a:r>
          </a:p>
          <a:p>
            <a:pPr marL="285750" indent="-285750" algn="just">
              <a:buFont typeface="Wingdings" pitchFamily="2" charset="2"/>
              <a:buChar char="Ø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</a:p>
          <a:p>
            <a:pPr algn="just"/>
            <a:endParaRPr lang="e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Nearly every modern scientific field (physics, biology, epidemiology, neuroscience, geospatial analysis, etc.) depends on specialized empirical software.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such code is slow and expensive to develop—it can take years of expert effort and iterative trial-and-error.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science advances faster than human coding capacity, automated software discovery could accelerate innovation across disciplines.</a:t>
            </a:r>
          </a:p>
          <a:p>
            <a:pPr lvl="1" algn="just"/>
            <a:endParaRPr lang="e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kumimoji="1"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532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18F24-78A8-8EF5-EDF8-C116D0B15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98F33A0B-2717-F8C7-7B5D-E2D6092823B2}"/>
              </a:ext>
            </a:extLst>
          </p:cNvPr>
          <p:cNvSpPr txBox="1"/>
          <p:nvPr/>
        </p:nvSpPr>
        <p:spPr>
          <a:xfrm>
            <a:off x="0" y="40005"/>
            <a:ext cx="1224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LLM+Tree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Search System: Background &amp; Motivation</a:t>
            </a:r>
            <a:endParaRPr lang="en-US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3F2A32-5D6F-0B7A-FC4F-9625ABBD8D3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3E7C15B-327B-FCDF-6CDC-11EF93B6EE8C}"/>
              </a:ext>
            </a:extLst>
          </p:cNvPr>
          <p:cNvSpPr txBox="1"/>
          <p:nvPr/>
        </p:nvSpPr>
        <p:spPr>
          <a:xfrm>
            <a:off x="78105" y="6493509"/>
            <a:ext cx="1181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Aygün, </a:t>
            </a:r>
            <a:r>
              <a:rPr lang="en" altLang="zh-CN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Eser</a:t>
            </a:r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 al. "An AI system to help scientists write expert-level empirical software." </a:t>
            </a:r>
            <a:r>
              <a:rPr lang="en" altLang="zh-CN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arXiv:2509.06503 (2025).</a:t>
            </a:r>
            <a:endParaRPr lang="zh-CN" alt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5BD033-49B6-77BF-D949-95CD9FB56D8B}"/>
              </a:ext>
            </a:extLst>
          </p:cNvPr>
          <p:cNvSpPr txBox="1"/>
          <p:nvPr/>
        </p:nvSpPr>
        <p:spPr>
          <a:xfrm>
            <a:off x="128337" y="818146"/>
            <a:ext cx="11985558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Programming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evolves code but through random mutations, lacks semantic understanding.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AutoML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automates ML pipeline tuning, but only within predefined templates.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Codex, </a:t>
            </a:r>
            <a:r>
              <a:rPr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AlphaCode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can write code but in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one-shot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without iterative self-improvement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existing system combines deep contextual reasoning (LLM) with systematic search and evaluation (Tree Search).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LLMs generate runnable code but cannot autonomously optimize or discover algorithms that outperform human experts.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Idea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hypothesize that combining LLM-based code mutation with Tree Search (TS) guided by a quantitative evaluation metric can autonomously evolve expert-level scientific software across diverse domains.</a:t>
            </a:r>
          </a:p>
          <a:p>
            <a:pPr lvl="1" algn="just"/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kumimoji="1"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758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F43F-FDD8-BEBE-74B0-B159F6353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B8AE7301-A794-AE1C-1D71-F32B0715E012}"/>
              </a:ext>
            </a:extLst>
          </p:cNvPr>
          <p:cNvSpPr txBox="1"/>
          <p:nvPr/>
        </p:nvSpPr>
        <p:spPr>
          <a:xfrm>
            <a:off x="0" y="40005"/>
            <a:ext cx="1224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LLM+Tree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Search System: Core Method</a:t>
            </a:r>
            <a:endParaRPr lang="en-US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B51711-108F-8132-7000-F1707A366A5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D98E30-F754-98BA-5F77-8AD6555BD2D2}"/>
              </a:ext>
            </a:extLst>
          </p:cNvPr>
          <p:cNvSpPr txBox="1"/>
          <p:nvPr/>
        </p:nvSpPr>
        <p:spPr>
          <a:xfrm>
            <a:off x="78105" y="6493509"/>
            <a:ext cx="1181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Aygün, </a:t>
            </a:r>
            <a:r>
              <a:rPr lang="en" altLang="zh-CN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Eser</a:t>
            </a:r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 al. "An AI system to help scientists write expert-level empirical software." </a:t>
            </a:r>
            <a:r>
              <a:rPr lang="en" altLang="zh-CN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arXiv:2509.06503 (2025).</a:t>
            </a:r>
            <a:endParaRPr lang="zh-CN" alt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514947-C3BD-7D00-765B-0D8158281346}"/>
              </a:ext>
            </a:extLst>
          </p:cNvPr>
          <p:cNvSpPr txBox="1"/>
          <p:nvPr/>
        </p:nvSpPr>
        <p:spPr>
          <a:xfrm>
            <a:off x="135305" y="763604"/>
            <a:ext cx="11921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  <a:endParaRPr kumimoji="1"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FBE0AC-44A2-25F5-3F6C-6D40E6A0B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" y="1678572"/>
            <a:ext cx="7961453" cy="38039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7A78C84-BF66-7401-079B-E9DD55C578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095" y="1697349"/>
            <a:ext cx="3733800" cy="382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131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B7CED-0724-0FED-98C6-D3ED774CF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84661211-35B4-CB51-166D-343931FAAB6C}"/>
              </a:ext>
            </a:extLst>
          </p:cNvPr>
          <p:cNvSpPr txBox="1"/>
          <p:nvPr/>
        </p:nvSpPr>
        <p:spPr>
          <a:xfrm>
            <a:off x="0" y="40005"/>
            <a:ext cx="1224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LLM+Tree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Search System: Core Method</a:t>
            </a:r>
            <a:endParaRPr lang="en-US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299B298-669D-1D5E-706D-857C5BAD1C9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9BD49B-6A94-2C58-430A-15C4428ECEF5}"/>
              </a:ext>
            </a:extLst>
          </p:cNvPr>
          <p:cNvSpPr txBox="1"/>
          <p:nvPr/>
        </p:nvSpPr>
        <p:spPr>
          <a:xfrm>
            <a:off x="78105" y="6493509"/>
            <a:ext cx="1181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Aygün, </a:t>
            </a:r>
            <a:r>
              <a:rPr lang="en" altLang="zh-CN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Eser</a:t>
            </a:r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 al. "An AI system to help scientists write expert-level empirical software." </a:t>
            </a:r>
            <a:r>
              <a:rPr lang="en" altLang="zh-CN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arXiv:2509.06503 (2025).</a:t>
            </a:r>
            <a:endParaRPr lang="zh-CN" alt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3A9A00D-E542-EB27-E419-8D51507DA2C9}"/>
              </a:ext>
            </a:extLst>
          </p:cNvPr>
          <p:cNvSpPr txBox="1"/>
          <p:nvPr/>
        </p:nvSpPr>
        <p:spPr>
          <a:xfrm>
            <a:off x="135305" y="763604"/>
            <a:ext cx="7629074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kumimoji="1" lang="en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scRNA</a:t>
            </a: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-seq batch integration</a:t>
            </a:r>
          </a:p>
          <a:p>
            <a:pPr marL="742950" lvl="1" indent="-285750" algn="just">
              <a:buFont typeface="Wingdings" pitchFamily="2" charset="2"/>
              <a:buChar char="Ø"/>
            </a:pPr>
            <a:endParaRPr kumimoji="1" lang="e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1. Define a scorable problem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scorable task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formulated, in genomics, the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integration of single-cell RNA-seq datasets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the goal is to remove “batch effects” while preserving biological variation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comes with a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metric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can be used to evaluate any piece of code written to solve it.</a:t>
            </a:r>
          </a:p>
          <a:p>
            <a:pPr marL="1257300" lvl="2" indent="-342900" algn="just">
              <a:buFont typeface="Wingdings" pitchFamily="2" charset="2"/>
              <a:buChar char="p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Step2. Gather or inject research ideas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 relevant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ideas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literature, textbooks, or prior methods (for example, existing algorithms like </a:t>
            </a:r>
            <a:r>
              <a:rPr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ComBat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BBKNN for batch correction).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summarized and injected into the LLM prompt to guide the model’s code generation.</a:t>
            </a:r>
          </a:p>
          <a:p>
            <a:pPr marL="1257300" lvl="2" indent="-342900" algn="just">
              <a:buFont typeface="Wingdings" pitchFamily="2" charset="2"/>
              <a:buChar char="p"/>
            </a:pPr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kumimoji="1" lang="e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endParaRPr kumimoji="1"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D826BB9-4D18-CF25-B755-5CCE03B37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2395" y="515101"/>
            <a:ext cx="3924300" cy="2997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6547917-447A-4D25-225C-A95034C451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2167" y="3590602"/>
            <a:ext cx="2724047" cy="278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288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37AEA-4081-C37E-F4A0-B67E474FD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B1E57C55-CDEE-4263-7545-D7B3259DBE8E}"/>
              </a:ext>
            </a:extLst>
          </p:cNvPr>
          <p:cNvSpPr txBox="1"/>
          <p:nvPr/>
        </p:nvSpPr>
        <p:spPr>
          <a:xfrm>
            <a:off x="0" y="40005"/>
            <a:ext cx="1224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LLM+Tree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Search System: Core Method</a:t>
            </a:r>
            <a:endParaRPr lang="en-US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2C6592-B59B-127A-339B-BA5683F1667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3CF9E2-5D16-4F3E-F307-B7D458794535}"/>
              </a:ext>
            </a:extLst>
          </p:cNvPr>
          <p:cNvSpPr txBox="1"/>
          <p:nvPr/>
        </p:nvSpPr>
        <p:spPr>
          <a:xfrm>
            <a:off x="78105" y="6493509"/>
            <a:ext cx="1181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Aygün, </a:t>
            </a:r>
            <a:r>
              <a:rPr lang="en" altLang="zh-CN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Eser</a:t>
            </a:r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 al. "An AI system to help scientists write expert-level empirical software." </a:t>
            </a:r>
            <a:r>
              <a:rPr lang="en" altLang="zh-CN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arXiv:2509.06503 (2025).</a:t>
            </a:r>
            <a:endParaRPr lang="zh-CN" alt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33E84D2-4D0B-AB68-2B0C-AA5586AF30F0}"/>
              </a:ext>
            </a:extLst>
          </p:cNvPr>
          <p:cNvSpPr txBox="1"/>
          <p:nvPr/>
        </p:nvSpPr>
        <p:spPr>
          <a:xfrm>
            <a:off x="135305" y="763604"/>
            <a:ext cx="1175966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kumimoji="1" lang="en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scRNA</a:t>
            </a: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-seq batch integration</a:t>
            </a:r>
          </a:p>
          <a:p>
            <a:pPr marL="742950" lvl="1" indent="-285750" algn="just">
              <a:buFont typeface="Wingdings" pitchFamily="2" charset="2"/>
              <a:buChar char="Ø"/>
            </a:pPr>
            <a:endParaRPr kumimoji="1" lang="e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3. LLM writes code (first generation)</a:t>
            </a:r>
          </a:p>
          <a:p>
            <a:pPr marL="1200150" lvl="2" indent="-285750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LLM receives the task description, the evaluation metric, and the research ideas as a prompt.</a:t>
            </a:r>
          </a:p>
          <a:p>
            <a:pPr marL="1200150" lvl="2" indent="-285750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outputs a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code candidate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executed in a sandbox to compute its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score (root node)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Step4. Evaluate and expand via Tree Search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4.1. Pick which code version (node) to try next</a:t>
            </a:r>
          </a:p>
          <a:p>
            <a:pPr marL="1714500" lvl="3" indent="-342900" algn="just">
              <a:buFont typeface="Wingdings" pitchFamily="2" charset="2"/>
              <a:buChar char="ü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any moment you have a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of code versions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(each node = a runnable script + its score).</a:t>
            </a:r>
          </a:p>
          <a:p>
            <a:pPr marL="1714500" lvl="3" indent="-342900" algn="just">
              <a:buFont typeface="Wingdings" pitchFamily="2" charset="2"/>
              <a:buChar char="ü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scores every node with a selection formula that balances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 (rank score) and Explore (visit count)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0" lvl="3" indent="-342900" algn="just">
              <a:buFont typeface="Wingdings" pitchFamily="2" charset="2"/>
              <a:buChar char="ü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Formally, we select the node u that maximizes: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8AE2A0-7BA7-175B-770D-945211A8C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443" y="4956809"/>
            <a:ext cx="51943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335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3B365-3983-7558-A485-6E49C419F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4E90786F-6922-7FBE-C784-B9D43DB4AB87}"/>
              </a:ext>
            </a:extLst>
          </p:cNvPr>
          <p:cNvSpPr txBox="1"/>
          <p:nvPr/>
        </p:nvSpPr>
        <p:spPr>
          <a:xfrm>
            <a:off x="0" y="40005"/>
            <a:ext cx="1224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LLM+Tree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Search System: Core Method</a:t>
            </a:r>
            <a:endParaRPr lang="en-US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B99669-3EE0-BD1D-25B2-33B020CD6CE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DFA1EE-F16D-B6E8-BD0E-761B9D020DB1}"/>
              </a:ext>
            </a:extLst>
          </p:cNvPr>
          <p:cNvSpPr txBox="1"/>
          <p:nvPr/>
        </p:nvSpPr>
        <p:spPr>
          <a:xfrm>
            <a:off x="78105" y="6493509"/>
            <a:ext cx="1181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Aygün, </a:t>
            </a:r>
            <a:r>
              <a:rPr lang="en" altLang="zh-CN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Eser</a:t>
            </a:r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 al. "An AI system to help scientists write expert-level empirical software." </a:t>
            </a:r>
            <a:r>
              <a:rPr lang="en" altLang="zh-CN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arXiv:2509.06503 (2025).</a:t>
            </a:r>
            <a:endParaRPr lang="zh-CN" alt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D166FFE-48FD-3A57-2297-B206BC28ACF6}"/>
              </a:ext>
            </a:extLst>
          </p:cNvPr>
          <p:cNvSpPr txBox="1"/>
          <p:nvPr/>
        </p:nvSpPr>
        <p:spPr>
          <a:xfrm>
            <a:off x="135305" y="763604"/>
            <a:ext cx="117596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kumimoji="1" lang="en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scRNA</a:t>
            </a: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-seq batch integration</a:t>
            </a:r>
          </a:p>
          <a:p>
            <a:pPr lvl="1" algn="just"/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Step4. Evaluate and expand via Tree Search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Expand the chosen node (have the LLM rewrite the code)</a:t>
            </a:r>
          </a:p>
          <a:p>
            <a:pPr marL="1714500" lvl="3" indent="-342900" algn="just">
              <a:buFont typeface="Wingdings" pitchFamily="2" charset="2"/>
              <a:buChar char="ü"/>
            </a:pP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the LLM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rewrite u’s code.</a:t>
            </a:r>
          </a:p>
          <a:p>
            <a:pPr marL="1714500" lvl="3" indent="-342900" algn="just">
              <a:buFont typeface="Wingdings" pitchFamily="2" charset="2"/>
              <a:buChar char="ü"/>
            </a:pP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new code safely in a sandbox and get a </a:t>
            </a:r>
            <a:r>
              <a:rPr lang="en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TaskScore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0" lvl="3" indent="-342900" algn="just">
              <a:buFont typeface="Wingdings" pitchFamily="2" charset="2"/>
              <a:buChar char="ü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resulting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node </a:t>
            </a:r>
            <a:r>
              <a:rPr lang="en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u_c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to the tree with its score and set V(</a:t>
            </a:r>
            <a:r>
              <a:rPr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u_c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)=1.</a:t>
            </a:r>
          </a:p>
          <a:p>
            <a:pPr marL="1714500" lvl="3" indent="-342900" algn="just">
              <a:buFont typeface="Wingdings" pitchFamily="2" charset="2"/>
              <a:buChar char="ü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 Score normalization </a:t>
            </a:r>
          </a:p>
          <a:p>
            <a:pPr marL="1714500" lvl="3" indent="-342900" algn="just">
              <a:buFont typeface="Wingdings" pitchFamily="2" charset="2"/>
              <a:buChar char="ü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different tasks/metrics have different scales, the raw </a:t>
            </a:r>
            <a:r>
              <a:rPr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TaskScore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(u) is converted to a 0–1 rank inside the tree: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28D889-D8A4-B09F-2DC8-EFBCA1CEC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290" y="3976437"/>
            <a:ext cx="3835400" cy="9906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776BD59-BF6A-E20E-E77A-6A1286C2B327}"/>
              </a:ext>
            </a:extLst>
          </p:cNvPr>
          <p:cNvSpPr txBox="1"/>
          <p:nvPr/>
        </p:nvSpPr>
        <p:spPr>
          <a:xfrm>
            <a:off x="1122947" y="4934953"/>
            <a:ext cx="1077202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p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4.4 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Back-propagate visits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adding </a:t>
            </a:r>
            <a:r>
              <a:rPr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u_c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​, increment visit counts for all ancestors of </a:t>
            </a:r>
            <a:r>
              <a:rPr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u_c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​. 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raises the “confidence” on paths you’ve already tried, reducing over-exploration there in future selections.</a:t>
            </a:r>
          </a:p>
          <a:p>
            <a:pPr marL="742950" lvl="1" indent="-285750">
              <a:buFont typeface="Wingdings" pitchFamily="2" charset="2"/>
              <a:buChar char="p"/>
            </a:pP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987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3B11E-762C-D238-929C-99F7D695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27A1B7E0-43B9-BBFB-F25E-94AB86884D35}"/>
              </a:ext>
            </a:extLst>
          </p:cNvPr>
          <p:cNvSpPr txBox="1"/>
          <p:nvPr/>
        </p:nvSpPr>
        <p:spPr>
          <a:xfrm>
            <a:off x="0" y="40005"/>
            <a:ext cx="1224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LLM+Tree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Search System: Core Method</a:t>
            </a:r>
            <a:endParaRPr lang="en-US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E90A21-4B16-A028-E6CB-9842D11FC47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E90812-B191-1223-57B1-56F8845D47BD}"/>
              </a:ext>
            </a:extLst>
          </p:cNvPr>
          <p:cNvSpPr txBox="1"/>
          <p:nvPr/>
        </p:nvSpPr>
        <p:spPr>
          <a:xfrm>
            <a:off x="78105" y="6493509"/>
            <a:ext cx="1181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Aygün, </a:t>
            </a:r>
            <a:r>
              <a:rPr lang="en" altLang="zh-CN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Eser</a:t>
            </a:r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 al. "An AI system to help scientists write expert-level empirical software." </a:t>
            </a:r>
            <a:r>
              <a:rPr lang="en" altLang="zh-CN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arXiv:2509.06503 (2025).</a:t>
            </a:r>
            <a:endParaRPr lang="zh-CN" alt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26273A-5972-FFC7-A89B-5C8759178858}"/>
              </a:ext>
            </a:extLst>
          </p:cNvPr>
          <p:cNvSpPr txBox="1"/>
          <p:nvPr/>
        </p:nvSpPr>
        <p:spPr>
          <a:xfrm>
            <a:off x="135304" y="763604"/>
            <a:ext cx="11495221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kumimoji="1" lang="en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scRNA</a:t>
            </a: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-seq batch integration</a:t>
            </a:r>
          </a:p>
          <a:p>
            <a:pPr lvl="1" algn="just"/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Step4. Evaluate and expand via Tree Search</a:t>
            </a:r>
          </a:p>
          <a:p>
            <a:pPr lvl="1" algn="just"/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Repeat until budget is used, then return the best</a:t>
            </a:r>
          </a:p>
          <a:p>
            <a:pPr marL="1257300" lvl="2" indent="-342900" algn="just">
              <a:buFont typeface="Wingdings" pitchFamily="2" charset="2"/>
              <a:buChar char="p"/>
            </a:pPr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 algn="just">
              <a:buFont typeface="Wingdings" pitchFamily="2" charset="2"/>
              <a:buChar char="ü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looping: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→ expand → score → back-prop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657350" lvl="3" indent="-285750" algn="just">
              <a:buFont typeface="Wingdings" pitchFamily="2" charset="2"/>
              <a:buChar char="ü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 algn="just">
              <a:buFont typeface="Wingdings" pitchFamily="2" charset="2"/>
              <a:buChar char="ü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at a node budget (e.g.,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nodes ≈ 7 hours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scRNA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-seq). </a:t>
            </a:r>
          </a:p>
          <a:p>
            <a:pPr marL="1657350" lvl="3" indent="-285750" algn="just">
              <a:buFont typeface="Wingdings" pitchFamily="2" charset="2"/>
              <a:buChar char="ü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 algn="just">
              <a:buFont typeface="Wingdings" pitchFamily="2" charset="2"/>
              <a:buChar char="ü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the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</a:t>
            </a:r>
            <a:r>
              <a:rPr lang="en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TaskScore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in the tree; then validate on holdouts.</a:t>
            </a:r>
          </a:p>
          <a:p>
            <a:pPr marL="1200150" lvl="2" indent="-285750" algn="just">
              <a:buFont typeface="Wingdings" pitchFamily="2" charset="2"/>
              <a:buChar char="ü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40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6985E-B1DE-C941-9FD0-02FD05035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3285CAC8-8C76-CFBD-03FC-0C7873FD4A34}"/>
              </a:ext>
            </a:extLst>
          </p:cNvPr>
          <p:cNvSpPr txBox="1"/>
          <p:nvPr/>
        </p:nvSpPr>
        <p:spPr>
          <a:xfrm>
            <a:off x="0" y="40005"/>
            <a:ext cx="1224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LLM+Tree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Search System: Core Method</a:t>
            </a:r>
            <a:endParaRPr lang="en-US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46772B-E835-026F-4573-CE57C2BAACB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669503-3913-515B-27E6-9FA6F687426B}"/>
              </a:ext>
            </a:extLst>
          </p:cNvPr>
          <p:cNvSpPr txBox="1"/>
          <p:nvPr/>
        </p:nvSpPr>
        <p:spPr>
          <a:xfrm>
            <a:off x="78105" y="6493509"/>
            <a:ext cx="1181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Aygün, </a:t>
            </a:r>
            <a:r>
              <a:rPr lang="en" altLang="zh-CN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Eser</a:t>
            </a:r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 al. "An AI system to help scientists write expert-level empirical software." </a:t>
            </a:r>
            <a:r>
              <a:rPr lang="en" altLang="zh-CN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arXiv:2509.06503 (2025).</a:t>
            </a:r>
            <a:endParaRPr lang="zh-CN" alt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53AA5B-A375-45B8-DCE3-2CC7FBFED12F}"/>
              </a:ext>
            </a:extLst>
          </p:cNvPr>
          <p:cNvSpPr txBox="1"/>
          <p:nvPr/>
        </p:nvSpPr>
        <p:spPr>
          <a:xfrm>
            <a:off x="135305" y="763604"/>
            <a:ext cx="5671938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kumimoji="1" lang="en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scRNA</a:t>
            </a: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-seq batch integration</a:t>
            </a:r>
          </a:p>
          <a:p>
            <a:pPr lvl="1" algn="just"/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Step5. Example outcome — </a:t>
            </a:r>
            <a:r>
              <a:rPr kumimoji="1" lang="en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scRNA</a:t>
            </a: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-seq Batch Integration</a:t>
            </a: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rediscovered and then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on BBKNN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leading human-made method.</a:t>
            </a: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BBKNN + </a:t>
            </a:r>
            <a:r>
              <a:rPr lang="en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ComBat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remove global and local batch effects, an idea 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explicitly described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any single paper.</a:t>
            </a: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confirmed that the code was scientifically valid and novel.</a:t>
            </a: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benchmarks, it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outperformed all 15 published methods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13 metrics across 6 datasets</a:t>
            </a:r>
          </a:p>
          <a:p>
            <a:pPr marL="1257300" lvl="2" indent="-342900" algn="just">
              <a:buFont typeface="Wingdings" pitchFamily="2" charset="2"/>
              <a:buChar char="p"/>
            </a:pPr>
            <a:endParaRPr kumimoji="1" lang="en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buFont typeface="Wingdings" pitchFamily="2" charset="2"/>
              <a:buChar char="ü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2CDF9F-E579-457F-8A00-F925DDCFD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243" y="936258"/>
            <a:ext cx="6384757" cy="528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7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0D339-8C03-EE4E-E93E-56AA732BF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17D4B424-9346-7BCB-E863-340BDD6808A4}"/>
              </a:ext>
            </a:extLst>
          </p:cNvPr>
          <p:cNvSpPr txBox="1"/>
          <p:nvPr/>
        </p:nvSpPr>
        <p:spPr>
          <a:xfrm>
            <a:off x="0" y="40005"/>
            <a:ext cx="1224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3. Design Our Own Model</a:t>
            </a:r>
            <a:endParaRPr lang="en-US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DC8324-84D1-4D7B-B4AD-12B8B1B3B61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E147D6-7C58-3142-0C19-FA201C1D4236}"/>
              </a:ext>
            </a:extLst>
          </p:cNvPr>
          <p:cNvSpPr txBox="1"/>
          <p:nvPr/>
        </p:nvSpPr>
        <p:spPr>
          <a:xfrm>
            <a:off x="89210" y="686335"/>
            <a:ext cx="12102789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Extending Capabilities: ML Model Building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Biomedical Agent (</a:t>
            </a:r>
            <a:r>
              <a:rPr lang="en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Biomni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focused on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reasoning,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 existing software packages, Python functions, and datasets for RAG.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Lacks ability to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generate and train ML / neural network models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user tasks.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enable the system to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build, train, optimize, and validate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 models for given datasets.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Plan:</a:t>
            </a:r>
          </a:p>
          <a:p>
            <a:pPr marL="1200150" lvl="2" indent="-28575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biomedical benchmarks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common datasets).</a:t>
            </a:r>
          </a:p>
          <a:p>
            <a:pPr marL="1200150" lvl="2" indent="-28575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agent’s ability to build models that reach or surpass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SOTA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performance.</a:t>
            </a:r>
          </a:p>
          <a:p>
            <a:pPr marL="1200150" lvl="2" indent="-28575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new research on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LLM-based code generation for ML.</a:t>
            </a:r>
          </a:p>
          <a:p>
            <a:pPr marL="1200150" lvl="2" indent="-285750" algn="just">
              <a:buFont typeface="Wingdings" pitchFamily="2" charset="2"/>
              <a:buChar char="p"/>
            </a:pPr>
            <a:endParaRPr lang="en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Organizing Agent Memory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structured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storage and compression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extracting key information and managing long-term memory efficiently.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Multi-Source Integration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multiple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sources, tools, or LLMs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involved:</a:t>
            </a:r>
          </a:p>
          <a:p>
            <a:pPr marL="1200150" lvl="2" indent="-28575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methods to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confidence / uncertainty scores.</a:t>
            </a: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results from multiple sources reliably.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218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20D2C-DEB3-63E1-93D1-FE5B2C2E0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26FA3808-2554-F6A8-275B-09748F953761}"/>
              </a:ext>
            </a:extLst>
          </p:cNvPr>
          <p:cNvSpPr txBox="1"/>
          <p:nvPr/>
        </p:nvSpPr>
        <p:spPr>
          <a:xfrm>
            <a:off x="0" y="40005"/>
            <a:ext cx="1224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3. Design Our Own Model</a:t>
            </a:r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: Biomedical Benchmarks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134D33-AFC0-6B72-A883-F3BAB8D3C2B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E8FF19-1B4D-9D7B-D621-CF8D8FE246EE}"/>
              </a:ext>
            </a:extLst>
          </p:cNvPr>
          <p:cNvSpPr txBox="1"/>
          <p:nvPr/>
        </p:nvSpPr>
        <p:spPr>
          <a:xfrm>
            <a:off x="89211" y="619429"/>
            <a:ext cx="11864896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Benchmarks of Molecule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Molecular Property Prediction</a:t>
            </a:r>
          </a:p>
          <a:p>
            <a:pPr marL="1200150" lvl="2" indent="-285750">
              <a:buFont typeface="Wingdings" pitchFamily="2" charset="2"/>
              <a:buChar char="p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MoleculeNet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3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Website: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https://moleculenet.org/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lvl="3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https://github.com/deepchem/deepchem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Geom3D</a:t>
            </a:r>
          </a:p>
          <a:p>
            <a:pPr lvl="3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https://github.com/chao1224/Geom3D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Molecular Generation Benchmark</a:t>
            </a:r>
          </a:p>
          <a:p>
            <a:pPr marL="1200150" lvl="2" indent="-285750">
              <a:buFont typeface="Wingdings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CBGBench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Benchmark of Structure-based Drug Design (SBDD) .</a:t>
            </a:r>
          </a:p>
          <a:p>
            <a:pPr lvl="3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https://github.com/EDAPINENUT/CBGBench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Benchmarks of Protein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 Property Prediction and Targeting Fitness Prediction</a:t>
            </a:r>
          </a:p>
          <a:p>
            <a:pPr marL="1200150" lvl="2" indent="-285750">
              <a:buFont typeface="Wingdings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TAPE</a:t>
            </a:r>
          </a:p>
          <a:p>
            <a:pPr lvl="3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https://github.com/songlab-cal/tape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Geom3D:</a:t>
            </a:r>
          </a:p>
          <a:p>
            <a:pPr lvl="3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https://github.com/chao1224/Geom3D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 Foundation Model Benchmark</a:t>
            </a:r>
          </a:p>
          <a:p>
            <a:pPr marL="1200150" lvl="2" indent="-285750">
              <a:buFont typeface="Wingdings" pitchFamily="2" charset="2"/>
              <a:buChar char="p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PFMBencn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https://github.com/biomap-research/PFMBench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936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222FC-4AD2-4437-92DB-49437EC4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3C7DE4F5-ED2E-1FF0-DE87-CF1BDCDCF14B}"/>
              </a:ext>
            </a:extLst>
          </p:cNvPr>
          <p:cNvSpPr txBox="1"/>
          <p:nvPr/>
        </p:nvSpPr>
        <p:spPr>
          <a:xfrm>
            <a:off x="0" y="40005"/>
            <a:ext cx="1224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3. Design Our Own Model</a:t>
            </a:r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: Biomedical Benchmarks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BBE19A-9962-0BCC-1E76-F796BD1C60C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B16BDD-0BBD-6104-3BAC-ED100EB3D8AD}"/>
              </a:ext>
            </a:extLst>
          </p:cNvPr>
          <p:cNvSpPr txBox="1"/>
          <p:nvPr/>
        </p:nvSpPr>
        <p:spPr>
          <a:xfrm>
            <a:off x="89211" y="619429"/>
            <a:ext cx="118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Structure-based Drug Design (SBDD) </a:t>
            </a:r>
          </a:p>
        </p:txBody>
      </p:sp>
      <p:pic>
        <p:nvPicPr>
          <p:cNvPr id="2" name="Picture 3" descr="A diagram of a molecule&#10;&#10;AI-generated content may be incorrect.">
            <a:extLst>
              <a:ext uri="{FF2B5EF4-FFF2-40B4-BE49-F238E27FC236}">
                <a16:creationId xmlns:a16="http://schemas.microsoft.com/office/drawing/2014/main" id="{81BAE7A8-FA69-78E2-8C26-8BAAA03C9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706" y="1265760"/>
            <a:ext cx="10283905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2861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5548</TotalTime>
  <Words>2142</Words>
  <Application>Microsoft Macintosh PowerPoint</Application>
  <PresentationFormat>宽屏</PresentationFormat>
  <Paragraphs>261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等线</vt:lpstr>
      <vt:lpstr>等线 Light</vt:lpstr>
      <vt:lpstr>Inter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Duzhen Zhang</dc:creator>
  <cp:lastModifiedBy>Duzhen Zhang</cp:lastModifiedBy>
  <cp:revision>1386</cp:revision>
  <dcterms:created xsi:type="dcterms:W3CDTF">2025-09-08T06:01:48Z</dcterms:created>
  <dcterms:modified xsi:type="dcterms:W3CDTF">2025-11-27T10:24:00Z</dcterms:modified>
</cp:coreProperties>
</file>