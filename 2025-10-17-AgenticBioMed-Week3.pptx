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214" r:id="rId4"/>
    <p:sldId id="2215" r:id="rId5"/>
    <p:sldId id="2216" r:id="rId6"/>
    <p:sldId id="2217" r:id="rId7"/>
    <p:sldId id="2218" r:id="rId8"/>
    <p:sldId id="2219" r:id="rId9"/>
    <p:sldId id="2220" r:id="rId10"/>
    <p:sldId id="2221" r:id="rId11"/>
    <p:sldId id="2222" r:id="rId12"/>
    <p:sldId id="2223" r:id="rId13"/>
    <p:sldId id="2224" r:id="rId14"/>
    <p:sldId id="2225" r:id="rId15"/>
    <p:sldId id="222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56308"/>
  </p:normalViewPr>
  <p:slideViewPr>
    <p:cSldViewPr snapToGrid="0">
      <p:cViewPr varScale="1">
        <p:scale>
          <a:sx n="60" d="100"/>
          <a:sy n="60" d="100"/>
        </p:scale>
        <p:origin x="2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03E8A-EF42-6F4E-AF9F-CE7A27B63D4E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E8C99-175B-F54C-833A-B3ED9FCD49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73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" altLang="zh-CN" b="0" i="0" dirty="0"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3785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7339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B89E-2158-37C8-80E6-BF447832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AF1D1F-29E2-E4A4-E5DC-8260BB7CC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8924FB-59C1-95FC-A77C-8D4770712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BD368-5602-453A-DC25-119942560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185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3AB7-1452-DCA0-C8E9-255A0F78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53601C-E324-F490-6415-ADB61A082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58FD69-BAC0-A37D-2842-AF2866FAB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DC69CF-2979-B144-F7A6-8587FBC1B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86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1687A-E018-87C5-F34C-F9601788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892263-C76E-4577-2709-743901A5A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92851F-B600-DFE5-9D5E-2D1815F3F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AB7DC-43FB-C0B4-5223-8B3EFC49F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235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F002-5467-565B-A5E4-BBE51350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D90776-716C-415F-1B57-150568075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CF362E-6AB8-335E-A598-80815734D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4A6A1C-D9B6-6692-8126-1B4716AA2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409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8C14-998D-6902-38DB-452B43ED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5B30AB-82D4-D423-C09E-45E3F1C19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062DC3-A235-6203-A7E6-1713F43B2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D558A1-0250-09AD-D343-289DB31D1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652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B96D-49DE-95B7-A29C-6ACF444B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BC0156-6ECD-B8DF-34C4-D3360175E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DF4F96-6397-E819-53E9-43FD64AED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C6565B-864D-D170-8DD4-BF1DDB63C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393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C45C-8BB5-7771-0DFE-9A397EC4E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CB564C-DAD6-EA48-8EB7-B70384FA6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C806D0-3EC3-94D2-8445-0BC7E402B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636869-EA91-196B-F582-1A1080457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954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A1D0-D2DC-07C7-A39E-87107282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5AA05F-E33C-A7E6-CBAB-0ECC049ED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9C5A65-DDC9-A434-06B8-F793C08EA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07C8DA-0F0B-48CE-693D-6C4C17E77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130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EBFF-83EE-415F-5517-8D438B1D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4D6B76-77D3-81A8-1B8E-0C1CA40B6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70F759-8186-B122-7851-E91F99A23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00EBCD-3A36-5135-1462-1DE2FDE09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16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B6894-600A-8F17-734A-C4C63ABE2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0409DA-EA0E-A3C0-32E2-BDDD28ABC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5438B7-F634-861E-26F6-EF7A60B6E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0751F-A8E2-C754-7666-C3893115B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231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24B5-4480-739D-EE79-DB755B921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06478C-8D96-179E-9C5E-5667E780C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272EB9-41CF-FC6B-D0AA-63C5702F6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13F9C4-4543-AF0A-B96B-193F811D1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319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22137-7011-20D7-F626-2C952247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9F7758-0FC8-FCDB-F870-1B7DD328E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EAD7F3-B5F8-95FC-D0D2-7CE6C0662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F0B283-1555-6300-92A3-14737C903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345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D0B1E-8E99-5A80-473B-8E1AD1E08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9B160F-0876-1180-B584-21ACD4DF1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04679C-3200-2427-BB49-EE7285844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D77E67-BA6B-C79A-C428-1FA6B25BC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67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7B75A-3EE6-FD3E-6CED-406E6C29F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FD7B9-84C3-98DC-1966-3E5C403B3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43F5E3-EAF2-9B8F-8F30-2CCF94D2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274006-D219-AB18-A772-A2129426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F9D53-97F1-AE4D-8C7E-92D0E57A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925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0392-24EF-6984-3607-3F6D3382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D53E9-307F-771B-4435-4BAC30341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63CE43-4999-21F5-ED4E-F6269536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44595-90FE-DD88-4BF6-77438D0E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8C4637-E456-EE1E-C72F-AFE7DDD7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468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5A762-8CEB-9FB4-5187-7448FDD5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191BB4-29AA-C687-F0DF-E05591810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808A33-15F9-4F54-B042-FFCE796A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554D9-4C3C-0628-C9DE-FD726E55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032BB-6E38-DFFB-07CC-8005447C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10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545FC-22C9-D93C-2A3A-4195B7D3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808EC-C8DF-D321-A528-B63A6C55B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CA073-0043-6112-5AD0-CE8C2E428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A29BA8-1BB3-9110-7A3D-541C0109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5AA313-E8A8-6112-FC1D-9E5D321E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AC8B8-193A-8F05-A521-55667643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68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20243-F6C3-EF3C-CDD5-397088D7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421EF-1016-1DEF-5CC3-04935229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72088-7D2F-FE3E-BF5E-454535362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F4E7C3-937D-CF08-6FB0-15F2F576D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E599D9-864C-F317-F245-4D34D9633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E4885F-26E0-4383-4A10-E67A68CD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CDE755-C81E-6ECF-E6BA-F18DE01A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53416C-77C7-3A33-CC8F-078F271D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822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50130-58D8-B972-1143-174853E5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875F1E-F9F1-636A-0FB7-CB27FC53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D1630F-2BA8-401F-75FE-929120AC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65356E-1D25-F144-6612-BD353A48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745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7C3782-FC69-CB48-0157-96C4620C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465A53-D2F4-3AAC-EA10-9BF84402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C35903-BFA4-26CB-33AE-0D40347B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5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BF94C-06B2-C0DA-2778-2C368956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8194E6-6F88-6FA5-818B-CC62FE928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3936FD-7689-2F18-0917-E0FE3CBED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623E5D-DE7B-2627-804A-8F88E198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9E7A64-7C1B-3993-3D46-0F7CFC59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C2768-2188-3C64-2F93-D4534DFC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606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28CED-2C6C-62B1-09C3-740A04BF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E89661-96A9-B903-389D-5B77EC1CB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AFB80C-9703-7608-121D-3D07C5910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12C321-8CC7-2578-CD19-6D71E1DA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FA61B3-2F11-5323-805D-8CAEDE8D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7E65BA-1C26-887A-35EE-4BCD7105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68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1F615-D931-5119-845F-DEA56FDE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E9B39B-036D-C622-A492-7529DA04B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4DE474-4A9F-6325-55E1-548E9DEB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DDD73-ACBB-1566-2556-BD7F3BEB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8DD92-6FE9-1A8A-0168-30928A2E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500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D8C8CB-1A4C-9248-2199-1A404CF48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455DF5-6CAA-3970-2640-33C61545C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FBD1E-1568-DC56-428E-6AF0543E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C54D2-0A11-0210-BCF3-81F27990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F8D00-396D-5A04-392A-6A0973F0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524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965E69-0304-0777-D418-ABF7342E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AF746A-7CA4-9A62-6EAF-A5ABA6BD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03211-20DC-245B-E685-198BAFCC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713B3-0345-AC44-882D-7B13CECCCA0F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3A07C-1A2C-038C-7F72-9735A37AA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B1138-A014-AE75-E35E-B1893C0F2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471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3FDCF5-A392-3E73-2C9F-CD3B4F03F399}"/>
              </a:ext>
            </a:extLst>
          </p:cNvPr>
          <p:cNvSpPr txBox="1"/>
          <p:nvPr/>
        </p:nvSpPr>
        <p:spPr>
          <a:xfrm>
            <a:off x="2195593" y="2402938"/>
            <a:ext cx="9096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3600" b="1" dirty="0">
                <a:latin typeface="Times New Roman" panose="02020603050405020304" charset="0"/>
                <a:cs typeface="Times New Roman" panose="02020603050405020304" charset="0"/>
              </a:rPr>
              <a:t>AI Agents for Scientific Discovery</a:t>
            </a:r>
          </a:p>
          <a:p>
            <a:pPr algn="ctr"/>
            <a:r>
              <a:rPr lang="en" altLang="zh-CN" sz="2800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--- The Code Structure of </a:t>
            </a:r>
            <a:r>
              <a:rPr lang="en" altLang="zh-CN" sz="2800" dirty="0" err="1">
                <a:latin typeface="Times New Roman" panose="02020603050405020304" charset="0"/>
                <a:cs typeface="Times New Roman" panose="02020603050405020304" charset="0"/>
              </a:rPr>
              <a:t>Biomni</a:t>
            </a:r>
            <a:endParaRPr lang="en" altLang="zh-C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F90FCD-CBF2-8C8F-C751-63C45FC543BC}"/>
              </a:ext>
            </a:extLst>
          </p:cNvPr>
          <p:cNvSpPr txBox="1"/>
          <p:nvPr/>
        </p:nvSpPr>
        <p:spPr>
          <a:xfrm>
            <a:off x="4073067" y="4611700"/>
            <a:ext cx="5283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" altLang="zh-CN" sz="2400" dirty="0" err="1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Xingbo</a:t>
            </a:r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Harry, </a:t>
            </a:r>
            <a:r>
              <a:rPr lang="en" altLang="zh-CN" sz="2400" dirty="0" err="1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Duzhen</a:t>
            </a:r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October 17, 2025</a:t>
            </a:r>
            <a:endParaRPr lang="en-US" altLang="zh-CN" sz="2400" dirty="0">
              <a:solidFill>
                <a:srgbClr val="3230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4A72E7-266D-9954-0E85-CA1ED5F9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2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B68E-0BF3-6FB4-FBAA-AF16ADAA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1C441-5357-AC3F-0EBD-1BDA64D5FC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47562" y="2308225"/>
            <a:ext cx="265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Catalog</a:t>
            </a:r>
            <a:endParaRPr lang="zh-CN" sz="5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37443E-DCF7-38BA-159B-18782BC2AEF1}"/>
              </a:ext>
            </a:extLst>
          </p:cNvPr>
          <p:cNvGrpSpPr/>
          <p:nvPr/>
        </p:nvGrpSpPr>
        <p:grpSpPr>
          <a:xfrm>
            <a:off x="4823202" y="732787"/>
            <a:ext cx="6965315" cy="5384800"/>
            <a:chOff x="8580" y="1930"/>
            <a:chExt cx="8612" cy="848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FA8EF1C-35A5-7196-2411-8AD2EA149F64}"/>
                </a:ext>
              </a:extLst>
            </p:cNvPr>
            <p:cNvSpPr/>
            <p:nvPr/>
          </p:nvSpPr>
          <p:spPr>
            <a:xfrm>
              <a:off x="8580" y="1930"/>
              <a:ext cx="8612" cy="8480"/>
            </a:xfrm>
            <a:prstGeom prst="rect">
              <a:avLst/>
            </a:prstGeom>
            <a:solidFill>
              <a:srgbClr val="2A6BB2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20DCC81-7B23-ECF2-816E-D574B6E64521}"/>
                </a:ext>
              </a:extLst>
            </p:cNvPr>
            <p:cNvSpPr txBox="1"/>
            <p:nvPr/>
          </p:nvSpPr>
          <p:spPr>
            <a:xfrm>
              <a:off x="9791" y="2113"/>
              <a:ext cx="6190" cy="7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lnSpc>
                  <a:spcPct val="200000"/>
                </a:lnSpc>
                <a:buAutoNum type="arabicPeriod"/>
              </a:pP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Introduction</a:t>
              </a:r>
            </a:p>
            <a:p>
              <a:pPr marL="514350" indent="-514350">
                <a:lnSpc>
                  <a:spcPct val="200000"/>
                </a:lnSpc>
                <a:buFontTx/>
                <a:buAutoNum type="arabicPeriod"/>
              </a:pPr>
              <a:r>
                <a:rPr lang="en" altLang="zh-CN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System Architecture</a:t>
              </a:r>
            </a:p>
            <a:p>
              <a:pPr lvl="1">
                <a:lnSpc>
                  <a:spcPct val="150000"/>
                </a:lnSpc>
              </a:pPr>
              <a:r>
                <a:rPr lang="en" altLang="zh-CN" sz="24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Configuration System</a:t>
              </a:r>
            </a:p>
            <a:p>
              <a:pPr lvl="1">
                <a:lnSpc>
                  <a:spcPct val="150000"/>
                </a:lnSpc>
              </a:pPr>
              <a:r>
                <a:rPr lang="en" altLang="zh-CN" sz="24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Data Infrastructure</a:t>
              </a:r>
            </a:p>
            <a:p>
              <a:pPr lvl="1">
                <a:lnSpc>
                  <a:spcPct val="150000"/>
                </a:lnSpc>
              </a:pPr>
              <a:r>
                <a:rPr lang="en" altLang="zh-CN" sz="24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LLM Integration Layer</a:t>
              </a:r>
            </a:p>
            <a:p>
              <a:pPr lvl="1">
                <a:lnSpc>
                  <a:spcPct val="150000"/>
                </a:lnSpc>
              </a:pPr>
              <a:r>
                <a:rPr lang="en" altLang="zh-CN" sz="24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Agent Layer</a:t>
              </a:r>
            </a:p>
            <a:p>
              <a:pPr lvl="1">
                <a:lnSpc>
                  <a:spcPct val="150000"/>
                </a:lnSpc>
              </a:pPr>
              <a:r>
                <a:rPr lang="en" altLang="zh-CN" sz="24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Tool Ecosystem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B48A23A-082E-E12D-B659-992DD406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6F60-6180-D6A0-39B7-FE77100C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BD928D9-B047-9619-2622-25E174697DE6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Introduction</a:t>
            </a:r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74016F-E699-0A8B-092A-758A450C24D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B9A23D-A311-7E8D-F6E5-687045C589CA}"/>
              </a:ext>
            </a:extLst>
          </p:cNvPr>
          <p:cNvSpPr txBox="1"/>
          <p:nvPr/>
        </p:nvSpPr>
        <p:spPr>
          <a:xfrm>
            <a:off x="78105" y="1034039"/>
            <a:ext cx="120357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to Code Execution</a:t>
            </a:r>
          </a:p>
          <a:p>
            <a:pPr marL="742950" lvl="1" indent="-285750">
              <a:buFont typeface="Wingdings" pitchFamily="2" charset="2"/>
              <a:buChar char="Ø"/>
            </a:pPr>
            <a:endParaRPr kumimoji="1"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 agent system that </a:t>
            </a: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natural language research questions into executable code</a:t>
            </a:r>
            <a:r>
              <a:rPr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features:</a:t>
            </a:r>
          </a:p>
          <a:p>
            <a:pPr lvl="1"/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E6B3BE-E2D2-83FA-DEAF-9CF909EA6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463" y="2801484"/>
            <a:ext cx="9561071" cy="371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2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042F6-B2B8-6AD6-3DE6-0DA451F83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5F7411A2-9153-DEE7-AC60-13FCC652EA37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Introduction</a:t>
            </a:r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15B377-2391-516D-1BC4-0AD314E7F34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4DB4D5-601F-5BDF-D3C5-B6BAF839733E}"/>
              </a:ext>
            </a:extLst>
          </p:cNvPr>
          <p:cNvSpPr txBox="1"/>
          <p:nvPr/>
        </p:nvSpPr>
        <p:spPr>
          <a:xfrm>
            <a:off x="156211" y="4327060"/>
            <a:ext cx="120357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High-Level System Flow</a:t>
            </a:r>
          </a:p>
          <a:p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endParaRPr kumimoji="1"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7C16D-F68A-B5FF-EAA6-24DC97A41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699" y="1494208"/>
            <a:ext cx="7869865" cy="281231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2DFE6E6-6DCF-0803-1446-43A211FF330F}"/>
              </a:ext>
            </a:extLst>
          </p:cNvPr>
          <p:cNvSpPr txBox="1"/>
          <p:nvPr/>
        </p:nvSpPr>
        <p:spPr>
          <a:xfrm>
            <a:off x="230505" y="973789"/>
            <a:ext cx="12035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Entry</a:t>
            </a:r>
          </a:p>
          <a:p>
            <a:pPr marL="742950" lvl="1" indent="-285750">
              <a:buFont typeface="Wingdings" pitchFamily="2" charset="2"/>
              <a:buChar char="Ø"/>
            </a:pPr>
            <a:endParaRPr kumimoji="1"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6EE9C71-535F-09BD-20AD-BBAA655189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D6974A2-1F09-DB11-240F-9403971CF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73" y="4885633"/>
            <a:ext cx="11311253" cy="176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8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7AA6-B060-5896-4B45-8F30A775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B5802071-FB70-F443-E331-5A7FAEAA21E1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05F4B3-F0AF-2406-7DE0-75ED7272F54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5D8C9B88-5DD8-B703-00AC-BB09734FCC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ECD127-8696-E15F-CD55-D0DD4203C95F}"/>
              </a:ext>
            </a:extLst>
          </p:cNvPr>
          <p:cNvSpPr txBox="1"/>
          <p:nvPr/>
        </p:nvSpPr>
        <p:spPr>
          <a:xfrm>
            <a:off x="78106" y="989452"/>
            <a:ext cx="1211389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consists of five major layers: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System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Infrastructure, LLM Integration Layer, the Agent Layer  and Tool Ecosystem.</a:t>
            </a:r>
            <a:endParaRPr lang="e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System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settings for LLM providers, execution parameters, and resource paths throughout the platform. </a:t>
            </a:r>
          </a:p>
          <a:p>
            <a:pPr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Infrastructure</a:t>
            </a:r>
            <a:endParaRPr lang="e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access to 75+ curated biomedical datasets (~11GB total), 100+ software tool catalogs, and API schema databases. </a:t>
            </a:r>
          </a:p>
          <a:p>
            <a:pPr algn="just"/>
            <a:endParaRPr lang="en" altLang="zh-CN" sz="2000" dirty="0"/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 Layer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single abstraction for interacting with multiple language model providers. 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Layer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AI agent core, Tool Registry and Retrieval.</a:t>
            </a: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Ecosystem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covers database query capabilities, genomics analysis tools, pharmacology functions, cancer biology workflows, and systems biology modeling tools. </a:t>
            </a:r>
          </a:p>
        </p:txBody>
      </p:sp>
    </p:spTree>
    <p:extLst>
      <p:ext uri="{BB962C8B-B14F-4D97-AF65-F5344CB8AC3E}">
        <p14:creationId xmlns:p14="http://schemas.microsoft.com/office/powerpoint/2010/main" val="415681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E7B9-5F1F-65C6-97F6-AFBB42FC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4AF2F36C-68F2-4724-8813-31E9CDEF7200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 Configuration System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AA9D5A-2BA5-1A88-762F-C1826E7E693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22AAFB1-BDAB-825E-54D7-281C4C1C53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32A74-646E-3518-64A2-FA08FB779553}"/>
              </a:ext>
            </a:extLst>
          </p:cNvPr>
          <p:cNvSpPr txBox="1"/>
          <p:nvPr/>
        </p:nvSpPr>
        <p:spPr>
          <a:xfrm>
            <a:off x="148855" y="854568"/>
            <a:ext cx="118659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Configuration System in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settings for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providers, execution parameters, and resource paths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throughout the platform.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Parameters (Use with Caution)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parameters passed to A1() constructor or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get_llm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provide instance-specific overrides. Important: These only affect the specific agent instance, not database queries.</a:t>
            </a:r>
          </a:p>
          <a:p>
            <a:pPr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6FF850-C979-D957-B60E-73621395B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771" y="2542561"/>
            <a:ext cx="7531100" cy="14859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D00EA41-7F39-7E08-AEF3-DF912FABB893}"/>
              </a:ext>
            </a:extLst>
          </p:cNvPr>
          <p:cNvSpPr txBox="1"/>
          <p:nvPr/>
        </p:nvSpPr>
        <p:spPr>
          <a:xfrm>
            <a:off x="148855" y="4002725"/>
            <a:ext cx="116107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Configuration (Recommended for Scripts)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default_config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singleton provides runtime configuration modification. Changes to this object affect all subsequent operations, including both agent reasoning and database queries.</a:t>
            </a:r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882209-61D0-7F41-D452-C6A92F03A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208" y="5003269"/>
            <a:ext cx="4544090" cy="185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1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556D3-A94D-205B-C733-7CB7E69B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4945B9C8-2AEF-7E96-EC15-E2327DC62973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 Configuration System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339C76-5E40-7522-77A4-268B51E15D7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D9601D0-8F59-B57B-139E-64404E53D2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808F8A-F072-9410-B4CA-4877B38034EA}"/>
              </a:ext>
            </a:extLst>
          </p:cNvPr>
          <p:cNvSpPr txBox="1"/>
          <p:nvPr/>
        </p:nvSpPr>
        <p:spPr>
          <a:xfrm>
            <a:off x="148855" y="854568"/>
            <a:ext cx="11865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Configuration System in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settings for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providers, execution parameters, and resource paths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throughout the platform.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1BCA0FB-5768-FD8F-B2AF-F82960F55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20" y="4152929"/>
            <a:ext cx="5277494" cy="21964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562A000-3D6D-69A4-D69C-EB062E5612A0}"/>
              </a:ext>
            </a:extLst>
          </p:cNvPr>
          <p:cNvSpPr txBox="1"/>
          <p:nvPr/>
        </p:nvSpPr>
        <p:spPr>
          <a:xfrm>
            <a:off x="148855" y="1606864"/>
            <a:ext cx="525248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Variables (Recommended for Production)</a:t>
            </a:r>
          </a:p>
          <a:p>
            <a:pPr lvl="1" algn="just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.env file in your project. The .env file provides project-specific configuration that is automatically loaded when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initializes. This is the recommended method for managing API keys and project settings.</a:t>
            </a:r>
          </a:p>
          <a:p>
            <a:pPr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E2F3C7-406C-E2F2-6408-A112AA79D185}"/>
              </a:ext>
            </a:extLst>
          </p:cNvPr>
          <p:cNvSpPr txBox="1"/>
          <p:nvPr/>
        </p:nvSpPr>
        <p:spPr>
          <a:xfrm>
            <a:off x="5621079" y="1606864"/>
            <a:ext cx="6358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Priority Table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get_llm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implements a four-tier parameter resolution system with automatic provider detection.</a:t>
            </a:r>
          </a:p>
          <a:p>
            <a:pPr marL="285750" indent="-285750">
              <a:buFont typeface="Wingdings" pitchFamily="2" charset="2"/>
              <a:buChar char="Ø"/>
            </a:pP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C6A2E8-C047-5026-F8D1-FCBB99A8F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120" y="2974712"/>
            <a:ext cx="6416880" cy="282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5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DE71-BFD7-3B8F-BB0C-82FC5969C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D56B4479-315E-DA9D-F136-68B88CC9001D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 Configuration System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C603AB-C084-02D8-B2EB-D52A53CAE2C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1390B739-10E5-812D-AD6E-F59F8008FA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397D89-8F23-B840-3148-BD211619901E}"/>
              </a:ext>
            </a:extLst>
          </p:cNvPr>
          <p:cNvSpPr txBox="1"/>
          <p:nvPr/>
        </p:nvSpPr>
        <p:spPr>
          <a:xfrm>
            <a:off x="78105" y="935113"/>
            <a:ext cx="1211389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Configuration Parameters</a:t>
            </a:r>
          </a:p>
          <a:p>
            <a:pPr algn="just"/>
            <a:endParaRPr lang="en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str 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 "./data”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Root directory for the data lake. Automatically created if it doesn't exist.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llm_model</a:t>
            </a: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" altLang="zh-C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en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str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 "claude-sonnet-4-20250514"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Model identifier. Can be provider-prefixed (e.g., "azure-gpt-4o") or use convention-based detection (e.g., "gpt-4" auto-detects OpenAI).</a:t>
            </a:r>
          </a:p>
          <a:p>
            <a:pPr lvl="2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use_tool_retriever</a:t>
            </a:r>
            <a:endParaRPr lang="en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bool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 true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Enable prompt-based tool retrieval to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relevant tools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100+ available tools based on the user query.</a:t>
            </a:r>
          </a:p>
        </p:txBody>
      </p:sp>
    </p:spTree>
    <p:extLst>
      <p:ext uri="{BB962C8B-B14F-4D97-AF65-F5344CB8AC3E}">
        <p14:creationId xmlns:p14="http://schemas.microsoft.com/office/powerpoint/2010/main" val="341701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318B5-7D5A-AF1D-8E96-3481F813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F8FA6E1B-FD28-BBA1-B7F2-473B9B2309BA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Data Infrastructure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50035B-7773-89DB-D57A-269615021C6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B720D125-577A-517A-0FF7-B92E206D43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4078D8-D930-A371-F8B8-FF0695346E9F}"/>
              </a:ext>
            </a:extLst>
          </p:cNvPr>
          <p:cNvSpPr txBox="1"/>
          <p:nvPr/>
        </p:nvSpPr>
        <p:spPr>
          <a:xfrm>
            <a:off x="233917" y="978196"/>
            <a:ext cx="42955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Biomni's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infrastructure layer manages access to 75+ curated biomedical datasets (~11GB total), 100+ software tool catalogs, and API schema databases. 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infrastructure serves as the foundation for database query tools, genomics analysis, and bioimaging functions, providing standardized metadata and access patterns for all data resources.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lake contains approximately 75 datasets organized by scientific domain (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automatically at the </a:t>
            </a:r>
            <a:r>
              <a:rPr lang="en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frist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run)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itchFamily="2" charset="2"/>
              <a:buChar char="Ø"/>
            </a:pP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4204F-C83B-2214-86B7-9187443A9E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F020C9-70B7-8092-67E3-F598C6122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869" y="821389"/>
            <a:ext cx="7276214" cy="602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91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BD87-9F08-8034-C9E1-FB1CDF484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C7F72C01-2CFF-BE76-50F0-4BA270C31E0F}"/>
              </a:ext>
            </a:extLst>
          </p:cNvPr>
          <p:cNvSpPr txBox="1"/>
          <p:nvPr/>
        </p:nvSpPr>
        <p:spPr>
          <a:xfrm>
            <a:off x="78105" y="196323"/>
            <a:ext cx="9666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LLM Integration Layer</a:t>
            </a: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C0BB7E-681D-4967-A190-CBDAA1120DA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45F1395D-5305-A7B6-22D5-337F23BCD1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AB4141-77D9-E150-13C7-DD94AF6493CA}"/>
              </a:ext>
            </a:extLst>
          </p:cNvPr>
          <p:cNvSpPr txBox="1"/>
          <p:nvPr/>
        </p:nvSpPr>
        <p:spPr>
          <a:xfrm>
            <a:off x="233916" y="978196"/>
            <a:ext cx="456414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Biomni's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unified LLM integration layer provides a single abstraction for interacting with multiple language model providers. 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automatic provider detection based on model names, seamless configuration management, and consistent interfaces across different LLM services.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integration layer supports eight distinct provider types through the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SourceType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literal definition. Each provider has specific instantiation logic and configuration requirements.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0ECCE0B-D8FC-9E83-1BAD-070F46892D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C2295E-4444-BBFC-1260-94A69668E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672" y="1342053"/>
            <a:ext cx="7332148" cy="450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3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6B3D-3620-BB99-8B90-B74D10427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0093C614-0295-236E-8121-A375700E26BE}"/>
              </a:ext>
            </a:extLst>
          </p:cNvPr>
          <p:cNvSpPr txBox="1"/>
          <p:nvPr/>
        </p:nvSpPr>
        <p:spPr>
          <a:xfrm>
            <a:off x="78105" y="196323"/>
            <a:ext cx="96661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Agent Layer</a:t>
            </a: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90DAA3-C4FC-E248-05C0-6181CCA12F1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2527C9B-00D3-76EE-8FEE-02948B9DB0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1C2348-8766-75A8-B476-98A4C0C60356}"/>
              </a:ext>
            </a:extLst>
          </p:cNvPr>
          <p:cNvSpPr txBox="1"/>
          <p:nvPr/>
        </p:nvSpPr>
        <p:spPr>
          <a:xfrm>
            <a:off x="233916" y="978196"/>
            <a:ext cx="4976037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Agent Core</a:t>
            </a:r>
          </a:p>
          <a:p>
            <a:pPr algn="just"/>
            <a:endParaRPr lang="en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go()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orchestrates a full agent run from a natural-language prompt to a final message, optionally performing tool retrieval before execution.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go()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(</a:t>
            </a:r>
            <a:r>
              <a:rPr lang="en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/agent/a1.py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executes the agent workflow: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56EF1BF-1A79-B4F7-6209-31E5C4E0D4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46DA82-7564-AD30-4F53-E7F46CEFE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23" y="3897559"/>
            <a:ext cx="3729132" cy="100979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A99C0E6-F984-F353-2D5E-D557B08819E4}"/>
              </a:ext>
            </a:extLst>
          </p:cNvPr>
          <p:cNvSpPr txBox="1"/>
          <p:nvPr/>
        </p:nvSpPr>
        <p:spPr>
          <a:xfrm>
            <a:off x="723014" y="5041242"/>
            <a:ext cx="44869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log: List of formatted message strings that capture the full trace (plans, tool invocations, observations).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 Final message content returned to the caller.</a:t>
            </a:r>
          </a:p>
        </p:txBody>
      </p:sp>
      <p:pic>
        <p:nvPicPr>
          <p:cNvPr id="11" name="图片 10" descr="图示&#10;&#10;描述已自动生成">
            <a:extLst>
              <a:ext uri="{FF2B5EF4-FFF2-40B4-BE49-F238E27FC236}">
                <a16:creationId xmlns:a16="http://schemas.microsoft.com/office/drawing/2014/main" id="{2F00E43E-AFF6-0F8B-3AB8-A37EC3CB5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700" y="61068"/>
            <a:ext cx="4944317" cy="679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7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FE6D-ACEC-D798-0C24-5FC2119E6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7CDC6001-F2DC-B035-E0D0-3897CACC1590}"/>
              </a:ext>
            </a:extLst>
          </p:cNvPr>
          <p:cNvSpPr txBox="1"/>
          <p:nvPr/>
        </p:nvSpPr>
        <p:spPr>
          <a:xfrm>
            <a:off x="78105" y="196323"/>
            <a:ext cx="96661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Agent Layer</a:t>
            </a: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8C9F6C-E8BC-9ED0-D589-1C4F9816CF5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31D3D30D-3401-001B-E655-8B54D04961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C73107-3E25-2DA6-5449-15856BCE82E6}"/>
              </a:ext>
            </a:extLst>
          </p:cNvPr>
          <p:cNvSpPr txBox="1"/>
          <p:nvPr/>
        </p:nvSpPr>
        <p:spPr>
          <a:xfrm>
            <a:off x="233916" y="978196"/>
            <a:ext cx="1187997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Organization Structure</a:t>
            </a:r>
          </a:p>
          <a:p>
            <a:pPr lvl="1" algn="just"/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module2api </a:t>
            </a:r>
            <a:r>
              <a:rPr lang="en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module2api dictionary is the central data structure for organizing tools. It maps module names to lists of tool schemas.</a:t>
            </a: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9869A21-3242-E148-1BBF-00F80E6E0C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6DA4E2-7932-616B-C455-8D3AAB317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16" y="2056347"/>
            <a:ext cx="6134100" cy="39751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C369C79-1531-F9B1-90F3-47F6AADD2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774" y="2056347"/>
            <a:ext cx="5521710" cy="438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56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934A-CB90-0779-B513-0F9F4277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330A7A4D-CA89-B875-31DC-09B7A13FBC5B}"/>
              </a:ext>
            </a:extLst>
          </p:cNvPr>
          <p:cNvSpPr txBox="1"/>
          <p:nvPr/>
        </p:nvSpPr>
        <p:spPr>
          <a:xfrm>
            <a:off x="78105" y="196323"/>
            <a:ext cx="96661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Agent Layer</a:t>
            </a: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52AAEC-4BFB-88E4-373F-A4AEE2AACA1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CFF025F-1415-8932-4740-93E20058D5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7B0CEE-1E76-E1CE-1BFE-DAB264E69F18}"/>
              </a:ext>
            </a:extLst>
          </p:cNvPr>
          <p:cNvSpPr txBox="1"/>
          <p:nvPr/>
        </p:nvSpPr>
        <p:spPr>
          <a:xfrm>
            <a:off x="233916" y="978196"/>
            <a:ext cx="118799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Registry Flow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A1.__init__() calls read_module2api()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read_module2api() imports tool descriptions from 20 modules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use_tool_retriever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=True, creates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ToolRegistry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(module2api)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Registry builds internal data structures for efficient retrieval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zh-CN" altLang="en" sz="2000" dirty="0"/>
          </a:p>
          <a:p>
            <a:pPr marL="342900" indent="-342900" algn="just">
              <a:buFont typeface="Wingdings" pitchFamily="2" charset="2"/>
              <a:buChar char="Ø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30709D4-40D4-D370-2897-F206060E26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FBA50E-80CB-068C-62DD-CA278DE51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42" y="3298568"/>
            <a:ext cx="11951716" cy="297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4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4B6D-9835-19BF-C5B7-BC858BBA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C664C2D9-2546-57ED-935F-998997B40D9A}"/>
              </a:ext>
            </a:extLst>
          </p:cNvPr>
          <p:cNvSpPr txBox="1"/>
          <p:nvPr/>
        </p:nvSpPr>
        <p:spPr>
          <a:xfrm>
            <a:off x="78105" y="196323"/>
            <a:ext cx="96661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Agent Layer</a:t>
            </a: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AC7F3C-1695-4960-074A-03FFC691BBA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CA84460E-C433-03C4-F477-C41FC1B6BA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62A230-51F2-629B-4138-F50A6005F400}"/>
              </a:ext>
            </a:extLst>
          </p:cNvPr>
          <p:cNvSpPr txBox="1"/>
          <p:nvPr/>
        </p:nvSpPr>
        <p:spPr>
          <a:xfrm>
            <a:off x="233916" y="978196"/>
            <a:ext cx="11879979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Retrieval System</a:t>
            </a:r>
          </a:p>
          <a:p>
            <a:pPr lvl="1" algn="just"/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Prompt-Based Selection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</a:t>
            </a:r>
            <a:r>
              <a:rPr lang="en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use_tool_retriever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agent uses LLM-based retrieval to select relevant tools for each query.</a:t>
            </a:r>
          </a:p>
          <a:p>
            <a:pPr lvl="1"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registered tools (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ToolRegistry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data lake entries, and software library notes.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(all registered tools)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self.tool_registry.tools</a:t>
            </a: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Lake: File paths with descriptions from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self.data_lake_dict</a:t>
            </a: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Software names with descriptions from </a:t>
            </a:r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self.library_content_dict</a:t>
            </a: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names via 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prepare_resources_for_retrieval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(prompt)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(LLM-ranked).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zh-CN" altLang="en" sz="2000" dirty="0"/>
          </a:p>
          <a:p>
            <a:pPr marL="342900" indent="-342900" algn="just">
              <a:buFont typeface="Wingdings" pitchFamily="2" charset="2"/>
              <a:buChar char="Ø"/>
            </a:pPr>
            <a:endParaRPr lang="e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21E50F4-BFA1-7495-B89F-9EE1585FF2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43BCA5-350F-6BEF-5D3A-0E455A70E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693" y="4170751"/>
            <a:ext cx="6705600" cy="1473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8A3C22E-67CE-F4B0-8604-2BB17247ACA8}"/>
              </a:ext>
            </a:extLst>
          </p:cNvPr>
          <p:cNvSpPr txBox="1"/>
          <p:nvPr/>
        </p:nvSpPr>
        <p:spPr>
          <a:xfrm>
            <a:off x="737191" y="5807970"/>
            <a:ext cx="1137670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prompt using </a:t>
            </a:r>
            <a:r>
              <a:rPr lang="en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update_system_prompt_with_selected_resources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only the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tools/resources are advertised to the model.</a:t>
            </a:r>
          </a:p>
          <a:p>
            <a:pPr algn="just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6497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88BCE-7741-BD10-8B8A-F0ADE5056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9905DC1E-89AA-035B-D848-46552BECCAF7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System Architecture: Tool Ecosystem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5223FF-BC29-9C62-E2E7-BA942B32837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54F841B-8140-0CD2-AFDB-82E8F8F6AB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EA66BE-B7FA-5818-B3AF-4E05D4272FDF}"/>
              </a:ext>
            </a:extLst>
          </p:cNvPr>
          <p:cNvSpPr txBox="1"/>
          <p:nvPr/>
        </p:nvSpPr>
        <p:spPr>
          <a:xfrm>
            <a:off x="148856" y="1041991"/>
            <a:ext cx="1204314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Biomni's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built-in tool ecosystem covers database query capabilities, genomics analysis tools, pharmacology functions, cancer biology workflows, and systems biology modeling tools. </a:t>
            </a:r>
          </a:p>
          <a:p>
            <a:pPr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Categories and Key Functions</a:t>
            </a:r>
          </a:p>
          <a:p>
            <a:pPr algn="just"/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B16572E-68F7-24AB-7F38-29ADDDDC7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691" y="2491396"/>
            <a:ext cx="8582617" cy="37168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FFD15D0-3852-0CC7-B632-E4633D860D2F}"/>
              </a:ext>
            </a:extLst>
          </p:cNvPr>
          <p:cNvSpPr txBox="1"/>
          <p:nvPr/>
        </p:nvSpPr>
        <p:spPr>
          <a:xfrm>
            <a:off x="148856" y="6295670"/>
            <a:ext cx="10972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tools are registered in 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module2api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dictionary at </a:t>
            </a:r>
            <a:r>
              <a:rPr lang="en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biomni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utils.py</a:t>
            </a:r>
            <a:r>
              <a:rPr lang="en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organized by scientific domain.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90067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1046</Words>
  <Application>Microsoft Macintosh PowerPoint</Application>
  <PresentationFormat>宽屏</PresentationFormat>
  <Paragraphs>128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Inter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Duzhen Zhang</dc:creator>
  <cp:lastModifiedBy>Duzhen Zhang</cp:lastModifiedBy>
  <cp:revision>407</cp:revision>
  <dcterms:created xsi:type="dcterms:W3CDTF">2025-09-08T06:01:48Z</dcterms:created>
  <dcterms:modified xsi:type="dcterms:W3CDTF">2025-11-27T10:22:07Z</dcterms:modified>
</cp:coreProperties>
</file>