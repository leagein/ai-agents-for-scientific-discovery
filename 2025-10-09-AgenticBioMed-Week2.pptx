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notesSlides/notesSlide4.xml" ContentType="application/vnd.openxmlformats-officedocument.presentationml.notesSlide+xml"/>
  <Override PartName="/ppt/tags/tag4.xml" ContentType="application/vnd.openxmlformats-officedocument.presentationml.tags+xml"/>
  <Override PartName="/ppt/notesSlides/notesSlide5.xml" ContentType="application/vnd.openxmlformats-officedocument.presentationml.notesSlide+xml"/>
  <Override PartName="/ppt/tags/tag5.xml" ContentType="application/vnd.openxmlformats-officedocument.presentationml.tags+xml"/>
  <Override PartName="/ppt/notesSlides/notesSlide6.xml" ContentType="application/vnd.openxmlformats-officedocument.presentationml.notesSlide+xml"/>
  <Override PartName="/ppt/tags/tag6.xml" ContentType="application/vnd.openxmlformats-officedocument.presentationml.tags+xml"/>
  <Override PartName="/ppt/notesSlides/notesSlide7.xml" ContentType="application/vnd.openxmlformats-officedocument.presentationml.notesSlide+xml"/>
  <Override PartName="/ppt/tags/tag7.xml" ContentType="application/vnd.openxmlformats-officedocument.presentationml.tags+xml"/>
  <Override PartName="/ppt/notesSlides/notesSlide8.xml" ContentType="application/vnd.openxmlformats-officedocument.presentationml.notesSlide+xml"/>
  <Override PartName="/ppt/tags/tag8.xml" ContentType="application/vnd.openxmlformats-officedocument.presentationml.tags+xml"/>
  <Override PartName="/ppt/notesSlides/notesSlide9.xml" ContentType="application/vnd.openxmlformats-officedocument.presentationml.notesSlide+xml"/>
  <Override PartName="/ppt/tags/tag9.xml" ContentType="application/vnd.openxmlformats-officedocument.presentationml.tags+xml"/>
  <Override PartName="/ppt/notesSlides/notesSlide10.xml" ContentType="application/vnd.openxmlformats-officedocument.presentationml.notesSlide+xml"/>
  <Override PartName="/ppt/tags/tag10.xml" ContentType="application/vnd.openxmlformats-officedocument.presentationml.tags+xml"/>
  <Override PartName="/ppt/notesSlides/notesSlide11.xml" ContentType="application/vnd.openxmlformats-officedocument.presentationml.notesSlide+xml"/>
  <Override PartName="/ppt/tags/tag11.xml" ContentType="application/vnd.openxmlformats-officedocument.presentationml.tags+xml"/>
  <Override PartName="/ppt/notesSlides/notesSlide12.xml" ContentType="application/vnd.openxmlformats-officedocument.presentationml.notesSlide+xml"/>
  <Override PartName="/ppt/tags/tag12.xml" ContentType="application/vnd.openxmlformats-officedocument.presentationml.tags+xml"/>
  <Override PartName="/ppt/notesSlides/notesSlide13.xml" ContentType="application/vnd.openxmlformats-officedocument.presentationml.notesSlide+xml"/>
  <Override PartName="/ppt/tags/tag13.xml" ContentType="application/vnd.openxmlformats-officedocument.presentationml.tags+xml"/>
  <Override PartName="/ppt/notesSlides/notesSlide14.xml" ContentType="application/vnd.openxmlformats-officedocument.presentationml.notesSlide+xml"/>
  <Override PartName="/ppt/tags/tag14.xml" ContentType="application/vnd.openxmlformats-officedocument.presentationml.tags+xml"/>
  <Override PartName="/ppt/notesSlides/notesSlide15.xml" ContentType="application/vnd.openxmlformats-officedocument.presentationml.notesSlide+xml"/>
  <Override PartName="/ppt/tags/tag15.xml" ContentType="application/vnd.openxmlformats-officedocument.presentationml.tags+xml"/>
  <Override PartName="/ppt/notesSlides/notesSlide16.xml" ContentType="application/vnd.openxmlformats-officedocument.presentationml.notesSlide+xml"/>
  <Override PartName="/ppt/tags/tag16.xml" ContentType="application/vnd.openxmlformats-officedocument.presentationml.tags+xml"/>
  <Override PartName="/ppt/notesSlides/notesSlide17.xml" ContentType="application/vnd.openxmlformats-officedocument.presentationml.notesSlide+xml"/>
  <Override PartName="/ppt/tags/tag17.xml" ContentType="application/vnd.openxmlformats-officedocument.presentationml.tags+xml"/>
  <Override PartName="/ppt/notesSlides/notesSlide18.xml" ContentType="application/vnd.openxmlformats-officedocument.presentationml.notesSlide+xml"/>
  <Override PartName="/ppt/tags/tag18.xml" ContentType="application/vnd.openxmlformats-officedocument.presentationml.tags+xml"/>
  <Override PartName="/ppt/notesSlides/notesSlide19.xml" ContentType="application/vnd.openxmlformats-officedocument.presentationml.notesSlide+xml"/>
  <Override PartName="/ppt/tags/tag19.xml" ContentType="application/vnd.openxmlformats-officedocument.presentationml.tags+xml"/>
  <Override PartName="/ppt/notesSlides/notesSlide20.xml" ContentType="application/vnd.openxmlformats-officedocument.presentationml.notesSlide+xml"/>
  <Override PartName="/ppt/tags/tag20.xml" ContentType="application/vnd.openxmlformats-officedocument.presentationml.tags+xml"/>
  <Override PartName="/ppt/notesSlides/notesSlide21.xml" ContentType="application/vnd.openxmlformats-officedocument.presentationml.notesSlide+xml"/>
  <Override PartName="/ppt/tags/tag21.xml" ContentType="application/vnd.openxmlformats-officedocument.presentationml.tags+xml"/>
  <Override PartName="/ppt/notesSlides/notesSlide22.xml" ContentType="application/vnd.openxmlformats-officedocument.presentationml.notesSlide+xml"/>
  <Override PartName="/ppt/tags/tag22.xml" ContentType="application/vnd.openxmlformats-officedocument.presentationml.tags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214" r:id="rId4"/>
    <p:sldId id="2215" r:id="rId5"/>
    <p:sldId id="2216" r:id="rId6"/>
    <p:sldId id="2217" r:id="rId7"/>
    <p:sldId id="2218" r:id="rId8"/>
    <p:sldId id="2219" r:id="rId9"/>
    <p:sldId id="2220" r:id="rId10"/>
    <p:sldId id="2221" r:id="rId11"/>
    <p:sldId id="2222" r:id="rId12"/>
    <p:sldId id="2223" r:id="rId13"/>
    <p:sldId id="2224" r:id="rId14"/>
    <p:sldId id="2225" r:id="rId15"/>
    <p:sldId id="2226" r:id="rId16"/>
    <p:sldId id="2227" r:id="rId17"/>
    <p:sldId id="2228" r:id="rId18"/>
    <p:sldId id="2229" r:id="rId19"/>
    <p:sldId id="2230" r:id="rId20"/>
    <p:sldId id="2231" r:id="rId21"/>
    <p:sldId id="2232" r:id="rId22"/>
    <p:sldId id="2233" r:id="rId23"/>
    <p:sldId id="2234" r:id="rId2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56308"/>
  </p:normalViewPr>
  <p:slideViewPr>
    <p:cSldViewPr snapToGrid="0">
      <p:cViewPr varScale="1">
        <p:scale>
          <a:sx n="60" d="100"/>
          <a:sy n="60" d="100"/>
        </p:scale>
        <p:origin x="255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503E8A-EF42-6F4E-AF9F-CE7A27B63D4E}" type="datetimeFigureOut">
              <a:rPr kumimoji="1" lang="zh-CN" altLang="en-US" smtClean="0"/>
              <a:t>2025/10/8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DE8C99-175B-F54C-833A-B3ED9FCD49E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267365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" altLang="zh-CN" b="0" i="0" dirty="0">
              <a:effectLst/>
              <a:latin typeface="Inter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DE8C99-175B-F54C-833A-B3ED9FCD49E5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637858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DE8C99-175B-F54C-833A-B3ED9FCD49E5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973396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0B89E-2158-37C8-80E6-BF4478323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4AF1D1F-29E2-E4A4-E5DC-8260BB7CCD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A8924FB-59C1-95FC-A77C-8D4770712D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21BD368-5602-453A-DC25-1199425601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C2A0C3-7505-4D09-AD1C-FB75B5DC679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81856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280A9-5D72-5C36-8090-455457802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6AAE120-5967-E3FC-8370-6CCDCD1A4A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2EA88F3-2FA6-FD4E-0F68-57A0997797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D3F5162-0836-1FB0-63E3-E959DC6092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C2A0C3-7505-4D09-AD1C-FB75B5DC679E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85875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C7E6C-BEA8-7AB4-510F-570A54731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2BC2C49-0978-F1D1-D1FE-345C020ABF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5D7F6C0-5D16-A70A-4C3F-A0F34E1ADD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5CCDCE7-1FE9-E483-D488-13D0D17B15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C2A0C3-7505-4D09-AD1C-FB75B5DC679E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47982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53CE9-B3DA-45A3-A5ED-537251C18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57CE157-7EE3-7693-36F5-B966B5012D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4C8C0EA-E703-0F6D-45BF-CFB721C674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FA6C872-6208-12DE-75A6-5968198F19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C2A0C3-7505-4D09-AD1C-FB75B5DC679E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03231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8AD10-2FB4-9F8A-E426-864A76C73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10ABDF3-9FFD-41F9-1897-0C61899AF9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24971E9-EC65-61C2-B5E0-30557C0946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ED48120-3AB3-2DC3-7F0C-31448B8778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C2A0C3-7505-4D09-AD1C-FB75B5DC679E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90035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11CB2-FD31-07C4-FAFF-D2F9E4C06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47ECA2A-3032-E426-9D48-6B423F8979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5F38AE4-275E-1EBB-655E-E2112EBDA9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E62108A-51CB-D2C1-5912-61A0C026B7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C2A0C3-7505-4D09-AD1C-FB75B5DC679E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04638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8FD5A2-E950-1041-D7D7-A8A912A6F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CEE547E-F36F-2CCF-4875-3DE7F00CD7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A6A0E8F-716E-EC0B-1D99-6D1B2F4B33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24918DA-0078-D738-21CF-39D4950336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C2A0C3-7505-4D09-AD1C-FB75B5DC679E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79505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3AFB14-FEC5-BA2D-9EFB-147825E98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6F3B753-D630-AD41-30F7-8FA50D66B6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2880BE5-522C-0A24-082E-763911DC26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98EDB21-4500-7B3F-E6AD-E6F321DD1C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C2A0C3-7505-4D09-AD1C-FB75B5DC679E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94366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3CA2D-80D3-1DFA-2586-A46C86203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7F98365-1623-D401-CD1D-52EDED0598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BE32B44-6B44-8297-6EC5-52020672C9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914E25D-76B4-F143-0438-37940FA952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C2A0C3-7505-4D09-AD1C-FB75B5DC679E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86873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19EC47-CB05-B443-19C2-F0B3FB7AE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8BD9A6A-DAED-CC19-98F2-4BC566656E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A0BE968-11E0-0319-0689-03FB8752CA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BA6B575-327F-5B0A-A6BA-0578D6EAFE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C2A0C3-7505-4D09-AD1C-FB75B5DC679E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43616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11505-07BD-6F36-40ED-423646A71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97DFF36-1D28-012D-50CE-1CA6B4C157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51831E1-99EF-CB4A-3085-1CD3FF9498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E3B62C7-93E5-910B-18C1-C4362B7A51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C2A0C3-7505-4D09-AD1C-FB75B5DC679E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237006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9B4867-D4CF-98DA-2E66-079FD843F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B8EA9E3-1267-FE52-562E-BB324195EB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EAD7993-A06A-C49A-DAFF-4740396463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009B56B-97A8-4F0B-45D1-FB87F60D62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C2A0C3-7505-4D09-AD1C-FB75B5DC679E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75315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C7195D-2102-84D0-0495-38FD89735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F16FA65-0BF1-0AC2-206D-B053B788F8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02D5C21-57F9-4EB5-27D7-BF56F67296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815B570-4C5A-6909-9C3C-CB2EDBD227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C2A0C3-7505-4D09-AD1C-FB75B5DC679E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959360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9A3F82-A9E5-952B-ACAD-8BC807121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7945132-48AB-5AC7-FDC1-D8055F4AA7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DA29989-48EB-F90B-7955-005EB41C4F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DAFB306-6276-1576-B384-4B96CAB5C4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C2A0C3-7505-4D09-AD1C-FB75B5DC679E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683568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FCFE83-C8FB-AB7B-2812-2424D5245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E366C3F-7C43-E259-718A-737C74CD55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DEFA5F9-5EF7-1629-D69C-13EA781BAF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4B7122D-EEEF-8E5F-1889-29E4BB188F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C2A0C3-7505-4D09-AD1C-FB75B5DC679E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764499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D4056-AB2E-BBFB-DB77-E55CFA0F5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5CF3F49-6690-0E13-27B7-1EC3039AE8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4D4DA0D-7E33-AC84-A29C-6335881C60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099D27B-7D77-12FC-DD32-B692126943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C2A0C3-7505-4D09-AD1C-FB75B5DC679E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961994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2B7A3-4683-2E86-D127-B0710C8B8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5B7F4AE-17DC-7E20-F4E6-377A52A844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09BB0B1-82D1-D1A9-E850-FF0C16B5DE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3980E6E-211F-3A86-A89F-93BE7C8556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C2A0C3-7505-4D09-AD1C-FB75B5DC679E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731841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E8946F-0719-9D8D-A2B0-C524AD457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9F094B4-9458-C3C5-4A22-C7CA551436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6D99174-3B56-2896-7253-1E5911BA10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E798A2C-1ADE-FBDA-5694-FBD05A109E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C2A0C3-7505-4D09-AD1C-FB75B5DC679E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899544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1AD210-E910-4237-313F-FB5693515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1D3F2FC-0F6F-5138-590A-AD633A5BC3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8546C96-7735-09D6-2530-78DA4A0FF8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2AC34D-6CF1-95ED-67B4-2101005DF9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C2A0C3-7505-4D09-AD1C-FB75B5DC679E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145906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8267E-B42B-1B16-759C-A7BA512E7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F7899C0-2510-2884-D5B9-F78309059E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C3B1B78-B93E-7509-F8D3-1AA7EA330A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89C258A-2B8C-3B45-2000-B0D96A4027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C2A0C3-7505-4D09-AD1C-FB75B5DC679E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993291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170716-2A81-71A9-FD69-19A2677DA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89392F1-F31D-6D66-CC1E-E508D85A1B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2DC6484-16CE-50C2-9D69-C01EFF5311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A11330B-0978-9BC4-C4ED-1B5448DAE3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C2A0C3-7505-4D09-AD1C-FB75B5DC679E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95445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27B75A-3EE6-FD3E-6CED-406E6C29FF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20FD7B9-84C3-98DC-1966-3E5C403B3C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143F5E3-EAF2-9B8F-8F30-2CCF94D2B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713B3-0345-AC44-882D-7B13CECCCA0F}" type="datetimeFigureOut">
              <a:rPr kumimoji="1" lang="zh-CN" altLang="en-US" smtClean="0"/>
              <a:t>2025/10/8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D274006-D219-AB18-A772-A2129426C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B3F9D53-97F1-AE4D-8C7E-92D0E57AC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6F6B8-06A4-0D49-80A0-A7CCBC3A99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192588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E0392-24EF-6984-3607-3F6D33829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1ED53E9-307F-771B-4435-4BAC30341C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A63CE43-4999-21F5-ED4E-F62695367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713B3-0345-AC44-882D-7B13CECCCA0F}" type="datetimeFigureOut">
              <a:rPr kumimoji="1" lang="zh-CN" altLang="en-US" smtClean="0"/>
              <a:t>2025/10/8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E644595-90FE-DD88-4BF6-77438D0ED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8C4637-E456-EE1E-C72F-AFE7DDD73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6F6B8-06A4-0D49-80A0-A7CCBC3A99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646892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C5A762-8CEB-9FB4-5187-7448FDD53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2191BB4-29AA-C687-F0DF-E055918103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808A33-15F9-4F54-B042-FFCE796AA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713B3-0345-AC44-882D-7B13CECCCA0F}" type="datetimeFigureOut">
              <a:rPr kumimoji="1" lang="zh-CN" altLang="en-US" smtClean="0"/>
              <a:t>2025/10/8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C7554D9-4C3C-0628-C9DE-FD726E555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09032BB-6E38-DFFB-07CC-8005447C9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6F6B8-06A4-0D49-80A0-A7CCBC3A99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981020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3545FC-22C9-D93C-2A3A-4195B7D35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7808EC-C8DF-D321-A528-B63A6C55BD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25CA073-0043-6112-5AD0-CE8C2E4286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EA29BA8-1BB3-9110-7A3D-541C0109B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713B3-0345-AC44-882D-7B13CECCCA0F}" type="datetimeFigureOut">
              <a:rPr kumimoji="1" lang="zh-CN" altLang="en-US" smtClean="0"/>
              <a:t>2025/10/8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55AA313-E8A8-6112-FC1D-9E5D321E8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D7AC8B8-193A-8F05-A521-556676434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6F6B8-06A4-0D49-80A0-A7CCBC3A99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826876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420243-F6C3-EF3C-CDD5-397088D7F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0F421EF-1016-1DEF-5CC3-049352298C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9072088-7D2F-FE3E-BF5E-4545353622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3F4E7C3-937D-CF08-6FB0-15F2F576D7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7E599D9-864C-F317-F245-4D34D96332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6E4885F-26E0-4383-4A10-E67A68CDA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713B3-0345-AC44-882D-7B13CECCCA0F}" type="datetimeFigureOut">
              <a:rPr kumimoji="1" lang="zh-CN" altLang="en-US" smtClean="0"/>
              <a:t>2025/10/8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4CDE755-C81E-6ECF-E6BA-F18DE01AF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553416C-77C7-3A33-CC8F-078F271D7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6F6B8-06A4-0D49-80A0-A7CCBC3A99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582288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450130-58D8-B972-1143-174853E5A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D875F1E-F9F1-636A-0FB7-CB27FC53F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713B3-0345-AC44-882D-7B13CECCCA0F}" type="datetimeFigureOut">
              <a:rPr kumimoji="1" lang="zh-CN" altLang="en-US" smtClean="0"/>
              <a:t>2025/10/8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8D1630F-2BA8-401F-75FE-929120AC2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D65356E-1D25-F144-6612-BD353A48C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6F6B8-06A4-0D49-80A0-A7CCBC3A99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374503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A7C3782-FC69-CB48-0157-96C4620C8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713B3-0345-AC44-882D-7B13CECCCA0F}" type="datetimeFigureOut">
              <a:rPr kumimoji="1" lang="zh-CN" altLang="en-US" smtClean="0"/>
              <a:t>2025/10/8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0465A53-D2F4-3AAC-EA10-9BF844027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6C35903-BFA4-26CB-33AE-0D40347B5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6F6B8-06A4-0D49-80A0-A7CCBC3A99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2758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7BF94C-06B2-C0DA-2778-2C3689565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48194E6-6F88-6FA5-818B-CC62FE9282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C3936FD-7689-2F18-0917-E0FE3CBED1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7623E5D-DE7B-2627-804A-8F88E1986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713B3-0345-AC44-882D-7B13CECCCA0F}" type="datetimeFigureOut">
              <a:rPr kumimoji="1" lang="zh-CN" altLang="en-US" smtClean="0"/>
              <a:t>2025/10/8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E9E7A64-7C1B-3993-3D46-0F7CFC59D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F1C2768-2188-3C64-2F93-D4534DFC6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6F6B8-06A4-0D49-80A0-A7CCBC3A99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960620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B28CED-2C6C-62B1-09C3-740A04BF1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BE89661-96A9-B903-389D-5B77EC1CBA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BAFB80C-9703-7608-121D-3D07C5910A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C12C321-8CC7-2578-CD19-6D71E1DA9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713B3-0345-AC44-882D-7B13CECCCA0F}" type="datetimeFigureOut">
              <a:rPr kumimoji="1" lang="zh-CN" altLang="en-US" smtClean="0"/>
              <a:t>2025/10/8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1FA61B3-2F11-5323-805D-8CAEDE8D8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7E65BA-1C26-887A-35EE-4BCD7105E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6F6B8-06A4-0D49-80A0-A7CCBC3A99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09682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E1F615-D931-5119-845F-DEA56FDE0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CE9B39B-036D-C622-A492-7529DA04B7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24DE474-4A9F-6325-55E1-548E9DEB3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713B3-0345-AC44-882D-7B13CECCCA0F}" type="datetimeFigureOut">
              <a:rPr kumimoji="1" lang="zh-CN" altLang="en-US" smtClean="0"/>
              <a:t>2025/10/8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7DDD73-ACBB-1566-2556-BD7F3BEBC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498DD92-6FE9-1A8A-0168-30928A2E4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6F6B8-06A4-0D49-80A0-A7CCBC3A99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85000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2D8C8CB-1A4C-9248-2199-1A404CF48D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C455DF5-6CAA-3970-2640-33C61545C5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6FFBD1E-1568-DC56-428E-6AF0543E0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713B3-0345-AC44-882D-7B13CECCCA0F}" type="datetimeFigureOut">
              <a:rPr kumimoji="1" lang="zh-CN" altLang="en-US" smtClean="0"/>
              <a:t>2025/10/8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2AC54D2-0A11-0210-BCF3-81F27990A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9F8D00-396D-5A04-392A-6A0973F06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6F6B8-06A4-0D49-80A0-A7CCBC3A99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052479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E965E69-0304-0777-D418-ABF7342E5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DAF746A-7CA4-9A62-6EAF-A5ABA6BD54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203211-20DC-245B-E685-198BAFCCC0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C713B3-0345-AC44-882D-7B13CECCCA0F}" type="datetimeFigureOut">
              <a:rPr kumimoji="1" lang="zh-CN" altLang="en-US" smtClean="0"/>
              <a:t>2025/10/8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103A07C-1A2C-038C-7F72-9735A37AA8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6B1138-A014-AE75-E35E-B1893C0F2E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26F6B8-06A4-0D49-80A0-A7CCBC3A99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04714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Relationship Id="rId4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Relationship Id="rId4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Relationship Id="rId4" Type="http://schemas.openxmlformats.org/officeDocument/2006/relationships/image" Target="../media/image1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Relationship Id="rId5" Type="http://schemas.openxmlformats.org/officeDocument/2006/relationships/image" Target="../media/image14.png"/><Relationship Id="rId4" Type="http://schemas.openxmlformats.org/officeDocument/2006/relationships/hyperlink" Target="https://novix.science/cha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33FDCF5-A392-3E73-2C9F-CD3B4F03F399}"/>
              </a:ext>
            </a:extLst>
          </p:cNvPr>
          <p:cNvSpPr txBox="1"/>
          <p:nvPr/>
        </p:nvSpPr>
        <p:spPr>
          <a:xfrm>
            <a:off x="2195593" y="2402938"/>
            <a:ext cx="828320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" altLang="zh-CN" sz="3600" b="1" dirty="0">
                <a:latin typeface="Times New Roman" panose="02020603050405020304" charset="0"/>
                <a:cs typeface="Times New Roman" panose="02020603050405020304" charset="0"/>
              </a:rPr>
              <a:t>AI Agents for Scientific Discovery</a:t>
            </a:r>
          </a:p>
          <a:p>
            <a:pPr algn="ctr"/>
            <a:r>
              <a:rPr lang="en" altLang="zh-CN" sz="2800" dirty="0">
                <a:latin typeface="Times New Roman" panose="02020603050405020304" charset="0"/>
                <a:cs typeface="Times New Roman" panose="02020603050405020304" charset="0"/>
              </a:rPr>
              <a:t>                                         --- The Rise of the AI Scientist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9F90FCD-CBF2-8C8F-C751-63C45FC543BC}"/>
              </a:ext>
            </a:extLst>
          </p:cNvPr>
          <p:cNvSpPr txBox="1"/>
          <p:nvPr/>
        </p:nvSpPr>
        <p:spPr>
          <a:xfrm>
            <a:off x="4073067" y="4611700"/>
            <a:ext cx="40458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" altLang="zh-CN" sz="2400" b="0" i="0" dirty="0">
                <a:solidFill>
                  <a:srgbClr val="32302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Presenter: Le Song </a:t>
            </a:r>
          </a:p>
          <a:p>
            <a:pPr algn="ctr"/>
            <a:r>
              <a:rPr lang="en" altLang="zh-CN" sz="2400" dirty="0">
                <a:solidFill>
                  <a:srgbClr val="32302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October 9, 2025</a:t>
            </a:r>
            <a:endParaRPr lang="en-US" altLang="zh-CN" sz="2400" dirty="0">
              <a:solidFill>
                <a:srgbClr val="32302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84A72E7-266D-9954-0E85-CA1ED5F96F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1265" y="-21265"/>
            <a:ext cx="4490422" cy="1508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5229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1B68E-0BF3-6FB4-FBAA-AF16ADAA2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D1C441-5357-AC3F-0EBD-1BDA64D5FCB2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547562" y="2308225"/>
            <a:ext cx="26543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Catalog</a:t>
            </a:r>
            <a:endParaRPr lang="zh-CN" sz="54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方正姚体" panose="02010601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7237443E-DCF7-38BA-159B-18782BC2AEF1}"/>
              </a:ext>
            </a:extLst>
          </p:cNvPr>
          <p:cNvGrpSpPr/>
          <p:nvPr/>
        </p:nvGrpSpPr>
        <p:grpSpPr>
          <a:xfrm>
            <a:off x="4801937" y="736600"/>
            <a:ext cx="6965315" cy="5384800"/>
            <a:chOff x="8580" y="1930"/>
            <a:chExt cx="8612" cy="8480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3FA8EF1C-35A5-7196-2411-8AD2EA149F64}"/>
                </a:ext>
              </a:extLst>
            </p:cNvPr>
            <p:cNvSpPr/>
            <p:nvPr/>
          </p:nvSpPr>
          <p:spPr>
            <a:xfrm>
              <a:off x="8580" y="1930"/>
              <a:ext cx="8612" cy="8480"/>
            </a:xfrm>
            <a:prstGeom prst="rect">
              <a:avLst/>
            </a:prstGeom>
            <a:solidFill>
              <a:srgbClr val="2A6BB2">
                <a:alpha val="5000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C20DCC81-7B23-ECF2-816E-D574B6E64521}"/>
                </a:ext>
              </a:extLst>
            </p:cNvPr>
            <p:cNvSpPr txBox="1"/>
            <p:nvPr/>
          </p:nvSpPr>
          <p:spPr>
            <a:xfrm>
              <a:off x="9614" y="2338"/>
              <a:ext cx="6190" cy="7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514350" indent="-514350">
                <a:lnSpc>
                  <a:spcPct val="200000"/>
                </a:lnSpc>
                <a:buAutoNum type="arabicPeriod"/>
              </a:pPr>
              <a:r>
                <a:rPr lang="en-US" altLang="zh-CN" sz="3200" b="1" dirty="0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ea typeface="方正姚体" panose="02010601030101010101" pitchFamily="2" charset="-122"/>
                  <a:cs typeface="Times New Roman" panose="02020603050405020304" pitchFamily="18" charset="0"/>
                </a:rPr>
                <a:t>Introduction</a:t>
              </a:r>
            </a:p>
            <a:p>
              <a:pPr marL="514350" indent="-514350">
                <a:lnSpc>
                  <a:spcPct val="200000"/>
                </a:lnSpc>
                <a:buAutoNum type="arabicPeriod"/>
              </a:pPr>
              <a:r>
                <a:rPr lang="en" altLang="zh-CN" sz="3200" b="1" dirty="0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ea typeface="方正姚体" panose="02010601030101010101" pitchFamily="2" charset="-122"/>
                  <a:cs typeface="Times New Roman" panose="02020603050405020304" pitchFamily="18" charset="0"/>
                </a:rPr>
                <a:t>The AI Scientist</a:t>
              </a:r>
            </a:p>
            <a:p>
              <a:pPr marL="514350" indent="-514350">
                <a:lnSpc>
                  <a:spcPct val="200000"/>
                </a:lnSpc>
                <a:buAutoNum type="arabicPeriod"/>
              </a:pPr>
              <a:r>
                <a:rPr lang="en" altLang="zh-CN" sz="3200" b="1" dirty="0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ea typeface="方正姚体" panose="02010601030101010101" pitchFamily="2" charset="-122"/>
                  <a:cs typeface="Times New Roman" panose="02020603050405020304" pitchFamily="18" charset="0"/>
                </a:rPr>
                <a:t>The AI Scientist-v2</a:t>
              </a:r>
            </a:p>
            <a:p>
              <a:pPr marL="514350" indent="-514350">
                <a:lnSpc>
                  <a:spcPct val="200000"/>
                </a:lnSpc>
                <a:buAutoNum type="arabicPeriod"/>
              </a:pPr>
              <a:r>
                <a:rPr lang="en" altLang="zh-CN" sz="3200" b="1" dirty="0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ea typeface="方正姚体" panose="02010601030101010101" pitchFamily="2" charset="-122"/>
                  <a:cs typeface="Times New Roman" panose="02020603050405020304" pitchFamily="18" charset="0"/>
                </a:rPr>
                <a:t>AI-Researcher</a:t>
              </a:r>
            </a:p>
            <a:p>
              <a:pPr marL="514350" indent="-514350">
                <a:lnSpc>
                  <a:spcPct val="200000"/>
                </a:lnSpc>
                <a:buAutoNum type="arabicPeriod"/>
              </a:pPr>
              <a:r>
                <a:rPr lang="en" altLang="zh-CN" sz="3200" b="1" dirty="0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ea typeface="方正姚体" panose="02010601030101010101" pitchFamily="2" charset="-122"/>
                  <a:cs typeface="Times New Roman" panose="02020603050405020304" pitchFamily="18" charset="0"/>
                </a:rPr>
                <a:t>Product</a:t>
              </a:r>
              <a:r>
                <a:rPr lang="zh-CN" altLang="en-US" sz="3200" b="1" dirty="0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ea typeface="方正姚体" panose="02010601030101010101" pitchFamily="2" charset="-122"/>
                  <a:cs typeface="Times New Roman" panose="02020603050405020304" pitchFamily="18" charset="0"/>
                </a:rPr>
                <a:t> </a:t>
              </a:r>
              <a:r>
                <a:rPr lang="en" altLang="zh-CN" sz="3200" b="1" dirty="0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ea typeface="方正姚体" panose="02010601030101010101" pitchFamily="2" charset="-122"/>
                  <a:cs typeface="Times New Roman" panose="02020603050405020304" pitchFamily="18" charset="0"/>
                </a:rPr>
                <a:t>Presentation 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6B48A23A-082E-E12D-B659-992DD4060D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1265" y="-21265"/>
            <a:ext cx="4490422" cy="1508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8428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FF6F60-6180-D6A0-39B7-FE77100C5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1">
            <a:extLst>
              <a:ext uri="{FF2B5EF4-FFF2-40B4-BE49-F238E27FC236}">
                <a16:creationId xmlns:a16="http://schemas.microsoft.com/office/drawing/2014/main" id="{2BD928D9-B047-9619-2622-25E174697DE6}"/>
              </a:ext>
            </a:extLst>
          </p:cNvPr>
          <p:cNvSpPr txBox="1"/>
          <p:nvPr/>
        </p:nvSpPr>
        <p:spPr>
          <a:xfrm>
            <a:off x="78105" y="196323"/>
            <a:ext cx="96661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1.</a:t>
            </a:r>
            <a:r>
              <a:rPr lang="zh-CN" altLang="en-US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Introduction: </a:t>
            </a:r>
            <a:r>
              <a:rPr lang="en" altLang="zh-C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The Need for a New Paradigm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 </a:t>
            </a:r>
            <a:endParaRPr lang="en" altLang="zh-CN" sz="36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方正姚体" panose="02010601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A74016F-E699-0A8B-092A-758A450C24DB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4950460" y="6518910"/>
            <a:ext cx="3693160" cy="29908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7B9A23D-A311-7E8D-F6E5-687045C589CA}"/>
              </a:ext>
            </a:extLst>
          </p:cNvPr>
          <p:cNvSpPr txBox="1"/>
          <p:nvPr/>
        </p:nvSpPr>
        <p:spPr>
          <a:xfrm>
            <a:off x="78105" y="1034039"/>
            <a:ext cx="120357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" altLang="zh-CN" sz="2400" b="1" i="0" dirty="0">
                <a:solidFill>
                  <a:srgbClr val="1A1C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Challenge &amp; The Catalyst</a:t>
            </a:r>
            <a:endParaRPr kumimoji="1"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5DCFE70-E62D-B76C-D86E-0D357AF2E041}"/>
              </a:ext>
            </a:extLst>
          </p:cNvPr>
          <p:cNvSpPr txBox="1"/>
          <p:nvPr/>
        </p:nvSpPr>
        <p:spPr>
          <a:xfrm>
            <a:off x="191385" y="1973780"/>
            <a:ext cx="5904614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sz="2000" b="1" i="0" dirty="0">
                <a:solidFill>
                  <a:srgbClr val="1A1C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Limits of Traditional Science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" altLang="zh-CN" sz="2000" b="1" i="0" dirty="0">
              <a:solidFill>
                <a:srgbClr val="1A1C1E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buFont typeface="Wingdings" pitchFamily="2" charset="2"/>
              <a:buChar char="p"/>
            </a:pPr>
            <a:r>
              <a:rPr lang="en" altLang="zh-CN" b="1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Human Bottlenecks: </a:t>
            </a:r>
            <a:r>
              <a:rPr lang="en" altLang="zh-CN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pace of discovery is limited by human speed, scale, and cognitive capacity.</a:t>
            </a:r>
          </a:p>
          <a:p>
            <a:pPr marL="800100" lvl="1" indent="-342900" algn="just">
              <a:buFont typeface="Wingdings" pitchFamily="2" charset="2"/>
              <a:buChar char="p"/>
            </a:pPr>
            <a:endParaRPr lang="en" altLang="zh-CN" sz="2000" b="1" dirty="0">
              <a:solidFill>
                <a:srgbClr val="1A1C1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buFont typeface="Wingdings" pitchFamily="2" charset="2"/>
              <a:buChar char="p"/>
            </a:pPr>
            <a:r>
              <a:rPr lang="en" altLang="zh-CN" b="1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Information Overload</a:t>
            </a:r>
            <a:r>
              <a:rPr lang="en" altLang="zh-CN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 Researchers face an overwhelming deluge of complex data and literature.</a:t>
            </a:r>
          </a:p>
          <a:p>
            <a:pPr marL="800100" lvl="1" indent="-342900" algn="just">
              <a:buFont typeface="Wingdings" pitchFamily="2" charset="2"/>
              <a:buChar char="p"/>
            </a:pPr>
            <a:endParaRPr lang="en" altLang="zh-CN" sz="2000" b="1" dirty="0">
              <a:solidFill>
                <a:srgbClr val="1A1C1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buFont typeface="Wingdings" pitchFamily="2" charset="2"/>
              <a:buChar char="p"/>
            </a:pPr>
            <a:r>
              <a:rPr lang="en" altLang="zh-CN" b="1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  <a:r>
              <a:rPr lang="en" altLang="zh-CN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 A growing gap between our ambition and our ability to discover.</a:t>
            </a:r>
          </a:p>
          <a:p>
            <a:pPr marL="800100" lvl="1" indent="-342900">
              <a:buFont typeface="Wingdings" pitchFamily="2" charset="2"/>
              <a:buChar char="p"/>
            </a:pPr>
            <a:endParaRPr kumimoji="1"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C73E1B8-8960-A18A-D66D-96D67F30F547}"/>
              </a:ext>
            </a:extLst>
          </p:cNvPr>
          <p:cNvSpPr txBox="1"/>
          <p:nvPr/>
        </p:nvSpPr>
        <p:spPr>
          <a:xfrm>
            <a:off x="6209280" y="1973779"/>
            <a:ext cx="5904614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sz="2000" b="1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AI Breakthrough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" altLang="zh-CN" sz="2000" b="1" i="0" dirty="0">
              <a:solidFill>
                <a:srgbClr val="1A1C1E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buFont typeface="Wingdings" pitchFamily="2" charset="2"/>
              <a:buChar char="p"/>
            </a:pPr>
            <a:r>
              <a:rPr lang="en" altLang="zh-CN" b="1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Catalyst: </a:t>
            </a:r>
            <a:r>
              <a:rPr lang="en" altLang="zh-CN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Recent breakthroughs in Large Language Models </a:t>
            </a:r>
            <a:r>
              <a:rPr lang="en-US" altLang="zh-CN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" altLang="zh-CN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LLMs) are creating a new paradigm.</a:t>
            </a:r>
          </a:p>
          <a:p>
            <a:pPr marL="800100" lvl="1" indent="-342900" algn="just">
              <a:buFont typeface="Wingdings" pitchFamily="2" charset="2"/>
              <a:buChar char="p"/>
            </a:pPr>
            <a:endParaRPr lang="en" altLang="zh-CN" b="1" i="0" dirty="0">
              <a:solidFill>
                <a:srgbClr val="1A1C1E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buFont typeface="Wingdings" pitchFamily="2" charset="2"/>
              <a:buChar char="p"/>
            </a:pPr>
            <a:r>
              <a:rPr lang="en" altLang="zh-CN" b="1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Vision</a:t>
            </a:r>
            <a:r>
              <a:rPr lang="en" altLang="zh-CN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 The emergence of the "</a:t>
            </a:r>
            <a:r>
              <a:rPr lang="en" altLang="zh-CN" b="1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Scientist</a:t>
            </a:r>
            <a:r>
              <a:rPr lang="en" altLang="zh-CN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"—an autonomous agent for end-to-end scientific research.</a:t>
            </a:r>
          </a:p>
          <a:p>
            <a:pPr marL="800100" lvl="1" indent="-342900" algn="just">
              <a:buFont typeface="Wingdings" pitchFamily="2" charset="2"/>
              <a:buChar char="p"/>
            </a:pPr>
            <a:endParaRPr lang="en" altLang="zh-CN" dirty="0">
              <a:solidFill>
                <a:srgbClr val="1A1C1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0427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A24445-EA17-658F-7105-C0638AD7B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1">
            <a:extLst>
              <a:ext uri="{FF2B5EF4-FFF2-40B4-BE49-F238E27FC236}">
                <a16:creationId xmlns:a16="http://schemas.microsoft.com/office/drawing/2014/main" id="{6019A863-BD95-9F5F-D150-7EA23B2E14FA}"/>
              </a:ext>
            </a:extLst>
          </p:cNvPr>
          <p:cNvSpPr txBox="1"/>
          <p:nvPr/>
        </p:nvSpPr>
        <p:spPr>
          <a:xfrm>
            <a:off x="78105" y="196323"/>
            <a:ext cx="96661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1.</a:t>
            </a:r>
            <a:r>
              <a:rPr lang="zh-CN" altLang="en-US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Introduction: </a:t>
            </a:r>
            <a:r>
              <a:rPr lang="en" altLang="zh-C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Anatomy of an AI Scientist</a:t>
            </a:r>
          </a:p>
          <a:p>
            <a:endParaRPr lang="en" altLang="zh-CN" sz="36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方正姚体" panose="02010601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D9C2836-7798-74A9-B2B7-92234308EC8F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4950460" y="6518910"/>
            <a:ext cx="3693160" cy="29908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9975CC6-97E8-142C-8676-31AA9D32D5F2}"/>
              </a:ext>
            </a:extLst>
          </p:cNvPr>
          <p:cNvSpPr txBox="1"/>
          <p:nvPr/>
        </p:nvSpPr>
        <p:spPr>
          <a:xfrm>
            <a:off x="78105" y="1034039"/>
            <a:ext cx="12035789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" altLang="zh-CN" sz="2400" b="1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Automated Research Lifecycle</a:t>
            </a:r>
          </a:p>
          <a:p>
            <a:pPr marL="742950" lvl="1" indent="-285750">
              <a:buFont typeface="Wingdings" pitchFamily="2" charset="2"/>
              <a:buChar char="Ø"/>
            </a:pPr>
            <a:endParaRPr lang="en" altLang="zh-CN" sz="2400" b="1" dirty="0">
              <a:solidFill>
                <a:srgbClr val="1A1C1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" altLang="zh-CN" sz="2000" b="0" i="0" dirty="0">
                <a:solidFill>
                  <a:srgbClr val="1A1C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AI Scientist is designed to </a:t>
            </a:r>
            <a:r>
              <a:rPr lang="en" altLang="zh-CN" sz="2000" b="1" i="0" dirty="0">
                <a:solidFill>
                  <a:srgbClr val="1A1C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automate the entire research lifecycle</a:t>
            </a:r>
            <a:r>
              <a:rPr lang="en" altLang="zh-CN" sz="2000" b="0" i="0" dirty="0">
                <a:solidFill>
                  <a:srgbClr val="1A1C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functioning as a powerful collaborator for human researchers.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" altLang="zh-CN" sz="2000" dirty="0">
              <a:solidFill>
                <a:srgbClr val="1A1C1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>
              <a:buFont typeface="Wingdings" pitchFamily="2" charset="2"/>
              <a:buChar char="p"/>
            </a:pPr>
            <a:r>
              <a:rPr lang="en" altLang="zh-CN" b="1" i="0" dirty="0">
                <a:solidFill>
                  <a:srgbClr val="1A1C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Hypothesis Generation:</a:t>
            </a:r>
            <a:r>
              <a:rPr lang="en" altLang="zh-CN" b="0" i="0" dirty="0">
                <a:solidFill>
                  <a:srgbClr val="1A1C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Ideating novel research questions.</a:t>
            </a:r>
          </a:p>
          <a:p>
            <a:pPr marL="1257300" lvl="2" indent="-342900">
              <a:buFont typeface="Wingdings" pitchFamily="2" charset="2"/>
              <a:buChar char="p"/>
            </a:pPr>
            <a:endParaRPr lang="en" altLang="zh-CN" dirty="0">
              <a:solidFill>
                <a:srgbClr val="1A1C1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>
              <a:buFont typeface="Wingdings" pitchFamily="2" charset="2"/>
              <a:buChar char="p"/>
            </a:pPr>
            <a:r>
              <a:rPr lang="en" altLang="zh-CN" b="1" i="0" dirty="0">
                <a:solidFill>
                  <a:srgbClr val="1A1C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Design:</a:t>
            </a:r>
            <a:r>
              <a:rPr lang="en" altLang="zh-CN" b="0" i="0" dirty="0">
                <a:solidFill>
                  <a:srgbClr val="1A1C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Formulating rigorous testing plans.</a:t>
            </a:r>
          </a:p>
          <a:p>
            <a:pPr marL="1257300" lvl="2" indent="-342900">
              <a:buFont typeface="Wingdings" pitchFamily="2" charset="2"/>
              <a:buChar char="p"/>
            </a:pPr>
            <a:endParaRPr lang="en" altLang="zh-CN" dirty="0">
              <a:solidFill>
                <a:srgbClr val="1A1C1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>
              <a:buFont typeface="Wingdings" pitchFamily="2" charset="2"/>
              <a:buChar char="p"/>
            </a:pPr>
            <a:r>
              <a:rPr lang="en" altLang="zh-CN" b="1" i="0" dirty="0">
                <a:solidFill>
                  <a:srgbClr val="1A1C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Code &amp; Execution:</a:t>
            </a:r>
            <a:r>
              <a:rPr lang="en" altLang="zh-CN" b="0" i="0" dirty="0">
                <a:solidFill>
                  <a:srgbClr val="1A1C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Writing and running code for simulations and analysis.</a:t>
            </a:r>
          </a:p>
          <a:p>
            <a:pPr marL="1257300" lvl="2" indent="-342900">
              <a:buFont typeface="Wingdings" pitchFamily="2" charset="2"/>
              <a:buChar char="p"/>
            </a:pPr>
            <a:endParaRPr lang="en" altLang="zh-CN" dirty="0">
              <a:solidFill>
                <a:srgbClr val="1A1C1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>
              <a:buFont typeface="Wingdings" pitchFamily="2" charset="2"/>
              <a:buChar char="p"/>
            </a:pPr>
            <a:r>
              <a:rPr lang="en" altLang="zh-CN" b="1" i="0" dirty="0">
                <a:solidFill>
                  <a:srgbClr val="1A1C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Result Analysis:</a:t>
            </a:r>
            <a:r>
              <a:rPr lang="en" altLang="zh-CN" b="0" i="0" dirty="0">
                <a:solidFill>
                  <a:srgbClr val="1A1C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Interpreting data and visualizing outcomes.</a:t>
            </a:r>
          </a:p>
          <a:p>
            <a:pPr marL="1257300" lvl="2" indent="-342900">
              <a:buFont typeface="Wingdings" pitchFamily="2" charset="2"/>
              <a:buChar char="p"/>
            </a:pPr>
            <a:endParaRPr lang="en" altLang="zh-CN" dirty="0">
              <a:solidFill>
                <a:srgbClr val="1A1C1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>
              <a:buFont typeface="Wingdings" pitchFamily="2" charset="2"/>
              <a:buChar char="p"/>
            </a:pPr>
            <a:r>
              <a:rPr lang="en" altLang="zh-CN" b="1" i="0" dirty="0">
                <a:solidFill>
                  <a:srgbClr val="1A1C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Manuscript Authoring:</a:t>
            </a:r>
            <a:r>
              <a:rPr lang="en" altLang="zh-CN" b="0" i="0" dirty="0">
                <a:solidFill>
                  <a:srgbClr val="1A1C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Drafting a publication-ready paper.</a:t>
            </a:r>
          </a:p>
          <a:p>
            <a:pPr marL="1257300" lvl="2" indent="-342900">
              <a:buFont typeface="Wingdings" pitchFamily="2" charset="2"/>
              <a:buChar char="p"/>
            </a:pPr>
            <a:endParaRPr lang="en" altLang="zh-CN" dirty="0">
              <a:solidFill>
                <a:srgbClr val="1A1C1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" altLang="zh-CN" sz="2000" b="1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Ultimate Goal</a:t>
            </a:r>
            <a:r>
              <a:rPr lang="en" altLang="zh-CN" sz="2000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To systematically explore vast solution spaces and uncover insights </a:t>
            </a:r>
            <a:r>
              <a:rPr lang="en" altLang="zh-CN" sz="2000" b="1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beyond the limits of human researchers.</a:t>
            </a:r>
          </a:p>
          <a:p>
            <a:pPr marL="1257300" lvl="2" indent="-342900">
              <a:buFont typeface="Wingdings" pitchFamily="2" charset="2"/>
              <a:buChar char="p"/>
            </a:pPr>
            <a:endParaRPr lang="zh-CN" altLang="en-US" sz="2000" b="1" dirty="0">
              <a:solidFill>
                <a:srgbClr val="1A1C1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77401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FEA29B-BCDB-B0FB-97D5-68471B049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1">
            <a:extLst>
              <a:ext uri="{FF2B5EF4-FFF2-40B4-BE49-F238E27FC236}">
                <a16:creationId xmlns:a16="http://schemas.microsoft.com/office/drawing/2014/main" id="{145D305C-CC03-E1CE-E476-E1C404688599}"/>
              </a:ext>
            </a:extLst>
          </p:cNvPr>
          <p:cNvSpPr txBox="1"/>
          <p:nvPr/>
        </p:nvSpPr>
        <p:spPr>
          <a:xfrm>
            <a:off x="78105" y="196323"/>
            <a:ext cx="1203578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2.</a:t>
            </a:r>
            <a:r>
              <a:rPr lang="zh-CN" altLang="en-US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 </a:t>
            </a:r>
            <a:r>
              <a:rPr lang="en" altLang="zh-C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The AI Scientist</a:t>
            </a:r>
            <a:endParaRPr lang="en" altLang="zh-CN" sz="28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方正姚体" panose="02010601030101010101" pitchFamily="2" charset="-122"/>
              <a:cs typeface="Times New Roman" panose="02020603050405020304" pitchFamily="18" charset="0"/>
            </a:endParaRPr>
          </a:p>
          <a:p>
            <a:endParaRPr lang="en" altLang="zh-CN" sz="36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方正姚体" panose="02010601030101010101" pitchFamily="2" charset="-122"/>
              <a:cs typeface="Times New Roman" panose="02020603050405020304" pitchFamily="18" charset="0"/>
            </a:endParaRPr>
          </a:p>
          <a:p>
            <a:endParaRPr lang="en" altLang="zh-CN" sz="36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方正姚体" panose="02010601030101010101" pitchFamily="2" charset="-122"/>
              <a:cs typeface="Times New Roman" panose="02020603050405020304" pitchFamily="18" charset="0"/>
            </a:endParaRPr>
          </a:p>
          <a:p>
            <a:endParaRPr lang="en" altLang="zh-CN" sz="36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方正姚体" panose="02010601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2B3E233-BF61-578E-0D98-6DE3C2C26598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4950460" y="6518910"/>
            <a:ext cx="3693160" cy="29908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AEFE631-B830-0C72-921E-5AB949F887EA}"/>
              </a:ext>
            </a:extLst>
          </p:cNvPr>
          <p:cNvSpPr txBox="1"/>
          <p:nvPr/>
        </p:nvSpPr>
        <p:spPr>
          <a:xfrm>
            <a:off x="78105" y="1034039"/>
            <a:ext cx="12035789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" altLang="zh-CN" sz="2400" b="1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AI Scientist: A Four-Module Architecture</a:t>
            </a:r>
          </a:p>
          <a:p>
            <a:pPr marL="742950" lvl="1" indent="-285750">
              <a:buFont typeface="Wingdings" pitchFamily="2" charset="2"/>
              <a:buChar char="Ø"/>
            </a:pPr>
            <a:endParaRPr lang="en" altLang="zh-CN" sz="2400" b="1" dirty="0">
              <a:solidFill>
                <a:srgbClr val="1A1C1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endParaRPr lang="zh-CN" altLang="en-US" sz="2000" b="1" dirty="0">
              <a:solidFill>
                <a:srgbClr val="1A1C1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A2B0E17-416F-54BB-194F-582DD1DCE9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525" y="1809698"/>
            <a:ext cx="7772400" cy="4014263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2A35889A-AB92-8E0B-C445-5002A40B381A}"/>
              </a:ext>
            </a:extLst>
          </p:cNvPr>
          <p:cNvSpPr txBox="1"/>
          <p:nvPr/>
        </p:nvSpPr>
        <p:spPr>
          <a:xfrm>
            <a:off x="7825564" y="1034039"/>
            <a:ext cx="4366436" cy="597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" altLang="zh-CN" sz="2000" b="1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Idea Generation (The "Brain")</a:t>
            </a:r>
          </a:p>
          <a:p>
            <a:pPr marL="742950" lvl="1" indent="-285750" algn="just">
              <a:buFont typeface="Wingdings" pitchFamily="2" charset="2"/>
              <a:buChar char="p"/>
            </a:pPr>
            <a:r>
              <a:rPr lang="en" altLang="zh-CN" b="0" i="0" dirty="0">
                <a:solidFill>
                  <a:srgbClr val="1A1C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Innovates on a base topic to generate novel hypotheses.</a:t>
            </a:r>
          </a:p>
          <a:p>
            <a:pPr marL="285750" indent="-285750" algn="just">
              <a:buFont typeface="Wingdings" pitchFamily="2" charset="2"/>
              <a:buChar char="p"/>
            </a:pPr>
            <a:endParaRPr lang="en" altLang="zh-CN" sz="2000" dirty="0">
              <a:solidFill>
                <a:srgbClr val="1A1C1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" altLang="zh-CN" sz="2000" b="1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Experiment Iteration ("Hands")</a:t>
            </a:r>
          </a:p>
          <a:p>
            <a:pPr marL="800100" lvl="1" indent="-342900" algn="just">
              <a:buFont typeface="Wingdings" pitchFamily="2" charset="2"/>
              <a:buChar char="p"/>
            </a:pPr>
            <a:r>
              <a:rPr lang="en" altLang="zh-CN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Translates ideas into executable code and runs experiments.</a:t>
            </a:r>
          </a:p>
          <a:p>
            <a:pPr marL="342900" indent="-342900" algn="just">
              <a:buFont typeface="Wingdings" pitchFamily="2" charset="2"/>
              <a:buChar char="p"/>
            </a:pPr>
            <a:endParaRPr lang="en" altLang="zh-CN" dirty="0">
              <a:solidFill>
                <a:srgbClr val="1A1C1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" altLang="zh-CN" sz="2000" b="1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Paper Write-up (The "Voice")</a:t>
            </a:r>
          </a:p>
          <a:p>
            <a:pPr marL="800100" lvl="1" indent="-342900" algn="just">
              <a:buFont typeface="Wingdings" pitchFamily="2" charset="2"/>
              <a:buChar char="p"/>
            </a:pPr>
            <a:r>
              <a:rPr lang="en" altLang="zh-CN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Communicates findings in a structured, publication-ready paper.</a:t>
            </a:r>
          </a:p>
          <a:p>
            <a:pPr marL="342900" indent="-342900" algn="just">
              <a:buFont typeface="Wingdings" pitchFamily="2" charset="2"/>
              <a:buChar char="p"/>
            </a:pPr>
            <a:endParaRPr lang="en" altLang="zh-CN" dirty="0">
              <a:solidFill>
                <a:srgbClr val="1A1C1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" altLang="zh-CN" sz="2000" b="1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Automated Reviewing ("Feedback Loop")</a:t>
            </a:r>
          </a:p>
          <a:p>
            <a:pPr marL="800100" lvl="1" indent="-342900" algn="just">
              <a:buFont typeface="Wingdings" pitchFamily="2" charset="2"/>
              <a:buChar char="p"/>
            </a:pPr>
            <a:r>
              <a:rPr lang="en" altLang="zh-CN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Evaluates the paper's quality and provides feedback for future iterations.</a:t>
            </a:r>
          </a:p>
          <a:p>
            <a:pPr marL="800100" lvl="1" indent="-342900">
              <a:buFont typeface="Wingdings" pitchFamily="2" charset="2"/>
              <a:buChar char="p"/>
            </a:pPr>
            <a:endParaRPr lang="en" altLang="zh-CN" sz="2000" b="1" dirty="0">
              <a:solidFill>
                <a:srgbClr val="1A1C1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buFont typeface="Wingdings" pitchFamily="2" charset="2"/>
              <a:buChar char="p"/>
            </a:pPr>
            <a:endParaRPr lang="en" altLang="zh-CN" sz="2000" b="1" dirty="0">
              <a:solidFill>
                <a:srgbClr val="1A1C1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60D136A-41BF-DAC3-4E0E-DD61246186B4}"/>
              </a:ext>
            </a:extLst>
          </p:cNvPr>
          <p:cNvSpPr txBox="1"/>
          <p:nvPr/>
        </p:nvSpPr>
        <p:spPr>
          <a:xfrm>
            <a:off x="78105" y="6495130"/>
            <a:ext cx="119012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14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Lu C, Lu C, Lange R T, et al. The ai scientist: Towards fully automated open-ended scientific discovery[J]. </a:t>
            </a:r>
            <a:r>
              <a:rPr lang="en" altLang="zh-CN" sz="1400" b="0" i="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" altLang="zh-CN" sz="14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preprint arXiv:2408.06292, 2024.</a:t>
            </a:r>
            <a:endParaRPr kumimoji="1"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84128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2F789-CC1E-FA66-8ED1-FA6ED55EA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1">
            <a:extLst>
              <a:ext uri="{FF2B5EF4-FFF2-40B4-BE49-F238E27FC236}">
                <a16:creationId xmlns:a16="http://schemas.microsoft.com/office/drawing/2014/main" id="{70FD2E08-17E4-0D0F-D18C-4EEB16D949D7}"/>
              </a:ext>
            </a:extLst>
          </p:cNvPr>
          <p:cNvSpPr txBox="1"/>
          <p:nvPr/>
        </p:nvSpPr>
        <p:spPr>
          <a:xfrm>
            <a:off x="78105" y="196323"/>
            <a:ext cx="1203578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2.</a:t>
            </a:r>
            <a:r>
              <a:rPr lang="zh-CN" altLang="en-US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 </a:t>
            </a:r>
            <a:r>
              <a:rPr lang="en" altLang="zh-C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The AI Scientist</a:t>
            </a:r>
            <a:endParaRPr lang="en" altLang="zh-CN" sz="28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方正姚体" panose="02010601030101010101" pitchFamily="2" charset="-122"/>
              <a:cs typeface="Times New Roman" panose="02020603050405020304" pitchFamily="18" charset="0"/>
            </a:endParaRPr>
          </a:p>
          <a:p>
            <a:endParaRPr lang="en" altLang="zh-CN" sz="36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方正姚体" panose="02010601030101010101" pitchFamily="2" charset="-122"/>
              <a:cs typeface="Times New Roman" panose="02020603050405020304" pitchFamily="18" charset="0"/>
            </a:endParaRPr>
          </a:p>
          <a:p>
            <a:endParaRPr lang="en" altLang="zh-CN" sz="36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方正姚体" panose="02010601030101010101" pitchFamily="2" charset="-122"/>
              <a:cs typeface="Times New Roman" panose="02020603050405020304" pitchFamily="18" charset="0"/>
            </a:endParaRPr>
          </a:p>
          <a:p>
            <a:endParaRPr lang="en" altLang="zh-CN" sz="36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方正姚体" panose="02010601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6F41E8B-5D5A-21D9-084A-D17229DD34C4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4950460" y="6518910"/>
            <a:ext cx="3693160" cy="29908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71756B8-29F0-1016-D951-056F3836EB06}"/>
              </a:ext>
            </a:extLst>
          </p:cNvPr>
          <p:cNvSpPr txBox="1"/>
          <p:nvPr/>
        </p:nvSpPr>
        <p:spPr>
          <a:xfrm>
            <a:off x="78105" y="1034039"/>
            <a:ext cx="12035789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" altLang="zh-CN" sz="2400" b="1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Core Engine: Idea Generation &amp; Experimentation</a:t>
            </a:r>
          </a:p>
          <a:p>
            <a:pPr marL="742950" lvl="1" indent="-285750">
              <a:buFont typeface="Wingdings" pitchFamily="2" charset="2"/>
              <a:buChar char="Ø"/>
            </a:pPr>
            <a:endParaRPr lang="en" altLang="zh-CN" sz="2400" b="1" dirty="0">
              <a:solidFill>
                <a:srgbClr val="1A1C1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endParaRPr lang="zh-CN" altLang="en-US" sz="2000" b="1" dirty="0">
              <a:solidFill>
                <a:srgbClr val="1A1C1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43D0706-2570-12AC-E6DC-0B31128155E3}"/>
              </a:ext>
            </a:extLst>
          </p:cNvPr>
          <p:cNvSpPr txBox="1"/>
          <p:nvPr/>
        </p:nvSpPr>
        <p:spPr>
          <a:xfrm>
            <a:off x="191385" y="1973780"/>
            <a:ext cx="5904614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sz="2000" b="1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1: Idea Generation </a:t>
            </a:r>
            <a:r>
              <a:rPr lang="zh-CN" altLang="en-US" sz="2000" b="1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💡</a:t>
            </a:r>
            <a:endParaRPr lang="en-US" altLang="zh-CN" sz="2000" b="1" dirty="0">
              <a:solidFill>
                <a:srgbClr val="1A1C1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" altLang="zh-CN" i="1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source of innovation.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" altLang="zh-CN" sz="2000" b="1" i="0" dirty="0">
              <a:solidFill>
                <a:srgbClr val="1A1C1E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buFont typeface="Wingdings" pitchFamily="2" charset="2"/>
              <a:buChar char="p"/>
            </a:pPr>
            <a:r>
              <a:rPr lang="en" altLang="zh-CN" b="1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Brainstorms Ideas: </a:t>
            </a:r>
            <a:r>
              <a:rPr lang="en" altLang="zh-CN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Creatively modifies a </a:t>
            </a:r>
            <a:r>
              <a:rPr lang="en" altLang="zh-CN" b="1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 code template </a:t>
            </a:r>
            <a:r>
              <a:rPr lang="en" altLang="zh-CN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propose innovations.</a:t>
            </a:r>
          </a:p>
          <a:p>
            <a:pPr marL="800100" lvl="1" indent="-342900" algn="just">
              <a:buFont typeface="Wingdings" pitchFamily="2" charset="2"/>
              <a:buChar char="p"/>
            </a:pPr>
            <a:endParaRPr lang="en" altLang="zh-CN" dirty="0">
              <a:solidFill>
                <a:srgbClr val="1A1C1E"/>
              </a:solidFill>
              <a:latin typeface="Inter"/>
              <a:cs typeface="Times New Roman" panose="02020603050405020304" pitchFamily="18" charset="0"/>
            </a:endParaRPr>
          </a:p>
          <a:p>
            <a:pPr marL="800100" lvl="1" indent="-342900" algn="just">
              <a:buFont typeface="Wingdings" pitchFamily="2" charset="2"/>
              <a:buChar char="p"/>
            </a:pPr>
            <a:r>
              <a:rPr lang="en" altLang="zh-CN" b="1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Checks for Novelty</a:t>
            </a:r>
            <a:r>
              <a:rPr lang="en" altLang="zh-CN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 Filters ideas against existing literature using Semantic Scholar &amp; web search.</a:t>
            </a:r>
          </a:p>
          <a:p>
            <a:pPr marL="800100" lvl="1" indent="-342900" algn="just">
              <a:buFont typeface="Wingdings" pitchFamily="2" charset="2"/>
              <a:buChar char="p"/>
            </a:pPr>
            <a:endParaRPr lang="en" altLang="zh-CN" sz="2000" b="1" dirty="0">
              <a:solidFill>
                <a:srgbClr val="1A1C1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Wingdings" pitchFamily="2" charset="2"/>
              <a:buChar char="p"/>
            </a:pPr>
            <a:r>
              <a:rPr lang="en" altLang="zh-CN" b="1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Refines &amp; Scores</a:t>
            </a:r>
            <a:r>
              <a:rPr lang="en" altLang="zh-CN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 Uses self-reflection to produce a structured plan with feasibility and novelty scores.</a:t>
            </a:r>
            <a:endParaRPr lang="zh-CN" altLang="en-US" dirty="0">
              <a:solidFill>
                <a:srgbClr val="1A1C1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69AF7AD-2AF5-1F80-6E8E-DDCCDF59987B}"/>
              </a:ext>
            </a:extLst>
          </p:cNvPr>
          <p:cNvSpPr txBox="1"/>
          <p:nvPr/>
        </p:nvSpPr>
        <p:spPr>
          <a:xfrm>
            <a:off x="6209280" y="1973779"/>
            <a:ext cx="5904614" cy="3200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sz="2000" b="1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2: Experimental Iteration ⚙️</a:t>
            </a:r>
          </a:p>
          <a:p>
            <a:pPr lvl="1"/>
            <a:r>
              <a:rPr lang="en" altLang="zh-CN" i="1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Bridging theory with practice.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" altLang="zh-CN" sz="2000" b="1" i="0" dirty="0">
              <a:solidFill>
                <a:srgbClr val="1A1C1E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buFont typeface="Wingdings" pitchFamily="2" charset="2"/>
              <a:buChar char="p"/>
            </a:pPr>
            <a:r>
              <a:rPr lang="en" altLang="zh-CN" b="1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Writes Code</a:t>
            </a:r>
            <a:r>
              <a:rPr lang="en" altLang="zh-CN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 Uses the "Aider" agent to automatically implement the experimental plan.</a:t>
            </a:r>
          </a:p>
          <a:p>
            <a:pPr marL="800100" lvl="1" indent="-342900" algn="just">
              <a:buFont typeface="Wingdings" pitchFamily="2" charset="2"/>
              <a:buChar char="p"/>
            </a:pPr>
            <a:endParaRPr lang="en" altLang="zh-CN" b="1" i="0" dirty="0">
              <a:solidFill>
                <a:srgbClr val="1A1C1E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buFont typeface="Wingdings" pitchFamily="2" charset="2"/>
              <a:buChar char="p"/>
            </a:pPr>
            <a:r>
              <a:rPr lang="en" altLang="zh-CN" b="1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Executes &amp; Collects</a:t>
            </a:r>
            <a:r>
              <a:rPr lang="en" altLang="zh-CN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 Runs experiments, gathers data, and generates plots or tables.</a:t>
            </a:r>
          </a:p>
          <a:p>
            <a:pPr marL="800100" lvl="1" indent="-342900" algn="just">
              <a:buFont typeface="Wingdings" pitchFamily="2" charset="2"/>
              <a:buChar char="p"/>
            </a:pPr>
            <a:endParaRPr lang="en" altLang="zh-CN" dirty="0">
              <a:solidFill>
                <a:srgbClr val="1A1C1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buFont typeface="Wingdings" pitchFamily="2" charset="2"/>
              <a:buChar char="p"/>
            </a:pPr>
            <a:r>
              <a:rPr lang="en" altLang="zh-CN" b="1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Auto-Debugs</a:t>
            </a:r>
            <a:r>
              <a:rPr lang="en" altLang="zh-CN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 Feeds error messages back to the Aider agent for up to four re-attempts</a:t>
            </a:r>
            <a:r>
              <a:rPr lang="en" altLang="zh-CN" b="0" i="0" dirty="0">
                <a:solidFill>
                  <a:srgbClr val="1A1C1E"/>
                </a:solidFill>
                <a:effectLst/>
                <a:latin typeface="Inter"/>
              </a:rPr>
              <a:t>.</a:t>
            </a:r>
            <a:endParaRPr lang="en" altLang="zh-CN" dirty="0">
              <a:solidFill>
                <a:srgbClr val="1A1C1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6BA5F2D-FFBD-1A96-E14D-EA3D5E71DD77}"/>
              </a:ext>
            </a:extLst>
          </p:cNvPr>
          <p:cNvSpPr txBox="1"/>
          <p:nvPr/>
        </p:nvSpPr>
        <p:spPr>
          <a:xfrm>
            <a:off x="78105" y="6495130"/>
            <a:ext cx="119012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14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Lu C, Lu C, Lange R T, et al. The ai scientist: Towards fully automated open-ended scientific discovery[J]. </a:t>
            </a:r>
            <a:r>
              <a:rPr lang="en" altLang="zh-CN" sz="1400" b="0" i="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" altLang="zh-CN" sz="14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preprint arXiv:2408.06292, 2024.</a:t>
            </a:r>
            <a:endParaRPr kumimoji="1"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22603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BDA78C-E453-DC84-81AF-2DF106E18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1">
            <a:extLst>
              <a:ext uri="{FF2B5EF4-FFF2-40B4-BE49-F238E27FC236}">
                <a16:creationId xmlns:a16="http://schemas.microsoft.com/office/drawing/2014/main" id="{8E6B2FC1-B14A-ED63-91F1-42D7D5C25767}"/>
              </a:ext>
            </a:extLst>
          </p:cNvPr>
          <p:cNvSpPr txBox="1"/>
          <p:nvPr/>
        </p:nvSpPr>
        <p:spPr>
          <a:xfrm>
            <a:off x="78105" y="196323"/>
            <a:ext cx="1203578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2.</a:t>
            </a:r>
            <a:r>
              <a:rPr lang="zh-CN" altLang="en-US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 </a:t>
            </a:r>
            <a:r>
              <a:rPr lang="en" altLang="zh-C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The AI Scientist</a:t>
            </a:r>
            <a:endParaRPr lang="en" altLang="zh-CN" sz="28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方正姚体" panose="02010601030101010101" pitchFamily="2" charset="-122"/>
              <a:cs typeface="Times New Roman" panose="02020603050405020304" pitchFamily="18" charset="0"/>
            </a:endParaRPr>
          </a:p>
          <a:p>
            <a:endParaRPr lang="en" altLang="zh-CN" sz="36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方正姚体" panose="02010601030101010101" pitchFamily="2" charset="-122"/>
              <a:cs typeface="Times New Roman" panose="02020603050405020304" pitchFamily="18" charset="0"/>
            </a:endParaRPr>
          </a:p>
          <a:p>
            <a:endParaRPr lang="en" altLang="zh-CN" sz="36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方正姚体" panose="02010601030101010101" pitchFamily="2" charset="-122"/>
              <a:cs typeface="Times New Roman" panose="02020603050405020304" pitchFamily="18" charset="0"/>
            </a:endParaRPr>
          </a:p>
          <a:p>
            <a:endParaRPr lang="en" altLang="zh-CN" sz="36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方正姚体" panose="02010601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0274766-8C9E-582D-4274-E7110EDD74F6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4950460" y="6518910"/>
            <a:ext cx="3693160" cy="29908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4DB71D0-6089-77FE-79E8-9FC2D0E13AAC}"/>
              </a:ext>
            </a:extLst>
          </p:cNvPr>
          <p:cNvSpPr txBox="1"/>
          <p:nvPr/>
        </p:nvSpPr>
        <p:spPr>
          <a:xfrm>
            <a:off x="78105" y="1034039"/>
            <a:ext cx="12035789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" altLang="zh-CN" sz="2400" b="1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Closing the Loop: Publication &amp; Peer Review</a:t>
            </a:r>
          </a:p>
          <a:p>
            <a:pPr marL="742950" lvl="1" indent="-285750">
              <a:buFont typeface="Wingdings" pitchFamily="2" charset="2"/>
              <a:buChar char="Ø"/>
            </a:pPr>
            <a:endParaRPr lang="en" altLang="zh-CN" sz="2400" b="1" dirty="0">
              <a:solidFill>
                <a:srgbClr val="1A1C1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endParaRPr lang="zh-CN" altLang="en-US" sz="2000" b="1" dirty="0">
              <a:solidFill>
                <a:srgbClr val="1A1C1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7152109-E315-CA65-4360-94B62B1966FF}"/>
              </a:ext>
            </a:extLst>
          </p:cNvPr>
          <p:cNvSpPr txBox="1"/>
          <p:nvPr/>
        </p:nvSpPr>
        <p:spPr>
          <a:xfrm>
            <a:off x="191385" y="1973780"/>
            <a:ext cx="5904614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sz="2000" b="1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3: Paper Write-up ✍️</a:t>
            </a:r>
            <a:endParaRPr lang="en-US" altLang="zh-CN" sz="2000" b="1" dirty="0">
              <a:solidFill>
                <a:srgbClr val="1A1C1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" altLang="zh-CN" i="1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Making discoveries human-interpretable..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" altLang="zh-CN" sz="2000" b="1" i="0" dirty="0">
              <a:solidFill>
                <a:srgbClr val="1A1C1E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buFont typeface="Wingdings" pitchFamily="2" charset="2"/>
              <a:buChar char="p"/>
            </a:pPr>
            <a:r>
              <a:rPr lang="en" altLang="zh-CN" b="1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Authors a Full Paper</a:t>
            </a:r>
            <a:r>
              <a:rPr lang="en" altLang="zh-CN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 Generates a structured LaTeX manuscript from experimental notes and figures.</a:t>
            </a:r>
          </a:p>
          <a:p>
            <a:pPr marL="800100" lvl="1" indent="-342900" algn="just">
              <a:buFont typeface="Wingdings" pitchFamily="2" charset="2"/>
              <a:buChar char="p"/>
            </a:pPr>
            <a:endParaRPr lang="en" altLang="zh-CN" dirty="0">
              <a:solidFill>
                <a:srgbClr val="1A1C1E"/>
              </a:solidFill>
              <a:latin typeface="Inter"/>
              <a:cs typeface="Times New Roman" panose="02020603050405020304" pitchFamily="18" charset="0"/>
            </a:endParaRPr>
          </a:p>
          <a:p>
            <a:pPr marL="800100" lvl="1" indent="-342900" algn="just">
              <a:buFont typeface="Wingdings" pitchFamily="2" charset="2"/>
              <a:buChar char="p"/>
            </a:pPr>
            <a:r>
              <a:rPr lang="en" altLang="zh-CN" b="1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Ensures Authenticity</a:t>
            </a:r>
            <a:r>
              <a:rPr lang="en" altLang="zh-CN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 Uses web search to find and cite real references with </a:t>
            </a:r>
            <a:r>
              <a:rPr lang="en" altLang="zh-CN" dirty="0" err="1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BibTeX</a:t>
            </a:r>
            <a:r>
              <a:rPr lang="en" altLang="zh-CN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entries.</a:t>
            </a:r>
            <a:endParaRPr lang="en" altLang="zh-CN" sz="2000" b="1" dirty="0">
              <a:solidFill>
                <a:srgbClr val="1A1C1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buFont typeface="Wingdings" pitchFamily="2" charset="2"/>
              <a:buChar char="p"/>
            </a:pPr>
            <a:endParaRPr lang="en" altLang="zh-CN" sz="2000" b="1" dirty="0">
              <a:solidFill>
                <a:srgbClr val="1A1C1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buFont typeface="Wingdings" pitchFamily="2" charset="2"/>
              <a:buChar char="p"/>
            </a:pPr>
            <a:r>
              <a:rPr lang="en" altLang="zh-CN" b="1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Auto-Formats</a:t>
            </a:r>
            <a:r>
              <a:rPr lang="en" altLang="zh-CN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 Compiles the LaTeX and automatically fixes linter errors for a clean PDF output.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BFF5136-FBF5-95AA-08A1-FA80DB00B9CF}"/>
              </a:ext>
            </a:extLst>
          </p:cNvPr>
          <p:cNvSpPr txBox="1"/>
          <p:nvPr/>
        </p:nvSpPr>
        <p:spPr>
          <a:xfrm>
            <a:off x="6209280" y="1973779"/>
            <a:ext cx="5904614" cy="4001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sz="2000" b="1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4: Automated Reviewing </a:t>
            </a:r>
            <a:r>
              <a:rPr lang="zh-CN" altLang="en-US" sz="2000" b="1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🔍</a:t>
            </a:r>
            <a:endParaRPr lang="en" altLang="zh-CN" sz="2000" b="1" dirty="0">
              <a:solidFill>
                <a:srgbClr val="1A1C1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" altLang="zh-CN" i="1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Enabling iterative self-improvement.</a:t>
            </a:r>
          </a:p>
          <a:p>
            <a:pPr lvl="1"/>
            <a:endParaRPr lang="en" altLang="zh-CN" i="1" dirty="0">
              <a:solidFill>
                <a:srgbClr val="1A1C1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buFont typeface="Wingdings" pitchFamily="2" charset="2"/>
              <a:buChar char="p"/>
            </a:pPr>
            <a:r>
              <a:rPr lang="en" altLang="zh-CN" b="1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Simulates Peer Review</a:t>
            </a:r>
            <a:r>
              <a:rPr lang="en" altLang="zh-CN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 An LLM agent (GPT-4o) evaluates the paper based on top conference criteria (e.g., </a:t>
            </a:r>
            <a:r>
              <a:rPr lang="en" altLang="zh-CN" dirty="0" err="1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NeurIPS</a:t>
            </a:r>
            <a:r>
              <a:rPr lang="en" altLang="zh-CN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lvl="1" algn="just"/>
            <a:endParaRPr lang="en" altLang="zh-CN" b="1" i="0" dirty="0">
              <a:solidFill>
                <a:srgbClr val="1A1C1E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buFont typeface="Wingdings" pitchFamily="2" charset="2"/>
              <a:buChar char="p"/>
            </a:pPr>
            <a:r>
              <a:rPr lang="en" altLang="zh-CN" b="1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Provides Scores &amp; Feedback</a:t>
            </a:r>
            <a:r>
              <a:rPr lang="en" altLang="zh-CN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 Gives ratings for soundness, contribution, and provides a list of strengths/weaknesses.</a:t>
            </a:r>
          </a:p>
          <a:p>
            <a:pPr marL="800100" lvl="1" indent="-342900" algn="just">
              <a:buFont typeface="Wingdings" pitchFamily="2" charset="2"/>
              <a:buChar char="p"/>
            </a:pPr>
            <a:endParaRPr lang="en" altLang="zh-CN" dirty="0">
              <a:solidFill>
                <a:srgbClr val="1A1C1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buFont typeface="Wingdings" pitchFamily="2" charset="2"/>
              <a:buChar char="p"/>
            </a:pPr>
            <a:r>
              <a:rPr lang="en" altLang="zh-CN" b="1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Guides Future Research</a:t>
            </a:r>
            <a:r>
              <a:rPr lang="en" altLang="zh-CN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 The review serves as critical feedback to inform the next cycle of idea generation.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DDF8493-00C8-C735-D06F-28C0ED271680}"/>
              </a:ext>
            </a:extLst>
          </p:cNvPr>
          <p:cNvSpPr txBox="1"/>
          <p:nvPr/>
        </p:nvSpPr>
        <p:spPr>
          <a:xfrm>
            <a:off x="78105" y="6495130"/>
            <a:ext cx="119012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14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Lu C, Lu C, Lange R T, et al. The ai scientist: Towards fully automated open-ended scientific discovery[J]. </a:t>
            </a:r>
            <a:r>
              <a:rPr lang="en" altLang="zh-CN" sz="1400" b="0" i="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" altLang="zh-CN" sz="14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preprint arXiv:2408.06292, 2024.</a:t>
            </a:r>
            <a:endParaRPr kumimoji="1"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59924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5C19A-EE38-D2F8-5238-1C0ACC632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1">
            <a:extLst>
              <a:ext uri="{FF2B5EF4-FFF2-40B4-BE49-F238E27FC236}">
                <a16:creationId xmlns:a16="http://schemas.microsoft.com/office/drawing/2014/main" id="{25DFE9D3-5625-651C-9D4B-830618B27BE4}"/>
              </a:ext>
            </a:extLst>
          </p:cNvPr>
          <p:cNvSpPr txBox="1"/>
          <p:nvPr/>
        </p:nvSpPr>
        <p:spPr>
          <a:xfrm>
            <a:off x="78105" y="196323"/>
            <a:ext cx="1203578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2.</a:t>
            </a:r>
            <a:r>
              <a:rPr lang="zh-CN" altLang="en-US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 </a:t>
            </a:r>
            <a:r>
              <a:rPr lang="en" altLang="zh-C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The AI Scientist</a:t>
            </a:r>
            <a:endParaRPr lang="en" altLang="zh-CN" sz="28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方正姚体" panose="02010601030101010101" pitchFamily="2" charset="-122"/>
              <a:cs typeface="Times New Roman" panose="02020603050405020304" pitchFamily="18" charset="0"/>
            </a:endParaRPr>
          </a:p>
          <a:p>
            <a:endParaRPr lang="en" altLang="zh-CN" sz="36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方正姚体" panose="02010601030101010101" pitchFamily="2" charset="-122"/>
              <a:cs typeface="Times New Roman" panose="02020603050405020304" pitchFamily="18" charset="0"/>
            </a:endParaRPr>
          </a:p>
          <a:p>
            <a:endParaRPr lang="en" altLang="zh-CN" sz="36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方正姚体" panose="02010601030101010101" pitchFamily="2" charset="-122"/>
              <a:cs typeface="Times New Roman" panose="02020603050405020304" pitchFamily="18" charset="0"/>
            </a:endParaRPr>
          </a:p>
          <a:p>
            <a:endParaRPr lang="en" altLang="zh-CN" sz="36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方正姚体" panose="02010601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3DDE71F-5E28-07B0-F3D1-4EBA82D4FDCB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4950460" y="6518910"/>
            <a:ext cx="3693160" cy="29908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C1F9A69-0C86-3FDA-1D2B-5CE9E732C614}"/>
              </a:ext>
            </a:extLst>
          </p:cNvPr>
          <p:cNvSpPr txBox="1"/>
          <p:nvPr/>
        </p:nvSpPr>
        <p:spPr>
          <a:xfrm>
            <a:off x="78105" y="1034039"/>
            <a:ext cx="12035789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" altLang="zh-CN" sz="2400" b="1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Setup &amp; Evaluation</a:t>
            </a:r>
          </a:p>
          <a:p>
            <a:pPr marL="285750" indent="-285750">
              <a:buFont typeface="Wingdings" pitchFamily="2" charset="2"/>
              <a:buChar char="Ø"/>
            </a:pPr>
            <a:endParaRPr lang="en" altLang="zh-CN" sz="2400" b="1" dirty="0">
              <a:solidFill>
                <a:srgbClr val="1A1C1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Wingdings" pitchFamily="2" charset="2"/>
              <a:buChar char="Ø"/>
            </a:pPr>
            <a:endParaRPr lang="en" altLang="zh-CN" sz="2400" b="1" dirty="0">
              <a:solidFill>
                <a:srgbClr val="1A1C1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endParaRPr lang="zh-CN" altLang="en-US" sz="2000" b="1" dirty="0">
              <a:solidFill>
                <a:srgbClr val="1A1C1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2F7A2EB-00B8-3058-46A9-BFE310ECF869}"/>
              </a:ext>
            </a:extLst>
          </p:cNvPr>
          <p:cNvSpPr txBox="1"/>
          <p:nvPr/>
        </p:nvSpPr>
        <p:spPr>
          <a:xfrm>
            <a:off x="78105" y="6495130"/>
            <a:ext cx="119012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14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Lu C, Lu C, Lange R T, et al. The ai scientist: Towards fully automated open-ended scientific discovery[J]. </a:t>
            </a:r>
            <a:r>
              <a:rPr lang="en" altLang="zh-CN" sz="1400" b="0" i="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" altLang="zh-CN" sz="14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preprint arXiv:2408.06292, 2024.</a:t>
            </a:r>
            <a:endParaRPr kumimoji="1"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DCFADA9-6A2A-A707-E324-86EDF619A268}"/>
              </a:ext>
            </a:extLst>
          </p:cNvPr>
          <p:cNvSpPr txBox="1"/>
          <p:nvPr/>
        </p:nvSpPr>
        <p:spPr>
          <a:xfrm>
            <a:off x="191385" y="1973780"/>
            <a:ext cx="5904614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sz="2000" b="1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Domains </a:t>
            </a:r>
            <a:r>
              <a:rPr lang="zh-CN" altLang="en-US" sz="2000" b="1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🧪</a:t>
            </a:r>
            <a:endParaRPr lang="en-US" altLang="zh-CN" sz="2000" b="1" dirty="0">
              <a:solidFill>
                <a:srgbClr val="1A1C1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" altLang="zh-CN" i="1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Testing for versatility across three distinct research areas:</a:t>
            </a:r>
          </a:p>
          <a:p>
            <a:pPr lvl="1"/>
            <a:endParaRPr lang="en" altLang="zh-CN" sz="2000" b="1" i="0" dirty="0">
              <a:solidFill>
                <a:srgbClr val="1A1C1E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buFont typeface="Wingdings" pitchFamily="2" charset="2"/>
              <a:buChar char="p"/>
            </a:pPr>
            <a:r>
              <a:rPr lang="en" altLang="zh-CN" b="1" i="0" dirty="0">
                <a:solidFill>
                  <a:srgbClr val="1A1C1E"/>
                </a:solidFill>
                <a:effectLst/>
                <a:latin typeface="Inter"/>
              </a:rPr>
              <a:t>Diffusion Modeling</a:t>
            </a:r>
            <a:r>
              <a:rPr lang="en-US" altLang="zh-CN" b="1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" altLang="zh-CN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Innovating on </a:t>
            </a:r>
            <a:r>
              <a:rPr lang="en" altLang="zh-CN" i="1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tiny-diffusion</a:t>
            </a:r>
            <a:r>
              <a:rPr lang="en" altLang="zh-CN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repository for 2D image generation (shapes, dinosaurs, etc.).</a:t>
            </a:r>
            <a:endParaRPr lang="en-US" altLang="zh-CN" dirty="0">
              <a:solidFill>
                <a:srgbClr val="1A1C1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endParaRPr lang="en" altLang="zh-CN" dirty="0">
              <a:solidFill>
                <a:srgbClr val="1A1C1E"/>
              </a:solidFill>
              <a:latin typeface="Inter"/>
              <a:cs typeface="Times New Roman" panose="02020603050405020304" pitchFamily="18" charset="0"/>
            </a:endParaRPr>
          </a:p>
          <a:p>
            <a:pPr marL="800100" lvl="1" indent="-342900" algn="just">
              <a:buFont typeface="Wingdings" pitchFamily="2" charset="2"/>
              <a:buChar char="p"/>
            </a:pPr>
            <a:r>
              <a:rPr lang="en" altLang="zh-CN" b="1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Language Modeling: </a:t>
            </a:r>
            <a:r>
              <a:rPr lang="en" altLang="zh-CN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Character-level text generation based on the </a:t>
            </a:r>
            <a:r>
              <a:rPr lang="en" altLang="zh-CN" i="1" dirty="0" err="1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NanoGPT</a:t>
            </a:r>
            <a:r>
              <a:rPr lang="en" altLang="zh-CN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framework.</a:t>
            </a:r>
          </a:p>
          <a:p>
            <a:pPr lvl="1" algn="just"/>
            <a:endParaRPr lang="en" altLang="zh-CN" sz="2000" b="1" dirty="0">
              <a:solidFill>
                <a:srgbClr val="1A1C1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buFont typeface="Wingdings" pitchFamily="2" charset="2"/>
              <a:buChar char="p"/>
            </a:pPr>
            <a:r>
              <a:rPr lang="en" altLang="zh-CN" b="1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Grokking Analysis</a:t>
            </a:r>
            <a:r>
              <a:rPr lang="en" altLang="zh-CN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 Replicating and exploring modular arithmetic phenomena.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061A178-963F-2675-6C64-0B278399EE34}"/>
              </a:ext>
            </a:extLst>
          </p:cNvPr>
          <p:cNvSpPr txBox="1"/>
          <p:nvPr/>
        </p:nvSpPr>
        <p:spPr>
          <a:xfrm>
            <a:off x="6209280" y="1973779"/>
            <a:ext cx="5904614" cy="4001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sz="2000" b="1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Metrics </a:t>
            </a:r>
            <a:r>
              <a:rPr lang="zh-CN" altLang="en-US" sz="2000" b="1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📊</a:t>
            </a:r>
            <a:endParaRPr lang="en" altLang="zh-CN" sz="2000" b="1" dirty="0">
              <a:solidFill>
                <a:srgbClr val="1A1C1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" altLang="zh-CN" i="1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two-level approach to measure performance:</a:t>
            </a:r>
          </a:p>
          <a:p>
            <a:pPr lvl="1"/>
            <a:endParaRPr lang="en" altLang="zh-CN" i="1" dirty="0">
              <a:solidFill>
                <a:srgbClr val="1A1C1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buFont typeface="Wingdings" pitchFamily="2" charset="2"/>
              <a:buChar char="p"/>
            </a:pPr>
            <a:r>
              <a:rPr lang="en" altLang="zh-CN" b="1" dirty="0">
                <a:solidFill>
                  <a:srgbClr val="1A1C1E"/>
                </a:solidFill>
                <a:latin typeface="Inter"/>
              </a:rPr>
              <a:t>For the Generated Papers</a:t>
            </a:r>
            <a:r>
              <a:rPr lang="en" altLang="zh-CN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 </a:t>
            </a:r>
          </a:p>
          <a:p>
            <a:pPr marL="1257300" lvl="2" indent="-342900" algn="just">
              <a:buFont typeface="Wingdings" pitchFamily="2" charset="2"/>
              <a:buChar char="ü"/>
            </a:pPr>
            <a:r>
              <a:rPr lang="en" altLang="zh-CN" b="1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Primary Metric</a:t>
            </a:r>
            <a:r>
              <a:rPr lang="en" altLang="zh-CN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 Automated Reviewer Score (on a 2-6 </a:t>
            </a:r>
            <a:r>
              <a:rPr lang="en" altLang="zh-CN" dirty="0" err="1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NeurIPS</a:t>
            </a:r>
            <a:r>
              <a:rPr lang="en" altLang="zh-CN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scale).</a:t>
            </a:r>
          </a:p>
          <a:p>
            <a:pPr marL="1257300" lvl="2" indent="-342900" algn="just">
              <a:buFont typeface="Wingdings" pitchFamily="2" charset="2"/>
              <a:buChar char="ü"/>
            </a:pPr>
            <a:r>
              <a:rPr lang="en" altLang="zh-CN" b="1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 Metrics</a:t>
            </a:r>
            <a:r>
              <a:rPr lang="en" altLang="zh-CN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 # of Novel Ideas, % of Passed Experiments, #of Completed Papers, Total Cost.</a:t>
            </a:r>
          </a:p>
          <a:p>
            <a:pPr marL="1257300" lvl="2" indent="-342900" algn="just">
              <a:buFont typeface="Wingdings" pitchFamily="2" charset="2"/>
              <a:buChar char="p"/>
            </a:pPr>
            <a:endParaRPr lang="en" altLang="zh-CN" dirty="0">
              <a:solidFill>
                <a:srgbClr val="1A1C1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buFont typeface="Wingdings" pitchFamily="2" charset="2"/>
              <a:buChar char="p"/>
            </a:pPr>
            <a:r>
              <a:rPr lang="en" altLang="zh-CN" b="1" dirty="0">
                <a:solidFill>
                  <a:srgbClr val="1A1C1E"/>
                </a:solidFill>
                <a:latin typeface="Inter"/>
              </a:rPr>
              <a:t>For the Reviewer Agent Itself:</a:t>
            </a:r>
          </a:p>
          <a:p>
            <a:pPr marL="1257300" lvl="2" indent="-342900" algn="just">
              <a:buFont typeface="Wingdings" pitchFamily="2" charset="2"/>
              <a:buChar char="ü"/>
            </a:pPr>
            <a:r>
              <a:rPr lang="en" altLang="zh-CN" b="1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Validation</a:t>
            </a:r>
            <a:r>
              <a:rPr lang="en" altLang="zh-CN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 Tested on the ICLR 2022 </a:t>
            </a:r>
            <a:r>
              <a:rPr lang="en" altLang="zh-CN" dirty="0" err="1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OpenReview</a:t>
            </a:r>
            <a:r>
              <a:rPr lang="en" altLang="zh-CN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dataset.</a:t>
            </a:r>
          </a:p>
          <a:p>
            <a:pPr marL="1257300" lvl="2" indent="-342900" algn="just">
              <a:buFont typeface="Wingdings" pitchFamily="2" charset="2"/>
              <a:buChar char="ü"/>
            </a:pPr>
            <a:r>
              <a:rPr lang="en" altLang="zh-CN" b="1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Metrics</a:t>
            </a:r>
            <a:r>
              <a:rPr lang="en" altLang="zh-CN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 Balanced Accuracy, F1 Score, AUC to ensure its reliability.</a:t>
            </a:r>
          </a:p>
        </p:txBody>
      </p:sp>
    </p:spTree>
    <p:extLst>
      <p:ext uri="{BB962C8B-B14F-4D97-AF65-F5344CB8AC3E}">
        <p14:creationId xmlns:p14="http://schemas.microsoft.com/office/powerpoint/2010/main" val="27342066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690730-1F00-3525-9985-BD300FFFF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1">
            <a:extLst>
              <a:ext uri="{FF2B5EF4-FFF2-40B4-BE49-F238E27FC236}">
                <a16:creationId xmlns:a16="http://schemas.microsoft.com/office/drawing/2014/main" id="{36857C4C-79B5-8AA8-26EC-151082531D01}"/>
              </a:ext>
            </a:extLst>
          </p:cNvPr>
          <p:cNvSpPr txBox="1"/>
          <p:nvPr/>
        </p:nvSpPr>
        <p:spPr>
          <a:xfrm>
            <a:off x="78105" y="196323"/>
            <a:ext cx="1203578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2.</a:t>
            </a:r>
            <a:r>
              <a:rPr lang="zh-CN" altLang="en-US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 </a:t>
            </a:r>
            <a:r>
              <a:rPr lang="en" altLang="zh-C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The AI Scientist</a:t>
            </a:r>
            <a:endParaRPr lang="en" altLang="zh-CN" sz="28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方正姚体" panose="02010601030101010101" pitchFamily="2" charset="-122"/>
              <a:cs typeface="Times New Roman" panose="02020603050405020304" pitchFamily="18" charset="0"/>
            </a:endParaRPr>
          </a:p>
          <a:p>
            <a:endParaRPr lang="en" altLang="zh-CN" sz="36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方正姚体" panose="02010601030101010101" pitchFamily="2" charset="-122"/>
              <a:cs typeface="Times New Roman" panose="02020603050405020304" pitchFamily="18" charset="0"/>
            </a:endParaRPr>
          </a:p>
          <a:p>
            <a:endParaRPr lang="en" altLang="zh-CN" sz="36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方正姚体" panose="02010601030101010101" pitchFamily="2" charset="-122"/>
              <a:cs typeface="Times New Roman" panose="02020603050405020304" pitchFamily="18" charset="0"/>
            </a:endParaRPr>
          </a:p>
          <a:p>
            <a:endParaRPr lang="en" altLang="zh-CN" sz="36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方正姚体" panose="02010601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2D76550-9798-07D0-9996-8D937D87875A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4950460" y="6518910"/>
            <a:ext cx="3693160" cy="29908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FF69A87-C6BD-2203-5F5D-706E3BEB8984}"/>
              </a:ext>
            </a:extLst>
          </p:cNvPr>
          <p:cNvSpPr txBox="1"/>
          <p:nvPr/>
        </p:nvSpPr>
        <p:spPr>
          <a:xfrm>
            <a:off x="78105" y="1034039"/>
            <a:ext cx="12035789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" altLang="zh-CN" sz="2400" b="1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Results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" altLang="zh-CN" sz="2000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framework </a:t>
            </a:r>
            <a:r>
              <a:rPr lang="en" altLang="zh-CN" sz="2000" b="1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and autonomously </a:t>
            </a:r>
            <a:r>
              <a:rPr lang="en" altLang="zh-CN" sz="2000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generated hundreds of medium-quality scientific papers, proving the feasibility of fully automated research.</a:t>
            </a:r>
          </a:p>
          <a:p>
            <a:pPr marL="285750" indent="-285750">
              <a:buFont typeface="Wingdings" pitchFamily="2" charset="2"/>
              <a:buChar char="Ø"/>
            </a:pPr>
            <a:endParaRPr lang="en" altLang="zh-CN" sz="2400" b="1" dirty="0">
              <a:solidFill>
                <a:srgbClr val="1A1C1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Wingdings" pitchFamily="2" charset="2"/>
              <a:buChar char="Ø"/>
            </a:pPr>
            <a:endParaRPr lang="en" altLang="zh-CN" sz="2400" b="1" dirty="0">
              <a:solidFill>
                <a:srgbClr val="1A1C1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endParaRPr lang="zh-CN" altLang="en-US" sz="2000" b="1" dirty="0">
              <a:solidFill>
                <a:srgbClr val="1A1C1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2D047A8-5335-CB2E-773F-A8D0F84CAA36}"/>
              </a:ext>
            </a:extLst>
          </p:cNvPr>
          <p:cNvSpPr txBox="1"/>
          <p:nvPr/>
        </p:nvSpPr>
        <p:spPr>
          <a:xfrm>
            <a:off x="78105" y="6495130"/>
            <a:ext cx="119012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14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Lu C, Lu C, Lange R T, et al. The ai scientist: Towards fully automated open-ended scientific discovery[J]. </a:t>
            </a:r>
            <a:r>
              <a:rPr lang="en" altLang="zh-CN" sz="1400" b="0" i="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" altLang="zh-CN" sz="14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preprint arXiv:2408.06292, 2024.</a:t>
            </a:r>
            <a:endParaRPr kumimoji="1"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417326F-D6AC-CD24-3317-5FAAF9FBE9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294" y="2095869"/>
            <a:ext cx="6766081" cy="1589347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9FC240B2-76DE-3FA2-7BEC-72B34B8E24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294" y="3700304"/>
            <a:ext cx="6766081" cy="155510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B0E7B22F-EA3B-92E6-5365-5AF0815BD23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5294" y="5255411"/>
            <a:ext cx="6766081" cy="1532291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E447601D-17D6-0F1B-501B-353C9179AFC7}"/>
              </a:ext>
            </a:extLst>
          </p:cNvPr>
          <p:cNvSpPr txBox="1"/>
          <p:nvPr/>
        </p:nvSpPr>
        <p:spPr>
          <a:xfrm>
            <a:off x="7221376" y="2551283"/>
            <a:ext cx="4970624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" altLang="zh-CN" sz="2000" b="1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Scalable Production</a:t>
            </a:r>
          </a:p>
          <a:p>
            <a:pPr marL="742950" lvl="1" indent="-285750" algn="just">
              <a:buFont typeface="Wingdings" pitchFamily="2" charset="2"/>
              <a:buChar char="p"/>
            </a:pPr>
            <a:r>
              <a:rPr lang="en" altLang="zh-CN" b="0" i="0" dirty="0">
                <a:solidFill>
                  <a:srgbClr val="1A1C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Capable of generating a high volume of complete research papers.</a:t>
            </a:r>
          </a:p>
          <a:p>
            <a:pPr marL="285750" indent="-285750" algn="just">
              <a:buFont typeface="Wingdings" pitchFamily="2" charset="2"/>
              <a:buChar char="p"/>
            </a:pPr>
            <a:endParaRPr lang="en" altLang="zh-CN" dirty="0">
              <a:solidFill>
                <a:srgbClr val="1A1C1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" altLang="zh-CN" sz="2000" b="1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Remarkable Affordability</a:t>
            </a:r>
          </a:p>
          <a:p>
            <a:pPr marL="800100" lvl="1" indent="-342900" algn="just">
              <a:buFont typeface="Wingdings" pitchFamily="2" charset="2"/>
              <a:buChar char="p"/>
            </a:pPr>
            <a:r>
              <a:rPr lang="en" altLang="zh-CN" b="1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~$10-15 USD </a:t>
            </a:r>
            <a:r>
              <a:rPr lang="en" altLang="zh-CN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 paper.</a:t>
            </a:r>
          </a:p>
          <a:p>
            <a:pPr marL="800100" lvl="1" indent="-342900" algn="just">
              <a:buFont typeface="Wingdings" pitchFamily="2" charset="2"/>
              <a:buChar char="p"/>
            </a:pPr>
            <a:endParaRPr lang="en" altLang="zh-CN" dirty="0">
              <a:solidFill>
                <a:srgbClr val="1A1C1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" altLang="zh-CN" sz="2000" b="1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End-to-End Success</a:t>
            </a:r>
          </a:p>
          <a:p>
            <a:pPr marL="800100" lvl="1" indent="-342900" algn="just">
              <a:buFont typeface="Wingdings" pitchFamily="2" charset="2"/>
              <a:buChar char="p"/>
            </a:pPr>
            <a:r>
              <a:rPr lang="en" altLang="zh-CN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Demonstrates the first successful integration of the entire research lifecycle.</a:t>
            </a:r>
            <a:endParaRPr lang="zh-CN" altLang="en-US" dirty="0">
              <a:solidFill>
                <a:srgbClr val="1A1C1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12712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4DEE6F-577E-9F10-234E-4140C352E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1">
            <a:extLst>
              <a:ext uri="{FF2B5EF4-FFF2-40B4-BE49-F238E27FC236}">
                <a16:creationId xmlns:a16="http://schemas.microsoft.com/office/drawing/2014/main" id="{3F231BD7-4791-C6CC-6721-285D3690CEBA}"/>
              </a:ext>
            </a:extLst>
          </p:cNvPr>
          <p:cNvSpPr txBox="1"/>
          <p:nvPr/>
        </p:nvSpPr>
        <p:spPr>
          <a:xfrm>
            <a:off x="78105" y="196323"/>
            <a:ext cx="1203578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2.</a:t>
            </a:r>
            <a:r>
              <a:rPr lang="zh-CN" altLang="en-US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 </a:t>
            </a:r>
            <a:r>
              <a:rPr lang="en" altLang="zh-C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The AI Scientist</a:t>
            </a:r>
            <a:endParaRPr lang="en" altLang="zh-CN" sz="28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方正姚体" panose="02010601030101010101" pitchFamily="2" charset="-122"/>
              <a:cs typeface="Times New Roman" panose="02020603050405020304" pitchFamily="18" charset="0"/>
            </a:endParaRPr>
          </a:p>
          <a:p>
            <a:endParaRPr lang="en" altLang="zh-CN" sz="36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方正姚体" panose="02010601030101010101" pitchFamily="2" charset="-122"/>
              <a:cs typeface="Times New Roman" panose="02020603050405020304" pitchFamily="18" charset="0"/>
            </a:endParaRPr>
          </a:p>
          <a:p>
            <a:endParaRPr lang="en" altLang="zh-CN" sz="36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方正姚体" panose="02010601030101010101" pitchFamily="2" charset="-122"/>
              <a:cs typeface="Times New Roman" panose="02020603050405020304" pitchFamily="18" charset="0"/>
            </a:endParaRPr>
          </a:p>
          <a:p>
            <a:endParaRPr lang="en" altLang="zh-CN" sz="36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方正姚体" panose="02010601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9195CD7-AF96-C2D4-599C-7B486CAC98BC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4950460" y="6518910"/>
            <a:ext cx="3693160" cy="29908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25D797E-6E72-9127-6B73-2C25A6D4EBAA}"/>
              </a:ext>
            </a:extLst>
          </p:cNvPr>
          <p:cNvSpPr txBox="1"/>
          <p:nvPr/>
        </p:nvSpPr>
        <p:spPr>
          <a:xfrm>
            <a:off x="78105" y="1034039"/>
            <a:ext cx="1203578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" altLang="zh-CN" sz="2400" b="1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Results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" altLang="zh-CN" sz="2000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LLM Performance: </a:t>
            </a:r>
            <a:r>
              <a:rPr lang="en" altLang="zh-CN" sz="2000" b="1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Claude 3.5 Sonne</a:t>
            </a:r>
            <a:r>
              <a:rPr lang="en" altLang="zh-CN" sz="2000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 Leads the Pack</a:t>
            </a:r>
          </a:p>
          <a:p>
            <a:pPr marL="742950" lvl="1" indent="-285750">
              <a:buFont typeface="Wingdings" pitchFamily="2" charset="2"/>
              <a:buChar char="Ø"/>
            </a:pPr>
            <a:endParaRPr lang="en" altLang="zh-CN" sz="2400" b="1" dirty="0">
              <a:solidFill>
                <a:srgbClr val="1A1C1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endParaRPr lang="zh-CN" altLang="en-US" sz="2000" b="1" dirty="0">
              <a:solidFill>
                <a:srgbClr val="1A1C1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F68F24B-9B29-F3D2-6670-8551F6969DBB}"/>
              </a:ext>
            </a:extLst>
          </p:cNvPr>
          <p:cNvSpPr txBox="1"/>
          <p:nvPr/>
        </p:nvSpPr>
        <p:spPr>
          <a:xfrm>
            <a:off x="78105" y="6495130"/>
            <a:ext cx="119012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14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Lu C, Lu C, Lange R T, et al. The ai scientist: Towards fully automated open-ended scientific discovery[J]. </a:t>
            </a:r>
            <a:r>
              <a:rPr lang="en" altLang="zh-CN" sz="1400" b="0" i="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" altLang="zh-CN" sz="14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preprint arXiv:2408.06292, 2024.</a:t>
            </a:r>
            <a:endParaRPr kumimoji="1"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6A8EB2F-3915-24AC-D476-9E17464F84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165" y="2058970"/>
            <a:ext cx="8271809" cy="3764991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08FF7C32-D07E-1BC9-3E95-6577E6FA07FD}"/>
              </a:ext>
            </a:extLst>
          </p:cNvPr>
          <p:cNvSpPr txBox="1"/>
          <p:nvPr/>
        </p:nvSpPr>
        <p:spPr>
          <a:xfrm>
            <a:off x="8247387" y="2043882"/>
            <a:ext cx="399409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" altLang="zh-CN" sz="2000" b="1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1st Place: </a:t>
            </a:r>
            <a:r>
              <a:rPr lang="zh-CN" altLang="en-US" sz="2000" b="1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🏆 </a:t>
            </a:r>
            <a:r>
              <a:rPr lang="en" altLang="zh-CN" sz="2000" b="1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Claude 3.5 Sonnet</a:t>
            </a:r>
          </a:p>
          <a:p>
            <a:pPr marL="742950" lvl="1" indent="-285750" algn="just">
              <a:buFont typeface="Wingdings" pitchFamily="2" charset="2"/>
              <a:buChar char="p"/>
            </a:pPr>
            <a:r>
              <a:rPr lang="en" altLang="zh-CN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Achieved the highest paper quality, receiving the best scores from the automated reviewer.</a:t>
            </a:r>
          </a:p>
          <a:p>
            <a:pPr lvl="1" algn="just"/>
            <a:endParaRPr lang="en" altLang="zh-CN" dirty="0">
              <a:solidFill>
                <a:srgbClr val="1A1C1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" altLang="zh-CN" sz="2000" b="1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2nd Place: GPT-4o</a:t>
            </a:r>
          </a:p>
          <a:p>
            <a:pPr marL="800100" lvl="1" indent="-342900" algn="just">
              <a:buFont typeface="Wingdings" pitchFamily="2" charset="2"/>
              <a:buChar char="p"/>
            </a:pPr>
            <a:r>
              <a:rPr lang="en" altLang="zh-CN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strong performer, but consistently struggled with LaTeX compilation errors.</a:t>
            </a:r>
          </a:p>
          <a:p>
            <a:pPr marL="800100" lvl="1" indent="-342900" algn="just">
              <a:buFont typeface="Wingdings" pitchFamily="2" charset="2"/>
              <a:buChar char="p"/>
            </a:pPr>
            <a:endParaRPr lang="en" altLang="zh-CN" dirty="0">
              <a:solidFill>
                <a:srgbClr val="1A1C1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" altLang="zh-CN" sz="2000" b="1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Trailing: Open-Weight Models</a:t>
            </a:r>
          </a:p>
          <a:p>
            <a:pPr marL="742950" lvl="1" indent="-285750" algn="just">
              <a:buFont typeface="Wingdings" pitchFamily="2" charset="2"/>
              <a:buChar char="p"/>
            </a:pPr>
            <a:r>
              <a:rPr lang="en" altLang="zh-CN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Performed relatively poorly on this complex, multi-step task.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79BC673-21AE-ACC6-8E95-A6228E430B47}"/>
              </a:ext>
            </a:extLst>
          </p:cNvPr>
          <p:cNvSpPr txBox="1"/>
          <p:nvPr/>
        </p:nvSpPr>
        <p:spPr>
          <a:xfrm>
            <a:off x="425302" y="6039292"/>
            <a:ext cx="115540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" altLang="zh-CN" sz="2000" b="1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r>
              <a:rPr lang="en" altLang="zh-CN" sz="2000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 The choice of the foundational LLM is critical to the quality of the final scientific output.</a:t>
            </a:r>
            <a:endParaRPr lang="zh-CN" altLang="en-US" sz="2000" dirty="0">
              <a:solidFill>
                <a:srgbClr val="1A1C1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73058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8EA50-2248-B3CD-1F87-6CFAFAB93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1">
            <a:extLst>
              <a:ext uri="{FF2B5EF4-FFF2-40B4-BE49-F238E27FC236}">
                <a16:creationId xmlns:a16="http://schemas.microsoft.com/office/drawing/2014/main" id="{DB010B11-7A49-A2E5-4EBB-E78DFE3F36ED}"/>
              </a:ext>
            </a:extLst>
          </p:cNvPr>
          <p:cNvSpPr txBox="1"/>
          <p:nvPr/>
        </p:nvSpPr>
        <p:spPr>
          <a:xfrm>
            <a:off x="78105" y="196323"/>
            <a:ext cx="1203578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2.</a:t>
            </a:r>
            <a:r>
              <a:rPr lang="zh-CN" altLang="en-US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 </a:t>
            </a:r>
            <a:r>
              <a:rPr lang="en" altLang="zh-C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The AI Scientist</a:t>
            </a:r>
            <a:endParaRPr lang="en" altLang="zh-CN" sz="28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方正姚体" panose="02010601030101010101" pitchFamily="2" charset="-122"/>
              <a:cs typeface="Times New Roman" panose="02020603050405020304" pitchFamily="18" charset="0"/>
            </a:endParaRPr>
          </a:p>
          <a:p>
            <a:endParaRPr lang="en" altLang="zh-CN" sz="36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方正姚体" panose="02010601030101010101" pitchFamily="2" charset="-122"/>
              <a:cs typeface="Times New Roman" panose="02020603050405020304" pitchFamily="18" charset="0"/>
            </a:endParaRPr>
          </a:p>
          <a:p>
            <a:endParaRPr lang="en" altLang="zh-CN" sz="36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方正姚体" panose="02010601030101010101" pitchFamily="2" charset="-122"/>
              <a:cs typeface="Times New Roman" panose="02020603050405020304" pitchFamily="18" charset="0"/>
            </a:endParaRPr>
          </a:p>
          <a:p>
            <a:endParaRPr lang="en" altLang="zh-CN" sz="36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方正姚体" panose="02010601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AFC0E2B-B54E-C556-A7F5-BF249942CDCF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4950460" y="6518910"/>
            <a:ext cx="3693160" cy="29908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D5D5A59-5759-646D-E152-2C1B13073EBF}"/>
              </a:ext>
            </a:extLst>
          </p:cNvPr>
          <p:cNvSpPr txBox="1"/>
          <p:nvPr/>
        </p:nvSpPr>
        <p:spPr>
          <a:xfrm>
            <a:off x="78105" y="1034039"/>
            <a:ext cx="1203578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" altLang="zh-CN" sz="2400" b="1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Results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" altLang="zh-CN" sz="2000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Validation: Automated Reviewer Achieves Near-Human Performance</a:t>
            </a:r>
          </a:p>
          <a:p>
            <a:pPr marL="742950" lvl="1" indent="-285750">
              <a:buFont typeface="Wingdings" pitchFamily="2" charset="2"/>
              <a:buChar char="Ø"/>
            </a:pPr>
            <a:endParaRPr lang="en" altLang="zh-CN" sz="2400" b="1" dirty="0">
              <a:solidFill>
                <a:srgbClr val="1A1C1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endParaRPr lang="zh-CN" altLang="en-US" sz="2000" b="1" dirty="0">
              <a:solidFill>
                <a:srgbClr val="1A1C1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20F0C89-15AD-4648-DD7E-698DD55C292F}"/>
              </a:ext>
            </a:extLst>
          </p:cNvPr>
          <p:cNvSpPr txBox="1"/>
          <p:nvPr/>
        </p:nvSpPr>
        <p:spPr>
          <a:xfrm>
            <a:off x="78105" y="6495130"/>
            <a:ext cx="119012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14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Lu C, Lu C, Lange R T, et al. The ai scientist: Towards fully automated open-ended scientific discovery[J]. </a:t>
            </a:r>
            <a:r>
              <a:rPr lang="en" altLang="zh-CN" sz="1400" b="0" i="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" altLang="zh-CN" sz="14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preprint arXiv:2408.06292, 2024.</a:t>
            </a:r>
            <a:endParaRPr kumimoji="1"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639AB0D-0692-F098-4432-FA7F2662B0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1098" y="1804019"/>
            <a:ext cx="9492604" cy="4432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4867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5946B5-DD32-9E03-1CBB-165507F8D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1">
            <a:extLst>
              <a:ext uri="{FF2B5EF4-FFF2-40B4-BE49-F238E27FC236}">
                <a16:creationId xmlns:a16="http://schemas.microsoft.com/office/drawing/2014/main" id="{1EBCEC71-EB7F-5AC3-265B-C749325D90A5}"/>
              </a:ext>
            </a:extLst>
          </p:cNvPr>
          <p:cNvSpPr txBox="1"/>
          <p:nvPr/>
        </p:nvSpPr>
        <p:spPr>
          <a:xfrm>
            <a:off x="78105" y="196323"/>
            <a:ext cx="1203578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3.</a:t>
            </a:r>
            <a:r>
              <a:rPr lang="zh-CN" altLang="en-US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 </a:t>
            </a:r>
            <a:r>
              <a:rPr lang="en" altLang="zh-C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The AI Scientist-v2</a:t>
            </a:r>
            <a:endParaRPr lang="en" altLang="zh-CN" sz="28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方正姚体" panose="02010601030101010101" pitchFamily="2" charset="-122"/>
              <a:cs typeface="Times New Roman" panose="02020603050405020304" pitchFamily="18" charset="0"/>
            </a:endParaRPr>
          </a:p>
          <a:p>
            <a:endParaRPr lang="en" altLang="zh-CN" sz="36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方正姚体" panose="02010601030101010101" pitchFamily="2" charset="-122"/>
              <a:cs typeface="Times New Roman" panose="02020603050405020304" pitchFamily="18" charset="0"/>
            </a:endParaRPr>
          </a:p>
          <a:p>
            <a:endParaRPr lang="en" altLang="zh-CN" sz="36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方正姚体" panose="02010601030101010101" pitchFamily="2" charset="-122"/>
              <a:cs typeface="Times New Roman" panose="02020603050405020304" pitchFamily="18" charset="0"/>
            </a:endParaRPr>
          </a:p>
          <a:p>
            <a:endParaRPr lang="en" altLang="zh-CN" sz="36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方正姚体" panose="02010601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5D074DF-FD29-EBAD-CD42-12584227A042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4950460" y="6518910"/>
            <a:ext cx="3693160" cy="29908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0086166-5531-23B3-0089-4ADB2FDDCDEF}"/>
              </a:ext>
            </a:extLst>
          </p:cNvPr>
          <p:cNvSpPr txBox="1"/>
          <p:nvPr/>
        </p:nvSpPr>
        <p:spPr>
          <a:xfrm>
            <a:off x="78105" y="1034039"/>
            <a:ext cx="12035789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" altLang="zh-CN" sz="2400" b="1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 Limitations of The AI Scientist-v1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" altLang="zh-CN" sz="2000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While a significant first step, The AI Scientist-v1 was constrained by two fundamental limitations that hindered its autonomy and research depth:</a:t>
            </a:r>
          </a:p>
          <a:p>
            <a:pPr marL="1257300" lvl="2" indent="-342900" algn="just">
              <a:buFont typeface="Arial" panose="020B0604020202020204" pitchFamily="34" charset="0"/>
              <a:buChar char="•"/>
            </a:pPr>
            <a:endParaRPr lang="en" altLang="zh-CN" sz="2400" b="1" dirty="0">
              <a:solidFill>
                <a:srgbClr val="1A1C1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 algn="just">
              <a:buFont typeface="Wingdings" pitchFamily="2" charset="2"/>
              <a:buChar char="p"/>
            </a:pPr>
            <a:r>
              <a:rPr lang="en" altLang="zh-CN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Heavy Reliance on </a:t>
            </a:r>
            <a:r>
              <a:rPr lang="en" altLang="zh-CN" b="1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Human-Authored Code Templates</a:t>
            </a:r>
            <a:r>
              <a:rPr lang="en" altLang="zh-CN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1200150" lvl="2" indent="-285750" algn="just">
              <a:buFont typeface="Wingdings" pitchFamily="2" charset="2"/>
              <a:buChar char="ü"/>
            </a:pPr>
            <a:endParaRPr lang="en" altLang="zh-CN" dirty="0">
              <a:solidFill>
                <a:srgbClr val="1A1C1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57350" lvl="3" indent="-285750" algn="just">
              <a:buFont typeface="Wingdings" pitchFamily="2" charset="2"/>
              <a:buChar char="ü"/>
            </a:pPr>
            <a:r>
              <a:rPr lang="en" altLang="zh-CN" b="1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Problem</a:t>
            </a:r>
            <a:r>
              <a:rPr lang="en" altLang="zh-CN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Required manual effort to create new templates for each new research area.</a:t>
            </a:r>
          </a:p>
          <a:p>
            <a:pPr marL="1657350" lvl="3" indent="-285750" algn="just">
              <a:buFont typeface="Wingdings" pitchFamily="2" charset="2"/>
              <a:buChar char="ü"/>
            </a:pPr>
            <a:endParaRPr lang="en" altLang="zh-CN" dirty="0">
              <a:solidFill>
                <a:srgbClr val="1A1C1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57350" lvl="3" indent="-285750" algn="just">
              <a:buFont typeface="Wingdings" pitchFamily="2" charset="2"/>
              <a:buChar char="ü"/>
            </a:pPr>
            <a:r>
              <a:rPr lang="en" altLang="zh-CN" b="1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Impact</a:t>
            </a:r>
            <a:r>
              <a:rPr lang="en" altLang="zh-CN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Severely limited the system's autonomy and its out-of-the-box applicability across diverse scientific domains.</a:t>
            </a:r>
          </a:p>
          <a:p>
            <a:pPr marL="1200150" lvl="2" indent="-285750" algn="just">
              <a:buFont typeface="Wingdings" pitchFamily="2" charset="2"/>
              <a:buChar char="ü"/>
            </a:pPr>
            <a:endParaRPr lang="en" altLang="zh-CN" b="1" i="0" dirty="0">
              <a:solidFill>
                <a:srgbClr val="1A1C1E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 algn="just">
              <a:buFont typeface="Wingdings" pitchFamily="2" charset="2"/>
              <a:buChar char="p"/>
            </a:pPr>
            <a:r>
              <a:rPr lang="en" altLang="zh-CN" b="1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Linear and Shallow </a:t>
            </a:r>
            <a:r>
              <a:rPr lang="en" altLang="zh-CN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Experimentation Approach</a:t>
            </a:r>
          </a:p>
          <a:p>
            <a:pPr marL="1657350" lvl="3" indent="-285750" algn="just">
              <a:buFont typeface="Wingdings" pitchFamily="2" charset="2"/>
              <a:buChar char="p"/>
            </a:pPr>
            <a:endParaRPr lang="en" altLang="zh-CN" b="1" i="0" dirty="0">
              <a:solidFill>
                <a:srgbClr val="1A1C1E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57350" lvl="3" indent="-285750" algn="just">
              <a:buFont typeface="Wingdings" pitchFamily="2" charset="2"/>
              <a:buChar char="ü"/>
            </a:pPr>
            <a:r>
              <a:rPr lang="en" altLang="zh-CN" b="1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Problem</a:t>
            </a:r>
            <a:r>
              <a:rPr lang="en" altLang="zh-CN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The v1 workflow was strictly linear, lacking the flexibility for complex exploration.</a:t>
            </a:r>
          </a:p>
          <a:p>
            <a:pPr marL="1657350" lvl="3" indent="-285750" algn="just">
              <a:buFont typeface="Wingdings" pitchFamily="2" charset="2"/>
              <a:buChar char="ü"/>
            </a:pPr>
            <a:endParaRPr lang="en" altLang="zh-CN" dirty="0">
              <a:solidFill>
                <a:srgbClr val="1A1C1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57350" lvl="3" indent="-285750" algn="just">
              <a:buFont typeface="Wingdings" pitchFamily="2" charset="2"/>
              <a:buChar char="ü"/>
            </a:pPr>
            <a:r>
              <a:rPr lang="en" altLang="zh-CN" b="1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Impact</a:t>
            </a:r>
            <a:r>
              <a:rPr lang="en" altLang="zh-CN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Incapable of conducting deep, systematic, and parallelized explorations of complex scientific hypotheses.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68C00D1-18F3-8B75-584C-7B680359B166}"/>
              </a:ext>
            </a:extLst>
          </p:cNvPr>
          <p:cNvSpPr txBox="1"/>
          <p:nvPr/>
        </p:nvSpPr>
        <p:spPr>
          <a:xfrm>
            <a:off x="78105" y="6495130"/>
            <a:ext cx="11901242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13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Yamada Y, Lange R T, Lu C, et al. The ai scientist-v2: Workshop-level automated scientific discovery via agentic tree search[J]. </a:t>
            </a:r>
            <a:r>
              <a:rPr lang="en" altLang="zh-CN" sz="130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" altLang="zh-CN" sz="13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preprint arXiv:2504.08066, 2025.</a:t>
            </a:r>
            <a:endParaRPr lang="zh-CN" altLang="en-US" sz="130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75973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2119B9-6E41-23F2-4A61-67DBDB571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1">
            <a:extLst>
              <a:ext uri="{FF2B5EF4-FFF2-40B4-BE49-F238E27FC236}">
                <a16:creationId xmlns:a16="http://schemas.microsoft.com/office/drawing/2014/main" id="{CBED60A8-E02A-3A6A-F86B-9C0FED21E85A}"/>
              </a:ext>
            </a:extLst>
          </p:cNvPr>
          <p:cNvSpPr txBox="1"/>
          <p:nvPr/>
        </p:nvSpPr>
        <p:spPr>
          <a:xfrm>
            <a:off x="78105" y="196323"/>
            <a:ext cx="1203578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3.</a:t>
            </a:r>
            <a:r>
              <a:rPr lang="zh-CN" altLang="en-US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 </a:t>
            </a:r>
            <a:r>
              <a:rPr lang="en" altLang="zh-C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The AI Scientist-v2</a:t>
            </a:r>
            <a:endParaRPr lang="en" altLang="zh-CN" sz="28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方正姚体" panose="02010601030101010101" pitchFamily="2" charset="-122"/>
              <a:cs typeface="Times New Roman" panose="02020603050405020304" pitchFamily="18" charset="0"/>
            </a:endParaRPr>
          </a:p>
          <a:p>
            <a:endParaRPr lang="en" altLang="zh-CN" sz="36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方正姚体" panose="02010601030101010101" pitchFamily="2" charset="-122"/>
              <a:cs typeface="Times New Roman" panose="02020603050405020304" pitchFamily="18" charset="0"/>
            </a:endParaRPr>
          </a:p>
          <a:p>
            <a:endParaRPr lang="en" altLang="zh-CN" sz="36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方正姚体" panose="02010601030101010101" pitchFamily="2" charset="-122"/>
              <a:cs typeface="Times New Roman" panose="02020603050405020304" pitchFamily="18" charset="0"/>
            </a:endParaRPr>
          </a:p>
          <a:p>
            <a:endParaRPr lang="en" altLang="zh-CN" sz="36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方正姚体" panose="02010601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8F2FA39-9528-3563-DC6F-E0616B0EFE89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4950460" y="6518910"/>
            <a:ext cx="3693160" cy="29908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797DB43-C2DA-C378-2281-57C9A35D2C50}"/>
              </a:ext>
            </a:extLst>
          </p:cNvPr>
          <p:cNvSpPr txBox="1"/>
          <p:nvPr/>
        </p:nvSpPr>
        <p:spPr>
          <a:xfrm>
            <a:off x="78105" y="1034039"/>
            <a:ext cx="12035789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Ø"/>
            </a:pPr>
            <a:r>
              <a:rPr lang="en" altLang="zh-CN" sz="2400" b="1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V2's Breakthroughs: More Autonomous, Deeper, and More Refined</a:t>
            </a:r>
          </a:p>
          <a:p>
            <a:pPr marL="742950" lvl="1" indent="-285750" algn="just">
              <a:buFont typeface="Wingdings" pitchFamily="2" charset="2"/>
              <a:buChar char="Ø"/>
            </a:pPr>
            <a:endParaRPr lang="en" altLang="zh-CN" sz="2400" b="1" dirty="0">
              <a:solidFill>
                <a:srgbClr val="1A1C1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" altLang="zh-CN" sz="2000" b="1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Full Autonomy by Eliminating Code Templates</a:t>
            </a:r>
          </a:p>
          <a:p>
            <a:pPr marL="1257300" lvl="2" indent="-342900" algn="just">
              <a:buFont typeface="Wingdings" pitchFamily="2" charset="2"/>
              <a:buChar char="p"/>
            </a:pPr>
            <a:r>
              <a:rPr lang="en" altLang="zh-CN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V2 completely eliminates the dependency on human-provided code templates.</a:t>
            </a:r>
          </a:p>
          <a:p>
            <a:pPr marL="1257300" lvl="2" indent="-342900" algn="just">
              <a:buFont typeface="Wingdings" pitchFamily="2" charset="2"/>
              <a:buChar char="p"/>
            </a:pPr>
            <a:r>
              <a:rPr lang="en" altLang="zh-CN" b="1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</a:t>
            </a:r>
            <a:r>
              <a:rPr lang="en" altLang="zh-CN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This significantly enhances the system's autonomy and its ability to generalize across diverse domains "out-of-the-box.”</a:t>
            </a:r>
          </a:p>
          <a:p>
            <a:pPr marL="800100" lvl="1" indent="-342900" algn="just">
              <a:buFont typeface="Wingdings" pitchFamily="2" charset="2"/>
              <a:buChar char="p"/>
            </a:pPr>
            <a:endParaRPr lang="en" altLang="zh-CN" dirty="0">
              <a:solidFill>
                <a:srgbClr val="1A1C1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" altLang="zh-CN" sz="2000" b="1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Novel Progressive Agentic Tree-Search for Experimentation</a:t>
            </a:r>
          </a:p>
          <a:p>
            <a:pPr marL="1200150" lvl="2" indent="-285750" algn="just">
              <a:buFont typeface="Wingdings" pitchFamily="2" charset="2"/>
              <a:buChar char="p"/>
            </a:pPr>
            <a:r>
              <a:rPr lang="en" altLang="zh-CN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Introduces a new methodology to manage and execute experiments, replacing the linear workflow of v1.</a:t>
            </a:r>
          </a:p>
          <a:p>
            <a:pPr marL="1200150" lvl="2" indent="-285750" algn="just">
              <a:buFont typeface="Wingdings" pitchFamily="2" charset="2"/>
              <a:buChar char="p"/>
            </a:pPr>
            <a:r>
              <a:rPr lang="en" altLang="zh-CN" b="1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r>
              <a:rPr lang="en" altLang="zh-CN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1657350" lvl="3" indent="-285750" algn="just">
              <a:buFont typeface="Wingdings" pitchFamily="2" charset="2"/>
              <a:buChar char="ü"/>
            </a:pPr>
            <a:r>
              <a:rPr lang="en" altLang="zh-CN" b="1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Deep Exploration</a:t>
            </a:r>
            <a:r>
              <a:rPr lang="en" altLang="zh-CN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Enables in-depth, multi-step investigation of complex hypotheses.</a:t>
            </a:r>
          </a:p>
          <a:p>
            <a:pPr marL="1657350" lvl="3" indent="-285750" algn="just">
              <a:buFont typeface="Wingdings" pitchFamily="2" charset="2"/>
              <a:buChar char="ü"/>
            </a:pPr>
            <a:r>
              <a:rPr lang="en" altLang="zh-CN" b="1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Parallelization</a:t>
            </a:r>
            <a:r>
              <a:rPr lang="en" altLang="zh-CN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Allows for the simultaneous exploration of multiple experimental paths, boosting efficiency.</a:t>
            </a:r>
          </a:p>
          <a:p>
            <a:pPr marL="1657350" lvl="3" indent="-285750" algn="just">
              <a:buFont typeface="Wingdings" pitchFamily="2" charset="2"/>
              <a:buChar char="ü"/>
            </a:pPr>
            <a:r>
              <a:rPr lang="en" altLang="zh-CN" b="1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Self-Correction</a:t>
            </a:r>
            <a:r>
              <a:rPr lang="en" altLang="zh-CN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The system can autonomously debug, refine, and optimize experimental plans.</a:t>
            </a:r>
          </a:p>
          <a:p>
            <a:pPr marL="742950" lvl="1" indent="-285750" algn="just">
              <a:buFont typeface="Wingdings" pitchFamily="2" charset="2"/>
              <a:buChar char="ü"/>
            </a:pPr>
            <a:endParaRPr lang="en" altLang="zh-CN" dirty="0">
              <a:solidFill>
                <a:srgbClr val="1A1C1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" altLang="zh-CN" sz="2000" b="1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Integrated Vision-Language Model (VLM) Feedback Loop</a:t>
            </a:r>
          </a:p>
          <a:p>
            <a:pPr marL="1200150" lvl="2" indent="-285750" algn="just">
              <a:buFont typeface="Wingdings" pitchFamily="2" charset="2"/>
              <a:buChar char="p"/>
            </a:pPr>
            <a:r>
              <a:rPr lang="en" altLang="zh-CN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VLM is integrated to iteratively review and refine figures during both the experimentation and writing phases.</a:t>
            </a:r>
          </a:p>
          <a:p>
            <a:pPr marL="1200150" lvl="2" indent="-285750" algn="just">
              <a:buFont typeface="Wingdings" pitchFamily="2" charset="2"/>
              <a:buChar char="p"/>
            </a:pPr>
            <a:r>
              <a:rPr lang="en" altLang="zh-CN" b="1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</a:t>
            </a:r>
            <a:r>
              <a:rPr lang="en" altLang="zh-CN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Ensures the quality, clarity, and professionalism of all visual data, dramatically improving the final manuscript quality.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C9C62C7-7AEE-4006-D013-8A5A59B539E8}"/>
              </a:ext>
            </a:extLst>
          </p:cNvPr>
          <p:cNvSpPr txBox="1"/>
          <p:nvPr/>
        </p:nvSpPr>
        <p:spPr>
          <a:xfrm>
            <a:off x="78105" y="6495130"/>
            <a:ext cx="11901242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13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Yamada Y, Lange R T, Lu C, et al. The ai scientist-v2: Workshop-level automated scientific discovery via agentic tree search[J]. </a:t>
            </a:r>
            <a:r>
              <a:rPr lang="en" altLang="zh-CN" sz="130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" altLang="zh-CN" sz="13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preprint arXiv:2504.08066, 2025.</a:t>
            </a:r>
            <a:endParaRPr lang="zh-CN" altLang="en-US" sz="130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73660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BE9B5-4FF2-EF64-D1C8-5F85EEA45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1">
            <a:extLst>
              <a:ext uri="{FF2B5EF4-FFF2-40B4-BE49-F238E27FC236}">
                <a16:creationId xmlns:a16="http://schemas.microsoft.com/office/drawing/2014/main" id="{FBAE7E63-5A47-1F19-03F2-B27F44305838}"/>
              </a:ext>
            </a:extLst>
          </p:cNvPr>
          <p:cNvSpPr txBox="1"/>
          <p:nvPr/>
        </p:nvSpPr>
        <p:spPr>
          <a:xfrm>
            <a:off x="78105" y="196323"/>
            <a:ext cx="1203578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3.</a:t>
            </a:r>
            <a:r>
              <a:rPr lang="zh-CN" altLang="en-US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 </a:t>
            </a:r>
            <a:r>
              <a:rPr lang="en" altLang="zh-C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The AI Scientist-v2</a:t>
            </a:r>
            <a:endParaRPr lang="en" altLang="zh-CN" sz="28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方正姚体" panose="02010601030101010101" pitchFamily="2" charset="-122"/>
              <a:cs typeface="Times New Roman" panose="02020603050405020304" pitchFamily="18" charset="0"/>
            </a:endParaRPr>
          </a:p>
          <a:p>
            <a:endParaRPr lang="en" altLang="zh-CN" sz="36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方正姚体" panose="02010601030101010101" pitchFamily="2" charset="-122"/>
              <a:cs typeface="Times New Roman" panose="02020603050405020304" pitchFamily="18" charset="0"/>
            </a:endParaRPr>
          </a:p>
          <a:p>
            <a:endParaRPr lang="en" altLang="zh-CN" sz="36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方正姚体" panose="02010601030101010101" pitchFamily="2" charset="-122"/>
              <a:cs typeface="Times New Roman" panose="02020603050405020304" pitchFamily="18" charset="0"/>
            </a:endParaRPr>
          </a:p>
          <a:p>
            <a:endParaRPr lang="en" altLang="zh-CN" sz="36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方正姚体" panose="02010601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6D0CC86-8203-67E1-9C71-E083142C98E4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4950460" y="6518910"/>
            <a:ext cx="3693160" cy="29908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2F7ACEF-6138-701C-624B-9938E6A09446}"/>
              </a:ext>
            </a:extLst>
          </p:cNvPr>
          <p:cNvSpPr txBox="1"/>
          <p:nvPr/>
        </p:nvSpPr>
        <p:spPr>
          <a:xfrm>
            <a:off x="78105" y="1034039"/>
            <a:ext cx="120357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Ø"/>
            </a:pPr>
            <a:r>
              <a:rPr lang="en" altLang="zh-CN" sz="2400" b="1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 Modules of The AI Scientist-v2</a:t>
            </a:r>
          </a:p>
          <a:p>
            <a:pPr lvl="1" algn="just"/>
            <a:endParaRPr lang="en" altLang="zh-CN" sz="2400" b="1" dirty="0">
              <a:solidFill>
                <a:srgbClr val="1A1C1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CCC1A3B-4984-51C1-8BAA-E5D4939DBA12}"/>
              </a:ext>
            </a:extLst>
          </p:cNvPr>
          <p:cNvSpPr txBox="1"/>
          <p:nvPr/>
        </p:nvSpPr>
        <p:spPr>
          <a:xfrm>
            <a:off x="78105" y="6495130"/>
            <a:ext cx="11901242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13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Yamada Y, Lange R T, Lu C, et al. The ai scientist-v2: Workshop-level automated scientific discovery via agentic tree search[J]. </a:t>
            </a:r>
            <a:r>
              <a:rPr lang="en" altLang="zh-CN" sz="130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" altLang="zh-CN" sz="13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preprint arXiv:2504.08066, 2025.</a:t>
            </a:r>
            <a:endParaRPr lang="zh-CN" altLang="en-US" sz="130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4B415D2-C1A0-CA6C-EF55-08AB42F6BC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586" y="1729136"/>
            <a:ext cx="8140759" cy="4288891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0D68FBF6-9B6B-5349-6F18-9CEA6155BEC2}"/>
              </a:ext>
            </a:extLst>
          </p:cNvPr>
          <p:cNvSpPr txBox="1"/>
          <p:nvPr/>
        </p:nvSpPr>
        <p:spPr>
          <a:xfrm>
            <a:off x="7931888" y="807007"/>
            <a:ext cx="4241486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endParaRPr lang="en" altLang="zh-CN" sz="2000" b="1" dirty="0">
              <a:solidFill>
                <a:srgbClr val="1A1C1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" altLang="zh-CN" sz="2000" b="1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General Idea Generation</a:t>
            </a:r>
            <a:endParaRPr lang="en" altLang="zh-CN" b="1" i="0" dirty="0">
              <a:solidFill>
                <a:srgbClr val="1A1C1E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buFont typeface="Wingdings" pitchFamily="2" charset="2"/>
              <a:buChar char="p"/>
            </a:pPr>
            <a:r>
              <a:rPr lang="en" altLang="zh-CN" b="1" i="0" dirty="0">
                <a:solidFill>
                  <a:srgbClr val="1A1C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Starting Point</a:t>
            </a:r>
            <a:r>
              <a:rPr lang="en" altLang="zh-CN" b="0" i="0" dirty="0">
                <a:solidFill>
                  <a:srgbClr val="1A1C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The research process begins at a high level of abstraction, akin to writing a research abstract or grant proposal.</a:t>
            </a:r>
          </a:p>
          <a:p>
            <a:pPr marL="742950" lvl="1" indent="-285750" algn="just">
              <a:buFont typeface="Wingdings" pitchFamily="2" charset="2"/>
              <a:buChar char="p"/>
            </a:pPr>
            <a:endParaRPr lang="en" altLang="zh-CN" dirty="0">
              <a:solidFill>
                <a:srgbClr val="1A1C1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buFont typeface="Wingdings" pitchFamily="2" charset="2"/>
              <a:buChar char="p"/>
            </a:pPr>
            <a:r>
              <a:rPr lang="en" altLang="zh-CN" b="1" i="0" dirty="0">
                <a:solidFill>
                  <a:srgbClr val="1A1C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  <a:r>
              <a:rPr lang="en" altLang="zh-CN" b="0" i="0" dirty="0">
                <a:solidFill>
                  <a:srgbClr val="1A1C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 algn="just">
              <a:buFont typeface="Wingdings" pitchFamily="2" charset="2"/>
              <a:buChar char="ü"/>
            </a:pPr>
            <a:r>
              <a:rPr lang="en" altLang="zh-CN" b="0" i="0" dirty="0">
                <a:solidFill>
                  <a:srgbClr val="1A1C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proposes open-ended research directions and hypotheses.</a:t>
            </a:r>
          </a:p>
          <a:p>
            <a:pPr marL="742950" lvl="1" indent="-285750" algn="just">
              <a:buFont typeface="Wingdings" pitchFamily="2" charset="2"/>
              <a:buChar char="ü"/>
            </a:pPr>
            <a:r>
              <a:rPr lang="en" altLang="zh-CN" b="0" i="0" dirty="0">
                <a:solidFill>
                  <a:srgbClr val="1A1C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leverages tools like </a:t>
            </a:r>
            <a:r>
              <a:rPr lang="en" altLang="zh-CN" b="1" i="0" dirty="0">
                <a:solidFill>
                  <a:srgbClr val="1A1C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Semantic Scholar</a:t>
            </a:r>
            <a:r>
              <a:rPr lang="en" altLang="zh-CN" b="0" i="0" dirty="0">
                <a:solidFill>
                  <a:srgbClr val="1A1C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to conduct literature reviews, assessing the novelty and feasibility of its ideas.</a:t>
            </a:r>
          </a:p>
          <a:p>
            <a:pPr marL="742950" lvl="1" indent="-285750" algn="just">
              <a:buFont typeface="Wingdings" pitchFamily="2" charset="2"/>
              <a:buChar char="ü"/>
            </a:pPr>
            <a:endParaRPr lang="en" altLang="zh-CN" dirty="0">
              <a:solidFill>
                <a:srgbClr val="1A1C1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buFont typeface="Wingdings" pitchFamily="2" charset="2"/>
              <a:buChar char="p"/>
            </a:pPr>
            <a:r>
              <a:rPr lang="en" altLang="zh-CN" b="1" i="0" dirty="0">
                <a:solidFill>
                  <a:srgbClr val="1A1C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Innovation</a:t>
            </a:r>
            <a:r>
              <a:rPr lang="en" altLang="zh-CN" b="0" i="0" dirty="0">
                <a:solidFill>
                  <a:srgbClr val="1A1C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This module is completely code-independent, starting from the fundamental "idea" level to set the direction for all subsequent work.</a:t>
            </a:r>
          </a:p>
        </p:txBody>
      </p:sp>
    </p:spTree>
    <p:extLst>
      <p:ext uri="{BB962C8B-B14F-4D97-AF65-F5344CB8AC3E}">
        <p14:creationId xmlns:p14="http://schemas.microsoft.com/office/powerpoint/2010/main" val="32692903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E25890-69EB-EC5E-44D1-1E5768C28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1">
            <a:extLst>
              <a:ext uri="{FF2B5EF4-FFF2-40B4-BE49-F238E27FC236}">
                <a16:creationId xmlns:a16="http://schemas.microsoft.com/office/drawing/2014/main" id="{46C88671-F570-9881-6FEA-79465B811FD8}"/>
              </a:ext>
            </a:extLst>
          </p:cNvPr>
          <p:cNvSpPr txBox="1"/>
          <p:nvPr/>
        </p:nvSpPr>
        <p:spPr>
          <a:xfrm>
            <a:off x="78105" y="196323"/>
            <a:ext cx="1203578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3.</a:t>
            </a:r>
            <a:r>
              <a:rPr lang="zh-CN" altLang="en-US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 </a:t>
            </a:r>
            <a:r>
              <a:rPr lang="en" altLang="zh-C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The AI Scientist-v2</a:t>
            </a:r>
            <a:endParaRPr lang="en" altLang="zh-CN" sz="28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方正姚体" panose="02010601030101010101" pitchFamily="2" charset="-122"/>
              <a:cs typeface="Times New Roman" panose="02020603050405020304" pitchFamily="18" charset="0"/>
            </a:endParaRPr>
          </a:p>
          <a:p>
            <a:endParaRPr lang="en" altLang="zh-CN" sz="36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方正姚体" panose="02010601030101010101" pitchFamily="2" charset="-122"/>
              <a:cs typeface="Times New Roman" panose="02020603050405020304" pitchFamily="18" charset="0"/>
            </a:endParaRPr>
          </a:p>
          <a:p>
            <a:endParaRPr lang="en" altLang="zh-CN" sz="36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方正姚体" panose="02010601030101010101" pitchFamily="2" charset="-122"/>
              <a:cs typeface="Times New Roman" panose="02020603050405020304" pitchFamily="18" charset="0"/>
            </a:endParaRPr>
          </a:p>
          <a:p>
            <a:endParaRPr lang="en" altLang="zh-CN" sz="36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方正姚体" panose="02010601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A4C807B-2FD1-B40B-F6A0-FB60B938AA88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4950460" y="6518910"/>
            <a:ext cx="3693160" cy="29908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4219F6A-B206-DB09-CA5B-C499AD702275}"/>
              </a:ext>
            </a:extLst>
          </p:cNvPr>
          <p:cNvSpPr txBox="1"/>
          <p:nvPr/>
        </p:nvSpPr>
        <p:spPr>
          <a:xfrm>
            <a:off x="78105" y="1034039"/>
            <a:ext cx="120357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Ø"/>
            </a:pPr>
            <a:r>
              <a:rPr lang="en" altLang="zh-CN" sz="2400" b="1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 Modules of The AI Scientist-v2</a:t>
            </a:r>
          </a:p>
          <a:p>
            <a:pPr lvl="1" algn="just"/>
            <a:endParaRPr lang="en" altLang="zh-CN" sz="2400" b="1" dirty="0">
              <a:solidFill>
                <a:srgbClr val="1A1C1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1C730AF-0FEA-E85D-5BCC-F425E6711AB1}"/>
              </a:ext>
            </a:extLst>
          </p:cNvPr>
          <p:cNvSpPr txBox="1"/>
          <p:nvPr/>
        </p:nvSpPr>
        <p:spPr>
          <a:xfrm>
            <a:off x="78105" y="6495130"/>
            <a:ext cx="11901242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13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Yamada Y, Lange R T, Lu C, et al. The ai scientist-v2: Workshop-level automated scientific discovery via agentic tree search[J]. </a:t>
            </a:r>
            <a:r>
              <a:rPr lang="en" altLang="zh-CN" sz="130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" altLang="zh-CN" sz="13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preprint arXiv:2504.08066, 2025.</a:t>
            </a:r>
            <a:endParaRPr lang="zh-CN" altLang="en-US" sz="130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098392C-E35C-5744-8DF5-E402FCE7A976}"/>
              </a:ext>
            </a:extLst>
          </p:cNvPr>
          <p:cNvSpPr txBox="1"/>
          <p:nvPr/>
        </p:nvSpPr>
        <p:spPr>
          <a:xfrm>
            <a:off x="7931888" y="913332"/>
            <a:ext cx="4241486" cy="5663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" altLang="zh-CN" sz="2000" b="1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Tree-Based Experimentation</a:t>
            </a:r>
          </a:p>
          <a:p>
            <a:pPr marL="742950" lvl="1" indent="-285750" algn="just">
              <a:buFont typeface="Wingdings" pitchFamily="2" charset="2"/>
              <a:buChar char="p"/>
            </a:pPr>
            <a:r>
              <a:rPr lang="en" altLang="zh-CN" b="1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 Contribution</a:t>
            </a:r>
            <a:r>
              <a:rPr lang="en" altLang="zh-CN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This is the paper's main technical innovation, managed by an "Experiment Progress Manager" agent.</a:t>
            </a:r>
          </a:p>
          <a:p>
            <a:pPr marL="742950" lvl="1" indent="-285750" algn="just">
              <a:buFont typeface="Wingdings" pitchFamily="2" charset="2"/>
              <a:buChar char="p"/>
            </a:pPr>
            <a:endParaRPr lang="en" altLang="zh-CN" b="1" i="0" dirty="0">
              <a:solidFill>
                <a:srgbClr val="1A1C1E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buFont typeface="Wingdings" pitchFamily="2" charset="2"/>
              <a:buChar char="p"/>
            </a:pPr>
            <a:r>
              <a:rPr lang="en" altLang="zh-CN" b="1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Tree Structure</a:t>
            </a:r>
            <a:r>
              <a:rPr lang="en" altLang="zh-CN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 algn="just">
              <a:buFont typeface="Wingdings" pitchFamily="2" charset="2"/>
              <a:buChar char="ü"/>
            </a:pPr>
            <a:r>
              <a:rPr lang="en" altLang="zh-CN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 node represents an experimental plan with its associated code.</a:t>
            </a:r>
          </a:p>
          <a:p>
            <a:pPr marL="742950" lvl="1" indent="-285750" algn="just">
              <a:buFont typeface="Wingdings" pitchFamily="2" charset="2"/>
              <a:buChar char="ü"/>
            </a:pPr>
            <a:r>
              <a:rPr lang="en" altLang="zh-CN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system executes multiple nodes in parallel and marks them as "buggy" or "non-buggy" based on the outcome (success, error, figure quality).</a:t>
            </a:r>
          </a:p>
          <a:p>
            <a:pPr marL="742950" lvl="1" indent="-285750" algn="just">
              <a:buFont typeface="Wingdings" pitchFamily="2" charset="2"/>
              <a:buChar char="ü"/>
            </a:pPr>
            <a:r>
              <a:rPr lang="en" altLang="zh-CN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 Expansion: The system then expands selected nodes by either debugging "buggy" plans or refining "non-buggy" ones for deeper exploration.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00B197A-ADAB-EF01-6D86-F87159160A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183" y="1449538"/>
            <a:ext cx="7719235" cy="5056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6194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B41209-1060-371A-6805-380B76693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1">
            <a:extLst>
              <a:ext uri="{FF2B5EF4-FFF2-40B4-BE49-F238E27FC236}">
                <a16:creationId xmlns:a16="http://schemas.microsoft.com/office/drawing/2014/main" id="{2B40B894-674B-0A8B-96EB-8C20C9A3DB58}"/>
              </a:ext>
            </a:extLst>
          </p:cNvPr>
          <p:cNvSpPr txBox="1"/>
          <p:nvPr/>
        </p:nvSpPr>
        <p:spPr>
          <a:xfrm>
            <a:off x="78105" y="196323"/>
            <a:ext cx="1203578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3.</a:t>
            </a:r>
            <a:r>
              <a:rPr lang="zh-CN" altLang="en-US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 </a:t>
            </a:r>
            <a:r>
              <a:rPr lang="en" altLang="zh-C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The AI Scientist-v2</a:t>
            </a:r>
            <a:endParaRPr lang="en" altLang="zh-CN" sz="28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方正姚体" panose="02010601030101010101" pitchFamily="2" charset="-122"/>
              <a:cs typeface="Times New Roman" panose="02020603050405020304" pitchFamily="18" charset="0"/>
            </a:endParaRPr>
          </a:p>
          <a:p>
            <a:endParaRPr lang="en" altLang="zh-CN" sz="36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方正姚体" panose="02010601030101010101" pitchFamily="2" charset="-122"/>
              <a:cs typeface="Times New Roman" panose="02020603050405020304" pitchFamily="18" charset="0"/>
            </a:endParaRPr>
          </a:p>
          <a:p>
            <a:endParaRPr lang="en" altLang="zh-CN" sz="36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方正姚体" panose="02010601030101010101" pitchFamily="2" charset="-122"/>
              <a:cs typeface="Times New Roman" panose="02020603050405020304" pitchFamily="18" charset="0"/>
            </a:endParaRPr>
          </a:p>
          <a:p>
            <a:endParaRPr lang="en" altLang="zh-CN" sz="36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方正姚体" panose="02010601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4CBE25D-20B9-901B-6EF3-2861D1285E7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4950460" y="6518910"/>
            <a:ext cx="3693160" cy="29908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960D693-A922-F015-F154-8E21D8CBEF06}"/>
              </a:ext>
            </a:extLst>
          </p:cNvPr>
          <p:cNvSpPr txBox="1"/>
          <p:nvPr/>
        </p:nvSpPr>
        <p:spPr>
          <a:xfrm>
            <a:off x="78105" y="821388"/>
            <a:ext cx="12035789" cy="615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Ø"/>
            </a:pPr>
            <a:r>
              <a:rPr lang="en" altLang="zh-CN" sz="2400" b="1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 Modules of The AI Scientist-v2</a:t>
            </a:r>
          </a:p>
          <a:p>
            <a:pPr algn="l"/>
            <a:r>
              <a:rPr lang="en" altLang="zh-CN" b="1" i="0" dirty="0">
                <a:solidFill>
                  <a:srgbClr val="1A1C1E"/>
                </a:solidFill>
                <a:effectLst/>
                <a:latin typeface="Inter"/>
              </a:rPr>
              <a:t> 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" altLang="zh-CN" sz="2000" b="1" i="0" dirty="0">
                <a:solidFill>
                  <a:srgbClr val="1A1C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Vision-Language Model (VLM) Reviewer</a:t>
            </a:r>
            <a:endParaRPr lang="en" altLang="zh-CN" b="1" dirty="0">
              <a:solidFill>
                <a:srgbClr val="1A1C1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Wingdings" pitchFamily="2" charset="2"/>
              <a:buChar char="p"/>
            </a:pPr>
            <a:r>
              <a:rPr lang="en" altLang="zh-CN" b="1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Role</a:t>
            </a:r>
            <a:r>
              <a:rPr lang="en" altLang="zh-CN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A crucial quality control module that operates in two key phases.</a:t>
            </a:r>
          </a:p>
          <a:p>
            <a:pPr marL="1200150" lvl="2" indent="-285750">
              <a:buFont typeface="Wingdings" pitchFamily="2" charset="2"/>
              <a:buChar char="ü"/>
            </a:pPr>
            <a:r>
              <a:rPr lang="en" altLang="zh-CN" b="1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Experimentation Phase</a:t>
            </a:r>
            <a:r>
              <a:rPr lang="en" altLang="zh-CN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1657350" lvl="3" indent="-285750">
              <a:buFont typeface="Wingdings" pitchFamily="2" charset="2"/>
              <a:buChar char="p"/>
            </a:pPr>
            <a:r>
              <a:rPr lang="en" altLang="zh-CN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critiques generated figures for clarity (e.g., axis labels, legends).</a:t>
            </a:r>
          </a:p>
          <a:p>
            <a:pPr marL="1657350" lvl="3" indent="-285750">
              <a:buFont typeface="Wingdings" pitchFamily="2" charset="2"/>
              <a:buChar char="p"/>
            </a:pPr>
            <a:r>
              <a:rPr lang="en" altLang="zh-CN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Marks nodes with poor figures as "buggy" and provides specific feedback for debugging.</a:t>
            </a:r>
          </a:p>
          <a:p>
            <a:pPr marL="1200150" lvl="2" indent="-285750">
              <a:buFont typeface="Wingdings" pitchFamily="2" charset="2"/>
              <a:buChar char="ü"/>
            </a:pPr>
            <a:r>
              <a:rPr lang="en" altLang="zh-CN" b="1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Paper-Writing Phase</a:t>
            </a:r>
            <a:r>
              <a:rPr lang="en" altLang="zh-CN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1657350" lvl="3" indent="-285750">
              <a:buFont typeface="Wingdings" pitchFamily="2" charset="2"/>
              <a:buChar char="p"/>
            </a:pPr>
            <a:r>
              <a:rPr lang="en" altLang="zh-CN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Reviews figures, captions, and their corresponding text in the final manuscript to ensure coherence and clarity.</a:t>
            </a:r>
          </a:p>
          <a:p>
            <a:pPr marL="742950" lvl="1" indent="-285750">
              <a:buFont typeface="Wingdings" pitchFamily="2" charset="2"/>
              <a:buChar char="p"/>
            </a:pPr>
            <a:r>
              <a:rPr lang="en" altLang="zh-CN" b="1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Contribution</a:t>
            </a:r>
            <a:r>
              <a:rPr lang="en" altLang="zh-CN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By introducing feedback from a visual dimension, the VLM significantly improves the professionalism and readability of the generated manuscript.</a:t>
            </a:r>
          </a:p>
          <a:p>
            <a:pPr marL="742950" lvl="1" indent="-285750">
              <a:buFont typeface="Wingdings" pitchFamily="2" charset="2"/>
              <a:buChar char="p"/>
            </a:pPr>
            <a:endParaRPr lang="en" altLang="zh-CN" dirty="0">
              <a:solidFill>
                <a:srgbClr val="1A1C1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sz="2000" b="1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Paper Write-Up</a:t>
            </a:r>
          </a:p>
          <a:p>
            <a:pPr marL="742950" lvl="1" indent="-285750" algn="just">
              <a:buFont typeface="Wingdings" pitchFamily="2" charset="2"/>
              <a:buChar char="p"/>
            </a:pPr>
            <a:r>
              <a:rPr lang="en" altLang="zh-CN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system populates a predefined LaTeX template with experimental results and figures to create a complete scientific manuscript.</a:t>
            </a:r>
          </a:p>
          <a:p>
            <a:pPr marL="742950" lvl="1" indent="-285750" algn="just">
              <a:buFont typeface="Wingdings" pitchFamily="2" charset="2"/>
              <a:buChar char="p"/>
            </a:pPr>
            <a:r>
              <a:rPr lang="en" altLang="zh-CN" b="1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Single-Pass Generation &amp; Reflection</a:t>
            </a:r>
            <a:r>
              <a:rPr lang="en" altLang="zh-CN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In contrast to v1's iterative writing, v2 uses a single-pass generation followed by a separate reflection and revision stage.</a:t>
            </a:r>
          </a:p>
          <a:p>
            <a:pPr marL="742950" lvl="1" indent="-285750" algn="just">
              <a:buFont typeface="Wingdings" pitchFamily="2" charset="2"/>
              <a:buChar char="p"/>
            </a:pPr>
            <a:r>
              <a:rPr lang="en" altLang="zh-CN" b="1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 and Revision</a:t>
            </a:r>
            <a:r>
              <a:rPr lang="en" altLang="zh-CN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After generating the draft, VLMs and other LLMs review the entire text for figure-text consistency, grammar, and clarity, producing the final version.</a:t>
            </a:r>
          </a:p>
          <a:p>
            <a:pPr marL="742950" lvl="1" indent="-285750" algn="just">
              <a:buFont typeface="Wingdings" pitchFamily="2" charset="2"/>
              <a:buChar char="p"/>
            </a:pPr>
            <a:r>
              <a:rPr lang="en" altLang="zh-CN" b="1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Output</a:t>
            </a:r>
            <a:r>
              <a:rPr lang="en" altLang="zh-CN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A complete, well-structured scientific paper, reviewed and refined by multiple intelligent agents.</a:t>
            </a:r>
          </a:p>
          <a:p>
            <a:pPr lvl="1" algn="just"/>
            <a:endParaRPr lang="en" altLang="zh-CN" sz="2400" b="1" dirty="0">
              <a:solidFill>
                <a:srgbClr val="1A1C1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0BA03F6-546B-5C71-6ECD-55590E59330C}"/>
              </a:ext>
            </a:extLst>
          </p:cNvPr>
          <p:cNvSpPr txBox="1"/>
          <p:nvPr/>
        </p:nvSpPr>
        <p:spPr>
          <a:xfrm>
            <a:off x="78105" y="6558925"/>
            <a:ext cx="11901242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13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Yamada Y, Lange R T, Lu C, et al. The ai scientist-v2: Workshop-level automated scientific discovery via agentic tree search[J]. </a:t>
            </a:r>
            <a:r>
              <a:rPr lang="en" altLang="zh-CN" sz="130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" altLang="zh-CN" sz="13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preprint arXiv:2504.08066, 2025.</a:t>
            </a:r>
            <a:endParaRPr lang="zh-CN" altLang="en-US" sz="130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52679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05DC67-198D-235B-ED13-DE80AAB98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1">
            <a:extLst>
              <a:ext uri="{FF2B5EF4-FFF2-40B4-BE49-F238E27FC236}">
                <a16:creationId xmlns:a16="http://schemas.microsoft.com/office/drawing/2014/main" id="{FF3C7822-5CC1-AA14-3DBA-6E6443C47B10}"/>
              </a:ext>
            </a:extLst>
          </p:cNvPr>
          <p:cNvSpPr txBox="1"/>
          <p:nvPr/>
        </p:nvSpPr>
        <p:spPr>
          <a:xfrm>
            <a:off x="78105" y="196323"/>
            <a:ext cx="1203578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3.</a:t>
            </a:r>
            <a:r>
              <a:rPr lang="zh-CN" altLang="en-US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 </a:t>
            </a:r>
            <a:r>
              <a:rPr lang="en" altLang="zh-C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The AI Scientist-v2</a:t>
            </a:r>
            <a:endParaRPr lang="en" altLang="zh-CN" sz="28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方正姚体" panose="02010601030101010101" pitchFamily="2" charset="-122"/>
              <a:cs typeface="Times New Roman" panose="02020603050405020304" pitchFamily="18" charset="0"/>
            </a:endParaRPr>
          </a:p>
          <a:p>
            <a:endParaRPr lang="en" altLang="zh-CN" sz="36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方正姚体" panose="02010601030101010101" pitchFamily="2" charset="-122"/>
              <a:cs typeface="Times New Roman" panose="02020603050405020304" pitchFamily="18" charset="0"/>
            </a:endParaRPr>
          </a:p>
          <a:p>
            <a:endParaRPr lang="en" altLang="zh-CN" sz="36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方正姚体" panose="02010601030101010101" pitchFamily="2" charset="-122"/>
              <a:cs typeface="Times New Roman" panose="02020603050405020304" pitchFamily="18" charset="0"/>
            </a:endParaRPr>
          </a:p>
          <a:p>
            <a:endParaRPr lang="en" altLang="zh-CN" sz="36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方正姚体" panose="02010601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1AD2511-0A1E-94AE-086C-66DA52C4897C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4950460" y="6518910"/>
            <a:ext cx="3693160" cy="29908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D83993C-45EA-6E6E-E33B-4167E0358F0B}"/>
              </a:ext>
            </a:extLst>
          </p:cNvPr>
          <p:cNvSpPr txBox="1"/>
          <p:nvPr/>
        </p:nvSpPr>
        <p:spPr>
          <a:xfrm>
            <a:off x="78105" y="6558925"/>
            <a:ext cx="11901242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13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Yamada Y, Lange R T, Lu C, et al. The ai scientist-v2: Workshop-level automated scientific discovery via agentic tree search[J]. </a:t>
            </a:r>
            <a:r>
              <a:rPr lang="en" altLang="zh-CN" sz="130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" altLang="zh-CN" sz="13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preprint arXiv:2504.08066, 2025.</a:t>
            </a:r>
            <a:endParaRPr lang="zh-CN" altLang="en-US" sz="130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D838AA0-111A-31FC-335D-E122E4F00C54}"/>
              </a:ext>
            </a:extLst>
          </p:cNvPr>
          <p:cNvSpPr txBox="1"/>
          <p:nvPr/>
        </p:nvSpPr>
        <p:spPr>
          <a:xfrm>
            <a:off x="78105" y="1034039"/>
            <a:ext cx="12035789" cy="47397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" altLang="zh-CN" sz="2400" b="1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Setup &amp; Evaluation</a:t>
            </a:r>
          </a:p>
          <a:p>
            <a:pPr marL="285750" indent="-285750">
              <a:buFont typeface="Wingdings" pitchFamily="2" charset="2"/>
              <a:buChar char="Ø"/>
            </a:pPr>
            <a:endParaRPr lang="en" altLang="zh-CN" sz="2400" b="1" dirty="0">
              <a:solidFill>
                <a:srgbClr val="1A1C1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" altLang="zh-CN" sz="2000" b="1" i="0" dirty="0">
                <a:solidFill>
                  <a:srgbClr val="1A1C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Subject</a:t>
            </a:r>
            <a:r>
              <a:rPr lang="en" altLang="zh-CN" sz="2000" b="0" i="0" dirty="0">
                <a:solidFill>
                  <a:srgbClr val="1A1C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The system was tasked to autonomously generate a research paper. The accepted paper, which is analyzed in detail, focused on "compositional regularization" and used synthetic arithmetic expression datasets for its experiments.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endParaRPr lang="en" altLang="zh-CN" sz="2000" dirty="0">
              <a:solidFill>
                <a:srgbClr val="1A1C1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" altLang="zh-CN" sz="2000" b="1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Metrics: </a:t>
            </a:r>
            <a:r>
              <a:rPr lang="en" altLang="zh-CN" sz="2000" b="1" i="0" dirty="0">
                <a:solidFill>
                  <a:srgbClr val="1A1C1E"/>
                </a:solidFill>
                <a:effectLst/>
                <a:latin typeface="Inter"/>
              </a:rPr>
              <a:t> </a:t>
            </a:r>
            <a:r>
              <a:rPr lang="en" altLang="zh-CN" sz="2000" b="1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Real-World Peer Review Outcome</a:t>
            </a:r>
          </a:p>
          <a:p>
            <a:pPr marL="1257300" lvl="2" indent="-342900" algn="just">
              <a:buFont typeface="Arial" panose="020B0604020202020204" pitchFamily="34" charset="0"/>
              <a:buChar char="•"/>
            </a:pPr>
            <a:endParaRPr lang="en" altLang="zh-CN" sz="2000" b="1" dirty="0">
              <a:solidFill>
                <a:srgbClr val="1A1C1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>
              <a:buFont typeface="Wingdings" pitchFamily="2" charset="2"/>
              <a:buChar char="p"/>
            </a:pPr>
            <a:r>
              <a:rPr lang="en" altLang="zh-CN" b="1" i="0" dirty="0">
                <a:solidFill>
                  <a:srgbClr val="1A1C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Venue</a:t>
            </a:r>
            <a:r>
              <a:rPr lang="en" altLang="zh-CN" b="0" i="0" dirty="0">
                <a:solidFill>
                  <a:srgbClr val="1A1C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Anonymously submitted a system-generated paper to the </a:t>
            </a:r>
            <a:r>
              <a:rPr lang="en" altLang="zh-CN" b="1" i="0" dirty="0">
                <a:solidFill>
                  <a:srgbClr val="1A1C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"I Can't Believe It's Not Better" (ICBINB) workshop at ICLR 2025.</a:t>
            </a:r>
          </a:p>
          <a:p>
            <a:pPr lvl="2"/>
            <a:endParaRPr lang="en" altLang="zh-CN" b="0" i="0" dirty="0">
              <a:solidFill>
                <a:srgbClr val="1A1C1E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>
              <a:buFont typeface="Wingdings" pitchFamily="2" charset="2"/>
              <a:buChar char="p"/>
            </a:pPr>
            <a:r>
              <a:rPr lang="en" altLang="zh-CN" b="1" i="0" dirty="0">
                <a:solidFill>
                  <a:srgbClr val="1A1C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  <a:r>
              <a:rPr lang="en" altLang="zh-CN" b="0" i="0" dirty="0">
                <a:solidFill>
                  <a:srgbClr val="1A1C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The paper was </a:t>
            </a:r>
            <a:r>
              <a:rPr lang="en" altLang="zh-CN" b="1" i="0" dirty="0">
                <a:solidFill>
                  <a:srgbClr val="1A1C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accepted</a:t>
            </a:r>
            <a:r>
              <a:rPr lang="en" altLang="zh-CN" b="0" i="0" dirty="0">
                <a:solidFill>
                  <a:srgbClr val="1A1C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achieving an average reviewer score of </a:t>
            </a:r>
            <a:r>
              <a:rPr lang="en" altLang="zh-CN" b="1" i="0" dirty="0">
                <a:solidFill>
                  <a:srgbClr val="1A1C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6.33 out of 10</a:t>
            </a:r>
            <a:r>
              <a:rPr lang="en" altLang="zh-CN" b="0" i="0" dirty="0">
                <a:solidFill>
                  <a:srgbClr val="1A1C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This demonstrates the system's ability to produce work that meets the standards of the scientific community.</a:t>
            </a:r>
            <a:endParaRPr lang="en" altLang="zh-CN" sz="2400" b="1" dirty="0">
              <a:solidFill>
                <a:srgbClr val="1A1C1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Wingdings" pitchFamily="2" charset="2"/>
              <a:buChar char="Ø"/>
            </a:pPr>
            <a:endParaRPr lang="en" altLang="zh-CN" sz="2400" b="1" dirty="0">
              <a:solidFill>
                <a:srgbClr val="1A1C1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endParaRPr lang="zh-CN" altLang="en-US" sz="2000" b="1" dirty="0">
              <a:solidFill>
                <a:srgbClr val="1A1C1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43669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70F6E0-955B-5E24-E0D7-6EB60FCEF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1">
            <a:extLst>
              <a:ext uri="{FF2B5EF4-FFF2-40B4-BE49-F238E27FC236}">
                <a16:creationId xmlns:a16="http://schemas.microsoft.com/office/drawing/2014/main" id="{39146FFE-0AA0-56EB-3B09-B1241A1460EB}"/>
              </a:ext>
            </a:extLst>
          </p:cNvPr>
          <p:cNvSpPr txBox="1"/>
          <p:nvPr/>
        </p:nvSpPr>
        <p:spPr>
          <a:xfrm>
            <a:off x="78105" y="196323"/>
            <a:ext cx="1203578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3.</a:t>
            </a:r>
            <a:r>
              <a:rPr lang="zh-CN" altLang="en-US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 </a:t>
            </a:r>
            <a:r>
              <a:rPr lang="en" altLang="zh-C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The AI Scientist-v2</a:t>
            </a:r>
            <a:endParaRPr lang="en" altLang="zh-CN" sz="28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方正姚体" panose="02010601030101010101" pitchFamily="2" charset="-122"/>
              <a:cs typeface="Times New Roman" panose="02020603050405020304" pitchFamily="18" charset="0"/>
            </a:endParaRPr>
          </a:p>
          <a:p>
            <a:endParaRPr lang="en" altLang="zh-CN" sz="36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方正姚体" panose="02010601030101010101" pitchFamily="2" charset="-122"/>
              <a:cs typeface="Times New Roman" panose="02020603050405020304" pitchFamily="18" charset="0"/>
            </a:endParaRPr>
          </a:p>
          <a:p>
            <a:endParaRPr lang="en" altLang="zh-CN" sz="36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方正姚体" panose="02010601030101010101" pitchFamily="2" charset="-122"/>
              <a:cs typeface="Times New Roman" panose="02020603050405020304" pitchFamily="18" charset="0"/>
            </a:endParaRPr>
          </a:p>
          <a:p>
            <a:endParaRPr lang="en" altLang="zh-CN" sz="36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方正姚体" panose="02010601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3E9DBAA-CEB8-FBDE-A0AB-395C7389662A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4950460" y="6518910"/>
            <a:ext cx="3693160" cy="29908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59A35F9-D4EF-BE91-82EA-45FF27887834}"/>
              </a:ext>
            </a:extLst>
          </p:cNvPr>
          <p:cNvSpPr txBox="1"/>
          <p:nvPr/>
        </p:nvSpPr>
        <p:spPr>
          <a:xfrm>
            <a:off x="78105" y="6558925"/>
            <a:ext cx="11901242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13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Yamada Y, Lange R T, Lu C, et al. The ai scientist-v2: Workshop-level automated scientific discovery via agentic tree search[J]. </a:t>
            </a:r>
            <a:r>
              <a:rPr lang="en" altLang="zh-CN" sz="130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" altLang="zh-CN" sz="13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preprint arXiv:2504.08066, 2025.</a:t>
            </a:r>
            <a:endParaRPr lang="zh-CN" altLang="en-US" sz="130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FF0A4E5-BF34-C61D-C212-4BD28F55B50B}"/>
              </a:ext>
            </a:extLst>
          </p:cNvPr>
          <p:cNvSpPr txBox="1"/>
          <p:nvPr/>
        </p:nvSpPr>
        <p:spPr>
          <a:xfrm>
            <a:off x="78105" y="1034039"/>
            <a:ext cx="12035789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" altLang="zh-CN" sz="2400" b="1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Results</a:t>
            </a:r>
          </a:p>
          <a:p>
            <a:pPr marL="285750" indent="-285750">
              <a:buFont typeface="Wingdings" pitchFamily="2" charset="2"/>
              <a:buChar char="Ø"/>
            </a:pPr>
            <a:endParaRPr lang="en" altLang="zh-CN" sz="2400" b="1" dirty="0">
              <a:solidFill>
                <a:srgbClr val="1A1C1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" altLang="zh-CN" sz="2400" b="1" dirty="0">
              <a:solidFill>
                <a:srgbClr val="1A1C1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endParaRPr lang="zh-CN" altLang="en-US" sz="2000" b="1" dirty="0">
              <a:solidFill>
                <a:srgbClr val="1A1C1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C3D55572-2F66-0AE9-F116-EF6DE14FB0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702" y="1519644"/>
            <a:ext cx="8103171" cy="4961769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3922CA35-6C0A-8E99-F601-866191EB1884}"/>
              </a:ext>
            </a:extLst>
          </p:cNvPr>
          <p:cNvSpPr txBox="1"/>
          <p:nvPr/>
        </p:nvSpPr>
        <p:spPr>
          <a:xfrm>
            <a:off x="8531615" y="1350485"/>
            <a:ext cx="369315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" altLang="zh-CN" sz="1600" b="0" i="0" dirty="0">
                <a:solidFill>
                  <a:srgbClr val="1A1C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AI Scientist-v2 autonomously generated three distinct scientific manuscripts from scratch. One of these submissions was formally </a:t>
            </a:r>
            <a:r>
              <a:rPr lang="en" altLang="zh-CN" sz="1600" b="1" i="0" dirty="0">
                <a:solidFill>
                  <a:srgbClr val="1A1C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accepted</a:t>
            </a:r>
            <a:r>
              <a:rPr lang="en" altLang="zh-CN" sz="1600" b="0" i="0" dirty="0">
                <a:solidFill>
                  <a:srgbClr val="1A1C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into</a:t>
            </a:r>
            <a:r>
              <a:rPr lang="zh-CN" altLang="en-US" sz="1600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" altLang="zh-CN" sz="1600" b="0" i="0" dirty="0">
                <a:solidFill>
                  <a:srgbClr val="1A1C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ICBINB workshop at ICLR 2025.</a:t>
            </a:r>
            <a:endParaRPr kumimoji="1"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1A4FC5D-6C99-F6D2-EE0E-5824E27494CC}"/>
              </a:ext>
            </a:extLst>
          </p:cNvPr>
          <p:cNvSpPr txBox="1"/>
          <p:nvPr/>
        </p:nvSpPr>
        <p:spPr>
          <a:xfrm>
            <a:off x="8430873" y="2908264"/>
            <a:ext cx="379807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p"/>
            </a:pPr>
            <a:r>
              <a:rPr lang="en" altLang="zh-CN" b="1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Reviewer Scores</a:t>
            </a:r>
            <a:r>
              <a:rPr lang="en" altLang="zh-CN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The accepted paper received scores of </a:t>
            </a:r>
            <a:r>
              <a:rPr lang="en" altLang="zh-CN" b="1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 (Weak Accept), 7 (Accept), and 6 (Weak Accept).</a:t>
            </a:r>
            <a:r>
              <a:rPr lang="zh-CN" altLang="en-US" b="1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" altLang="zh-CN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Average Score: </a:t>
            </a:r>
            <a:r>
              <a:rPr lang="en" altLang="zh-CN" b="1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6.33 / 10</a:t>
            </a:r>
          </a:p>
          <a:p>
            <a:pPr algn="just"/>
            <a:endParaRPr lang="en" altLang="zh-CN" b="1" dirty="0">
              <a:solidFill>
                <a:srgbClr val="1A1C1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itchFamily="2" charset="2"/>
              <a:buChar char="p"/>
            </a:pPr>
            <a:r>
              <a:rPr lang="en" altLang="zh-CN" b="1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Competitive Ranking</a:t>
            </a:r>
            <a:r>
              <a:rPr lang="en" altLang="zh-CN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This performance placed the manuscript in the</a:t>
            </a:r>
            <a:r>
              <a:rPr lang="en" altLang="zh-CN" b="1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top 45% </a:t>
            </a:r>
            <a:r>
              <a:rPr lang="en" altLang="zh-CN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all submissions to the workshop, demonstrating its quality and competitiveness against human-authored papers.</a:t>
            </a:r>
          </a:p>
        </p:txBody>
      </p:sp>
    </p:spTree>
    <p:extLst>
      <p:ext uri="{BB962C8B-B14F-4D97-AF65-F5344CB8AC3E}">
        <p14:creationId xmlns:p14="http://schemas.microsoft.com/office/powerpoint/2010/main" val="32505289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CD3904-37E7-AA71-71F0-30BC8807D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1">
            <a:extLst>
              <a:ext uri="{FF2B5EF4-FFF2-40B4-BE49-F238E27FC236}">
                <a16:creationId xmlns:a16="http://schemas.microsoft.com/office/drawing/2014/main" id="{6AB0D54D-DA5B-4DB5-A23D-675A7D0A8518}"/>
              </a:ext>
            </a:extLst>
          </p:cNvPr>
          <p:cNvSpPr txBox="1"/>
          <p:nvPr/>
        </p:nvSpPr>
        <p:spPr>
          <a:xfrm>
            <a:off x="78105" y="196323"/>
            <a:ext cx="1203578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4.</a:t>
            </a:r>
            <a:r>
              <a:rPr lang="zh-CN" altLang="en-US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 </a:t>
            </a:r>
            <a:r>
              <a:rPr lang="en" altLang="zh-C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AI-Researcher</a:t>
            </a:r>
            <a:endParaRPr lang="en" altLang="zh-CN" sz="28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方正姚体" panose="02010601030101010101" pitchFamily="2" charset="-122"/>
              <a:cs typeface="Times New Roman" panose="02020603050405020304" pitchFamily="18" charset="0"/>
            </a:endParaRPr>
          </a:p>
          <a:p>
            <a:endParaRPr lang="en" altLang="zh-CN" sz="36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方正姚体" panose="02010601030101010101" pitchFamily="2" charset="-122"/>
              <a:cs typeface="Times New Roman" panose="02020603050405020304" pitchFamily="18" charset="0"/>
            </a:endParaRPr>
          </a:p>
          <a:p>
            <a:endParaRPr lang="en" altLang="zh-CN" sz="36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方正姚体" panose="02010601030101010101" pitchFamily="2" charset="-122"/>
              <a:cs typeface="Times New Roman" panose="02020603050405020304" pitchFamily="18" charset="0"/>
            </a:endParaRPr>
          </a:p>
          <a:p>
            <a:endParaRPr lang="en" altLang="zh-CN" sz="36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方正姚体" panose="02010601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BFECAA9-9093-CF79-365C-09D9F241198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4950460" y="6518910"/>
            <a:ext cx="3693160" cy="29908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388B1CD-EB16-8FB5-DC97-8857A2FBA69B}"/>
              </a:ext>
            </a:extLst>
          </p:cNvPr>
          <p:cNvSpPr txBox="1"/>
          <p:nvPr/>
        </p:nvSpPr>
        <p:spPr>
          <a:xfrm>
            <a:off x="78105" y="1034039"/>
            <a:ext cx="12035789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Ø"/>
            </a:pPr>
            <a:r>
              <a:rPr lang="en" altLang="zh-CN" sz="2400" b="1" i="0" dirty="0">
                <a:solidFill>
                  <a:srgbClr val="1A1C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Multi-Agent Framework for End-to-End Autonomous Science</a:t>
            </a:r>
          </a:p>
          <a:p>
            <a:pPr algn="just"/>
            <a:endParaRPr lang="en" altLang="zh-CN" sz="2400" b="1" i="0" dirty="0">
              <a:solidFill>
                <a:srgbClr val="1A1C1E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" altLang="zh-CN" b="1" i="0" dirty="0">
                <a:solidFill>
                  <a:srgbClr val="1A1C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Primary </a:t>
            </a:r>
            <a:r>
              <a:rPr lang="en" altLang="zh-CN" b="1" i="0" dirty="0" err="1">
                <a:solidFill>
                  <a:srgbClr val="1A1C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Contribution:</a:t>
            </a:r>
            <a:r>
              <a:rPr lang="en" altLang="zh-CN" b="0" i="0" dirty="0" err="1">
                <a:solidFill>
                  <a:srgbClr val="1A1C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" altLang="zh-CN" b="0" i="0" dirty="0">
                <a:solidFill>
                  <a:srgbClr val="1A1C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structured, multi-agent framework that orchestrates the entire scientific research process, from idea generation to final publication.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" altLang="zh-CN" b="1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 Philosophy</a:t>
            </a:r>
            <a:r>
              <a:rPr lang="en" altLang="zh-CN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The framework models proven human collaboration paradigms—most notably the </a:t>
            </a:r>
            <a:r>
              <a:rPr lang="en" altLang="zh-CN" b="1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advisor-student dynamic</a:t>
            </a:r>
            <a:r>
              <a:rPr lang="en" altLang="zh-CN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—to create a robust and effective research cycle.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" altLang="zh-CN" b="1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Innovation</a:t>
            </a:r>
            <a:r>
              <a:rPr lang="en" altLang="zh-CN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It introduces novel components, such as the </a:t>
            </a:r>
            <a:r>
              <a:rPr lang="en" altLang="zh-CN" b="1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Resource Analyst Agent</a:t>
            </a:r>
            <a:r>
              <a:rPr lang="en" altLang="zh-CN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to ensure deep conceptual understanding and maintain factual grounding by linking theory directly to code, reducing the risk of LLM hallucination.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endParaRPr lang="en" altLang="zh-CN" dirty="0">
              <a:solidFill>
                <a:srgbClr val="1A1C1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endParaRPr lang="en" altLang="zh-CN" dirty="0">
              <a:solidFill>
                <a:srgbClr val="1A1C1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buFont typeface="Wingdings" pitchFamily="2" charset="2"/>
              <a:buChar char="Ø"/>
            </a:pPr>
            <a:endParaRPr lang="en" altLang="zh-CN" sz="2400" b="1" dirty="0">
              <a:solidFill>
                <a:srgbClr val="1A1C1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/>
            <a:endParaRPr lang="zh-CN" altLang="en-US" sz="2000" b="1" dirty="0">
              <a:solidFill>
                <a:srgbClr val="1A1C1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C0954CB-7DE8-69E4-E76B-96C1BBEADC92}"/>
              </a:ext>
            </a:extLst>
          </p:cNvPr>
          <p:cNvSpPr txBox="1"/>
          <p:nvPr/>
        </p:nvSpPr>
        <p:spPr>
          <a:xfrm>
            <a:off x="78105" y="6495130"/>
            <a:ext cx="119012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14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Tang J, Xia L, Li Z, et al. AI-Researcher: Autonomous Scientific Innovation[J]. </a:t>
            </a:r>
            <a:r>
              <a:rPr lang="en" altLang="zh-CN" sz="140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NeurIPS</a:t>
            </a:r>
            <a:r>
              <a:rPr lang="en" altLang="zh-CN" sz="14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2025.</a:t>
            </a:r>
            <a:endParaRPr lang="zh-CN" altLang="en-US" sz="140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ECB6F8E-1280-6C29-6EB0-563C670E92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180" y="3467868"/>
            <a:ext cx="11667560" cy="3051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6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FDBF3-C13A-FF1E-3700-E9434DF84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1">
            <a:extLst>
              <a:ext uri="{FF2B5EF4-FFF2-40B4-BE49-F238E27FC236}">
                <a16:creationId xmlns:a16="http://schemas.microsoft.com/office/drawing/2014/main" id="{DCB36E10-036E-E18D-0EE6-2A85B09EF603}"/>
              </a:ext>
            </a:extLst>
          </p:cNvPr>
          <p:cNvSpPr txBox="1"/>
          <p:nvPr/>
        </p:nvSpPr>
        <p:spPr>
          <a:xfrm>
            <a:off x="78105" y="196323"/>
            <a:ext cx="1203578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4.</a:t>
            </a:r>
            <a:r>
              <a:rPr lang="zh-CN" altLang="en-US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 </a:t>
            </a:r>
            <a:r>
              <a:rPr lang="en" altLang="zh-C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AI-Researcher</a:t>
            </a:r>
            <a:endParaRPr lang="en" altLang="zh-CN" sz="28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方正姚体" panose="02010601030101010101" pitchFamily="2" charset="-122"/>
              <a:cs typeface="Times New Roman" panose="02020603050405020304" pitchFamily="18" charset="0"/>
            </a:endParaRPr>
          </a:p>
          <a:p>
            <a:endParaRPr lang="en" altLang="zh-CN" sz="36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方正姚体" panose="02010601030101010101" pitchFamily="2" charset="-122"/>
              <a:cs typeface="Times New Roman" panose="02020603050405020304" pitchFamily="18" charset="0"/>
            </a:endParaRPr>
          </a:p>
          <a:p>
            <a:endParaRPr lang="en" altLang="zh-CN" sz="36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方正姚体" panose="02010601030101010101" pitchFamily="2" charset="-122"/>
              <a:cs typeface="Times New Roman" panose="02020603050405020304" pitchFamily="18" charset="0"/>
            </a:endParaRPr>
          </a:p>
          <a:p>
            <a:endParaRPr lang="en" altLang="zh-CN" sz="36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方正姚体" panose="02010601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54C2D26-A93E-EE43-748E-4B47A47A42B8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4950460" y="6518910"/>
            <a:ext cx="3693160" cy="29908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E57E098-6AEB-D32E-A4D7-0677C3A4E5C7}"/>
              </a:ext>
            </a:extLst>
          </p:cNvPr>
          <p:cNvSpPr txBox="1"/>
          <p:nvPr/>
        </p:nvSpPr>
        <p:spPr>
          <a:xfrm>
            <a:off x="78105" y="1034039"/>
            <a:ext cx="12035789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Ø"/>
            </a:pPr>
            <a:r>
              <a:rPr lang="en" altLang="zh-CN" sz="2400" b="1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Stage 1: Building a Foundational Knowledge Base</a:t>
            </a:r>
          </a:p>
          <a:p>
            <a:pPr algn="just"/>
            <a:endParaRPr lang="en" altLang="zh-CN" sz="2400" b="1" dirty="0">
              <a:solidFill>
                <a:srgbClr val="1A1C1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" altLang="zh-CN" sz="2000" b="1" i="0" dirty="0">
                <a:solidFill>
                  <a:srgbClr val="1A1C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Goal:</a:t>
            </a:r>
            <a:r>
              <a:rPr lang="en" altLang="zh-CN" sz="2000" b="0" i="0" dirty="0">
                <a:solidFill>
                  <a:srgbClr val="1A1C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To autonomously build a comprehensive understanding of a field and formulate a novel, promising, and well-grounded research direction.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endParaRPr lang="en" altLang="zh-CN" sz="2000" dirty="0">
              <a:solidFill>
                <a:srgbClr val="1A1C1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" altLang="zh-CN" sz="2000" b="1" i="0" dirty="0">
                <a:solidFill>
                  <a:srgbClr val="1A1C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Knowledge Acquisition Agent:</a:t>
            </a:r>
            <a:endParaRPr lang="en" altLang="zh-CN" sz="2000" b="0" i="0" dirty="0">
              <a:solidFill>
                <a:srgbClr val="1A1C1E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 algn="just">
              <a:buFont typeface="Wingdings" pitchFamily="2" charset="2"/>
              <a:buChar char="p"/>
            </a:pPr>
            <a:r>
              <a:rPr lang="en" altLang="zh-CN" b="0" i="0" dirty="0">
                <a:solidFill>
                  <a:srgbClr val="1A1C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Systematically discovers and filters relevant academic papers and high-quality code repositories, starting from a small set of seed references (e.g., 10-15 papers).</a:t>
            </a:r>
          </a:p>
          <a:p>
            <a:pPr marL="1200150" lvl="2" indent="-285750" algn="just">
              <a:buFont typeface="Wingdings" pitchFamily="2" charset="2"/>
              <a:buChar char="p"/>
            </a:pPr>
            <a:endParaRPr lang="en" altLang="zh-CN" sz="2000" dirty="0">
              <a:solidFill>
                <a:srgbClr val="1A1C1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" altLang="zh-CN" sz="2000" b="1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Resource Analyst Agent (Key Innovation):</a:t>
            </a:r>
          </a:p>
          <a:p>
            <a:pPr marL="1200150" lvl="2" indent="-285750" algn="just">
              <a:buFont typeface="Wingdings" pitchFamily="2" charset="2"/>
              <a:buChar char="p"/>
            </a:pPr>
            <a:r>
              <a:rPr lang="en" altLang="zh-CN" b="0" i="0" dirty="0">
                <a:solidFill>
                  <a:srgbClr val="1A1C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Goes beyond surface-level reading by deconstructing complex concepts.</a:t>
            </a:r>
          </a:p>
          <a:p>
            <a:pPr marL="1200150" lvl="2" indent="-285750" algn="just">
              <a:buFont typeface="Wingdings" pitchFamily="2" charset="2"/>
              <a:buChar char="p"/>
            </a:pPr>
            <a:r>
              <a:rPr lang="en" altLang="zh-CN" b="0" i="0" dirty="0">
                <a:solidFill>
                  <a:srgbClr val="1A1C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Meticulously </a:t>
            </a:r>
            <a:r>
              <a:rPr lang="en" altLang="zh-CN" b="1" i="0" dirty="0">
                <a:solidFill>
                  <a:srgbClr val="1A1C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links mathematical formulations</a:t>
            </a:r>
            <a:r>
              <a:rPr lang="en" altLang="zh-CN" b="0" i="0" dirty="0">
                <a:solidFill>
                  <a:srgbClr val="1A1C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from papers directly to their </a:t>
            </a:r>
            <a:r>
              <a:rPr lang="en" altLang="zh-CN" b="1" i="0" dirty="0">
                <a:solidFill>
                  <a:srgbClr val="1A1C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corresponding code implementations</a:t>
            </a:r>
            <a:r>
              <a:rPr lang="en" altLang="zh-CN" b="0" i="0" dirty="0">
                <a:solidFill>
                  <a:srgbClr val="1A1C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ensuring a true understanding of the material.</a:t>
            </a:r>
          </a:p>
          <a:p>
            <a:pPr lvl="2" algn="just"/>
            <a:endParaRPr lang="en" altLang="zh-CN" b="0" i="0" dirty="0">
              <a:solidFill>
                <a:srgbClr val="1A1C1E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" altLang="zh-CN" sz="2000" b="1" i="0" dirty="0">
                <a:solidFill>
                  <a:srgbClr val="1A1C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Idea Generator Agent:</a:t>
            </a:r>
            <a:endParaRPr lang="en" altLang="zh-CN" sz="2000" b="0" i="0" dirty="0">
              <a:solidFill>
                <a:srgbClr val="1A1C1E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 algn="just">
              <a:buFont typeface="Wingdings" pitchFamily="2" charset="2"/>
              <a:buChar char="p"/>
            </a:pPr>
            <a:r>
              <a:rPr lang="en" altLang="zh-CN" b="0" i="0" dirty="0">
                <a:solidFill>
                  <a:srgbClr val="1A1C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Synthesizes the deeply analyzed knowledge to identify genuine research gaps.</a:t>
            </a:r>
          </a:p>
          <a:p>
            <a:pPr marL="1200150" lvl="2" indent="-285750" algn="just">
              <a:buFont typeface="Wingdings" pitchFamily="2" charset="2"/>
              <a:buChar char="p"/>
            </a:pPr>
            <a:r>
              <a:rPr lang="en" altLang="zh-CN" b="0" i="0" dirty="0">
                <a:solidFill>
                  <a:srgbClr val="1A1C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Proposes novel hypotheses that move beyond simple recombination of existing ideas, fostering true innovation.</a:t>
            </a:r>
          </a:p>
          <a:p>
            <a:pPr lvl="1" algn="just"/>
            <a:endParaRPr lang="en" altLang="zh-CN" sz="2000" b="0" i="0" dirty="0">
              <a:solidFill>
                <a:srgbClr val="1A1C1E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67C8FEC-8371-3860-B2E8-893606F12C4D}"/>
              </a:ext>
            </a:extLst>
          </p:cNvPr>
          <p:cNvSpPr txBox="1"/>
          <p:nvPr/>
        </p:nvSpPr>
        <p:spPr>
          <a:xfrm>
            <a:off x="78105" y="6495130"/>
            <a:ext cx="119012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14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Tang J, Xia L, Li Z, et al. AI-Researcher: Autonomous Scientific Innovation[J]. </a:t>
            </a:r>
            <a:r>
              <a:rPr lang="en" altLang="zh-CN" sz="140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NeurIPS</a:t>
            </a:r>
            <a:r>
              <a:rPr lang="en" altLang="zh-CN" sz="14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2025.</a:t>
            </a:r>
            <a:endParaRPr lang="zh-CN" altLang="en-US" sz="140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50152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3906F-7C88-7D65-07AA-7C947B8EC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1">
            <a:extLst>
              <a:ext uri="{FF2B5EF4-FFF2-40B4-BE49-F238E27FC236}">
                <a16:creationId xmlns:a16="http://schemas.microsoft.com/office/drawing/2014/main" id="{460F75AE-54F6-09F8-D6A0-90A8EDE5E194}"/>
              </a:ext>
            </a:extLst>
          </p:cNvPr>
          <p:cNvSpPr txBox="1"/>
          <p:nvPr/>
        </p:nvSpPr>
        <p:spPr>
          <a:xfrm>
            <a:off x="78105" y="196323"/>
            <a:ext cx="1203578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4.</a:t>
            </a:r>
            <a:r>
              <a:rPr lang="zh-CN" altLang="en-US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 </a:t>
            </a:r>
            <a:r>
              <a:rPr lang="en" altLang="zh-C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AI-Researcher</a:t>
            </a:r>
            <a:endParaRPr lang="en" altLang="zh-CN" sz="28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方正姚体" panose="02010601030101010101" pitchFamily="2" charset="-122"/>
              <a:cs typeface="Times New Roman" panose="02020603050405020304" pitchFamily="18" charset="0"/>
            </a:endParaRPr>
          </a:p>
          <a:p>
            <a:endParaRPr lang="en" altLang="zh-CN" sz="36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方正姚体" panose="02010601030101010101" pitchFamily="2" charset="-122"/>
              <a:cs typeface="Times New Roman" panose="02020603050405020304" pitchFamily="18" charset="0"/>
            </a:endParaRPr>
          </a:p>
          <a:p>
            <a:endParaRPr lang="en" altLang="zh-CN" sz="36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方正姚体" panose="02010601030101010101" pitchFamily="2" charset="-122"/>
              <a:cs typeface="Times New Roman" panose="02020603050405020304" pitchFamily="18" charset="0"/>
            </a:endParaRPr>
          </a:p>
          <a:p>
            <a:endParaRPr lang="en" altLang="zh-CN" sz="36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方正姚体" panose="02010601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9D44AFF-A4B2-FFDC-4F65-A6EBDF2F199C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4950460" y="6518910"/>
            <a:ext cx="3693160" cy="29908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0FABB72-E614-AC29-B61F-CBE48259DC97}"/>
              </a:ext>
            </a:extLst>
          </p:cNvPr>
          <p:cNvSpPr txBox="1"/>
          <p:nvPr/>
        </p:nvSpPr>
        <p:spPr>
          <a:xfrm>
            <a:off x="78105" y="1034039"/>
            <a:ext cx="595062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Ø"/>
            </a:pPr>
            <a:r>
              <a:rPr lang="en" altLang="zh-CN" sz="2400" b="1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Stage 2: The Core Research Engine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" altLang="zh-CN" sz="2000" b="1" i="0" dirty="0">
                <a:solidFill>
                  <a:srgbClr val="1A1C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Goal:</a:t>
            </a:r>
            <a:r>
              <a:rPr lang="en" altLang="zh-CN" sz="2000" b="0" i="0" dirty="0">
                <a:solidFill>
                  <a:srgbClr val="1A1C1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To translate the novel research concept into a functional, robust, and empirically validated implementation.</a:t>
            </a:r>
            <a:endParaRPr lang="en" altLang="zh-CN" sz="2000" b="1" dirty="0">
              <a:solidFill>
                <a:srgbClr val="1A1C1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86F9FAD-0E10-679A-1560-943D4BB27197}"/>
              </a:ext>
            </a:extLst>
          </p:cNvPr>
          <p:cNvSpPr txBox="1"/>
          <p:nvPr/>
        </p:nvSpPr>
        <p:spPr>
          <a:xfrm>
            <a:off x="78105" y="6495130"/>
            <a:ext cx="119012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14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Tang J, Xia L, Li Z, et al. AI-Researcher: Autonomous Scientific Innovation[J]. </a:t>
            </a:r>
            <a:r>
              <a:rPr lang="en" altLang="zh-CN" sz="140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NeurIPS</a:t>
            </a:r>
            <a:r>
              <a:rPr lang="en" altLang="zh-CN" sz="14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2025.</a:t>
            </a:r>
            <a:endParaRPr lang="zh-CN" altLang="en-US" sz="140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0C8C046-8DC9-9EA8-8CE8-52DF84FCE3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960" y="2360273"/>
            <a:ext cx="5626826" cy="4158637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DEEC24E4-9501-706B-1094-C6B65BAB675E}"/>
              </a:ext>
            </a:extLst>
          </p:cNvPr>
          <p:cNvSpPr txBox="1"/>
          <p:nvPr/>
        </p:nvSpPr>
        <p:spPr>
          <a:xfrm>
            <a:off x="6177581" y="1034039"/>
            <a:ext cx="6085167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p"/>
            </a:pPr>
            <a:r>
              <a:rPr lang="en" altLang="zh-CN" b="1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Innovation: The Multi-Stage Refinement Architecture: </a:t>
            </a:r>
            <a:r>
              <a:rPr lang="en" altLang="zh-CN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mimics the highly effective </a:t>
            </a:r>
            <a:r>
              <a:rPr lang="en" altLang="zh-CN" b="1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advisor-student dynamic</a:t>
            </a:r>
            <a:r>
              <a:rPr lang="en" altLang="zh-CN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common in human research labs.</a:t>
            </a:r>
          </a:p>
          <a:p>
            <a:pPr marL="285750" indent="-285750" algn="just">
              <a:buFont typeface="Wingdings" pitchFamily="2" charset="2"/>
              <a:buChar char="p"/>
            </a:pPr>
            <a:endParaRPr lang="en" altLang="zh-CN" b="1" i="0" dirty="0">
              <a:solidFill>
                <a:srgbClr val="1A1C1E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itchFamily="2" charset="2"/>
              <a:buChar char="p"/>
            </a:pPr>
            <a:r>
              <a:rPr lang="en" altLang="zh-CN" b="1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 Agent ("The Student"):</a:t>
            </a:r>
          </a:p>
          <a:p>
            <a:pPr marL="742950" lvl="1" indent="-285750" algn="just">
              <a:buFont typeface="Wingdings" pitchFamily="2" charset="2"/>
              <a:buChar char="ü"/>
            </a:pPr>
            <a:r>
              <a:rPr lang="en" altLang="zh-CN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Responsible for writing the initial and subsequent versions of the algorithm's implementation.</a:t>
            </a:r>
          </a:p>
          <a:p>
            <a:pPr marL="742950" lvl="1" indent="-285750" algn="just">
              <a:buFont typeface="Wingdings" pitchFamily="2" charset="2"/>
              <a:buChar char="ü"/>
            </a:pPr>
            <a:r>
              <a:rPr lang="en" altLang="zh-CN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Operates within a secure, containerized environment to ensure safety and reproducibility.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" altLang="zh-CN" dirty="0">
              <a:solidFill>
                <a:srgbClr val="1A1C1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itchFamily="2" charset="2"/>
              <a:buChar char="p"/>
            </a:pPr>
            <a:r>
              <a:rPr lang="en" altLang="zh-CN" b="1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Advisor Agent ("The Mentor"):</a:t>
            </a:r>
          </a:p>
          <a:p>
            <a:pPr marL="742950" lvl="1" indent="-285750" algn="just">
              <a:buFont typeface="Wingdings" pitchFamily="2" charset="2"/>
              <a:buChar char="ü"/>
            </a:pPr>
            <a:r>
              <a:rPr lang="en" altLang="zh-CN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Provides expert-level feedback by validating the implementation against the core research concepts.</a:t>
            </a:r>
          </a:p>
          <a:p>
            <a:pPr marL="742950" lvl="1" indent="-285750" algn="just">
              <a:buFont typeface="Wingdings" pitchFamily="2" charset="2"/>
              <a:buChar char="ü"/>
            </a:pPr>
            <a:r>
              <a:rPr lang="en" altLang="zh-CN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Analyzes experimental results and suggests actionable, concrete modifications for improvement.</a:t>
            </a:r>
          </a:p>
          <a:p>
            <a:pPr marL="285750" indent="-285750" algn="just">
              <a:buFont typeface="Wingdings" pitchFamily="2" charset="2"/>
              <a:buChar char="ü"/>
            </a:pPr>
            <a:endParaRPr lang="en" altLang="zh-CN" dirty="0">
              <a:solidFill>
                <a:srgbClr val="1A1C1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itchFamily="2" charset="2"/>
              <a:buChar char="p"/>
            </a:pPr>
            <a:r>
              <a:rPr lang="en" altLang="zh-CN" b="1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Iterative Refinement Cycle</a:t>
            </a:r>
            <a:r>
              <a:rPr lang="en" altLang="zh-CN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 algn="just">
              <a:buFont typeface="Wingdings" pitchFamily="2" charset="2"/>
              <a:buChar char="ü"/>
            </a:pPr>
            <a:r>
              <a:rPr lang="en" altLang="zh-CN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framework operates in a continuous loop, progressively enhancing the quality and alignment of the code: </a:t>
            </a:r>
            <a:r>
              <a:rPr lang="en" altLang="zh-CN" b="1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→ Validation → Feedback → Refinement.</a:t>
            </a:r>
          </a:p>
        </p:txBody>
      </p:sp>
    </p:spTree>
    <p:extLst>
      <p:ext uri="{BB962C8B-B14F-4D97-AF65-F5344CB8AC3E}">
        <p14:creationId xmlns:p14="http://schemas.microsoft.com/office/powerpoint/2010/main" val="30491194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83F5A0-640E-2F5A-8D4B-46C8B2AB2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1">
            <a:extLst>
              <a:ext uri="{FF2B5EF4-FFF2-40B4-BE49-F238E27FC236}">
                <a16:creationId xmlns:a16="http://schemas.microsoft.com/office/drawing/2014/main" id="{E3845FC3-7994-892B-F0E1-A681F0B03133}"/>
              </a:ext>
            </a:extLst>
          </p:cNvPr>
          <p:cNvSpPr txBox="1"/>
          <p:nvPr/>
        </p:nvSpPr>
        <p:spPr>
          <a:xfrm>
            <a:off x="78105" y="196323"/>
            <a:ext cx="1203578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4.</a:t>
            </a:r>
            <a:r>
              <a:rPr lang="zh-CN" altLang="en-US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 </a:t>
            </a:r>
            <a:r>
              <a:rPr lang="en" altLang="zh-C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AI-Researcher</a:t>
            </a:r>
            <a:endParaRPr lang="en" altLang="zh-CN" sz="28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方正姚体" panose="02010601030101010101" pitchFamily="2" charset="-122"/>
              <a:cs typeface="Times New Roman" panose="02020603050405020304" pitchFamily="18" charset="0"/>
            </a:endParaRPr>
          </a:p>
          <a:p>
            <a:endParaRPr lang="en" altLang="zh-CN" sz="36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方正姚体" panose="02010601030101010101" pitchFamily="2" charset="-122"/>
              <a:cs typeface="Times New Roman" panose="02020603050405020304" pitchFamily="18" charset="0"/>
            </a:endParaRPr>
          </a:p>
          <a:p>
            <a:endParaRPr lang="en" altLang="zh-CN" sz="36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方正姚体" panose="02010601030101010101" pitchFamily="2" charset="-122"/>
              <a:cs typeface="Times New Roman" panose="02020603050405020304" pitchFamily="18" charset="0"/>
            </a:endParaRPr>
          </a:p>
          <a:p>
            <a:endParaRPr lang="en" altLang="zh-CN" sz="36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方正姚体" panose="02010601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886D726-68FB-6445-45FD-A6CC01B4BD63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4950460" y="6518910"/>
            <a:ext cx="3693160" cy="29908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DF2672A-4127-D8BF-F8BA-67B53C195398}"/>
              </a:ext>
            </a:extLst>
          </p:cNvPr>
          <p:cNvSpPr txBox="1"/>
          <p:nvPr/>
        </p:nvSpPr>
        <p:spPr>
          <a:xfrm>
            <a:off x="78105" y="1034039"/>
            <a:ext cx="595062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Ø"/>
            </a:pPr>
            <a:r>
              <a:rPr lang="en" altLang="zh-CN" sz="2400" b="1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Stage 3: Producing a Publication-Ready Manuscript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" altLang="zh-CN" sz="2000" b="1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Goal: </a:t>
            </a:r>
            <a:r>
              <a:rPr lang="en" altLang="zh-CN" sz="2000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transform all technical artifacts and agent reasoning logs into a coherent, logically sound, and publication-ready scientific paper.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4BB3BF8-8F2B-17BF-CAB5-FD09137306D0}"/>
              </a:ext>
            </a:extLst>
          </p:cNvPr>
          <p:cNvSpPr txBox="1"/>
          <p:nvPr/>
        </p:nvSpPr>
        <p:spPr>
          <a:xfrm>
            <a:off x="78105" y="6495130"/>
            <a:ext cx="119012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14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Tang J, Xia L, Li Z, et al. AI-Researcher: Autonomous Scientific Innovation[J]. </a:t>
            </a:r>
            <a:r>
              <a:rPr lang="en" altLang="zh-CN" sz="140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NeurIPS</a:t>
            </a:r>
            <a:r>
              <a:rPr lang="en" altLang="zh-CN" sz="14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2025.</a:t>
            </a:r>
            <a:endParaRPr lang="zh-CN" altLang="en-US" sz="140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685186F-DE84-6AB9-A2FB-639CE0E5D5EC}"/>
              </a:ext>
            </a:extLst>
          </p:cNvPr>
          <p:cNvSpPr txBox="1"/>
          <p:nvPr/>
        </p:nvSpPr>
        <p:spPr>
          <a:xfrm>
            <a:off x="6163276" y="1034039"/>
            <a:ext cx="6085167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p"/>
            </a:pPr>
            <a:r>
              <a:rPr lang="en" altLang="zh-CN" b="1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Challenge Addressed:</a:t>
            </a:r>
          </a:p>
          <a:p>
            <a:pPr marL="742950" lvl="1" indent="-285750" algn="just">
              <a:buFont typeface="Wingdings" pitchFamily="2" charset="2"/>
              <a:buChar char="ü"/>
            </a:pPr>
            <a:r>
              <a:rPr lang="en" altLang="zh-CN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Overcomes a core limitation of LLMs—maintaining long-range coherence and factual integrity—by decomposing the complex writing task into a structured, hierarchical process.</a:t>
            </a:r>
          </a:p>
          <a:p>
            <a:pPr marL="285750" indent="-285750" algn="just">
              <a:buFont typeface="Wingdings" pitchFamily="2" charset="2"/>
              <a:buChar char="ü"/>
            </a:pPr>
            <a:endParaRPr lang="en" altLang="zh-CN" b="1" i="0" dirty="0">
              <a:solidFill>
                <a:srgbClr val="1A1C1E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itchFamily="2" charset="2"/>
              <a:buChar char="p"/>
            </a:pPr>
            <a:r>
              <a:rPr lang="en" altLang="zh-CN" b="1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Documentation Agent</a:t>
            </a:r>
            <a:r>
              <a:rPr lang="en" altLang="zh-CN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 algn="just">
              <a:buFont typeface="Wingdings" pitchFamily="2" charset="2"/>
              <a:buChar char="ü"/>
            </a:pPr>
            <a:r>
              <a:rPr lang="en" altLang="zh-CN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Systematically integrates all research elements—including agent reasoning, code snippets, and experimental outcomes—into a cohesive narrative.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endParaRPr lang="en" altLang="zh-CN" dirty="0">
              <a:solidFill>
                <a:srgbClr val="1A1C1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itchFamily="2" charset="2"/>
              <a:buChar char="p"/>
            </a:pPr>
            <a:r>
              <a:rPr lang="en" altLang="zh-CN" b="1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Three-Phase Hierarchical Writing Process</a:t>
            </a:r>
            <a:r>
              <a:rPr lang="en" altLang="zh-CN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 algn="just">
              <a:buFont typeface="Wingdings" pitchFamily="2" charset="2"/>
              <a:buChar char="ü"/>
            </a:pPr>
            <a:r>
              <a:rPr lang="en" altLang="zh-CN" b="1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Synthesizing Artifacts</a:t>
            </a:r>
            <a:r>
              <a:rPr lang="en" altLang="zh-CN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 First, creates a high-level structural outline for the paper.</a:t>
            </a:r>
          </a:p>
          <a:p>
            <a:pPr marL="742950" lvl="1" indent="-285750" algn="just">
              <a:buFont typeface="Wingdings" pitchFamily="2" charset="2"/>
              <a:buChar char="ü"/>
            </a:pPr>
            <a:r>
              <a:rPr lang="en" altLang="zh-CN" b="1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Template-Guided Elaboration</a:t>
            </a:r>
            <a:r>
              <a:rPr lang="en" altLang="zh-CN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 Next, fleshes out the detailed content for each section based on the outline and available data.</a:t>
            </a:r>
          </a:p>
          <a:p>
            <a:pPr marL="742950" lvl="1" indent="-285750" algn="just">
              <a:buFont typeface="Wingdings" pitchFamily="2" charset="2"/>
              <a:buChar char="ü"/>
            </a:pPr>
            <a:r>
              <a:rPr lang="en" altLang="zh-CN" b="1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Hierarchical Verification</a:t>
            </a:r>
            <a:r>
              <a:rPr lang="en" altLang="zh-CN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 Finally, uses academic checklists to review the entire manuscript, remediating inaccuracies and ensuring the final document meets rigorous publication standards.</a:t>
            </a:r>
          </a:p>
          <a:p>
            <a:pPr marL="285750" indent="-285750" algn="just">
              <a:buFont typeface="Wingdings" pitchFamily="2" charset="2"/>
              <a:buChar char="p"/>
            </a:pPr>
            <a:endParaRPr lang="en" altLang="zh-CN" b="1" i="0" dirty="0">
              <a:solidFill>
                <a:srgbClr val="1A1C1E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7168A18-3BB9-B2F2-6525-C66047A5ED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676" y="2777316"/>
            <a:ext cx="5058334" cy="3990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06184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5AC514-5FF2-D27F-1F6F-59D9941B0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1">
            <a:extLst>
              <a:ext uri="{FF2B5EF4-FFF2-40B4-BE49-F238E27FC236}">
                <a16:creationId xmlns:a16="http://schemas.microsoft.com/office/drawing/2014/main" id="{401B468B-2F81-B31F-00A8-F2347F9EECB3}"/>
              </a:ext>
            </a:extLst>
          </p:cNvPr>
          <p:cNvSpPr txBox="1"/>
          <p:nvPr/>
        </p:nvSpPr>
        <p:spPr>
          <a:xfrm>
            <a:off x="78105" y="196323"/>
            <a:ext cx="120357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5.</a:t>
            </a:r>
            <a:r>
              <a:rPr lang="zh-CN" altLang="en-US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 </a:t>
            </a:r>
            <a:r>
              <a:rPr lang="en" altLang="zh-C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Product</a:t>
            </a:r>
            <a:r>
              <a:rPr lang="zh-CN" altLang="en-US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 </a:t>
            </a:r>
            <a:r>
              <a:rPr lang="en" altLang="zh-C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Presentation 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81486B2-2AEC-D345-A9BE-67EA7B08A325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4950460" y="6518910"/>
            <a:ext cx="3693160" cy="29908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45136A1-C7CE-A0F0-B010-4FA066741832}"/>
              </a:ext>
            </a:extLst>
          </p:cNvPr>
          <p:cNvSpPr txBox="1"/>
          <p:nvPr/>
        </p:nvSpPr>
        <p:spPr>
          <a:xfrm>
            <a:off x="78105" y="6495130"/>
            <a:ext cx="119012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14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Tang J, Xia L, Li Z, et al. AI-Researcher: Autonomous Scientific Innovation[J]. </a:t>
            </a:r>
            <a:r>
              <a:rPr lang="en" altLang="zh-CN" sz="140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NeurIPS</a:t>
            </a:r>
            <a:r>
              <a:rPr lang="en" altLang="zh-CN" sz="14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2025.</a:t>
            </a:r>
            <a:endParaRPr lang="zh-CN" altLang="en-US" sz="140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5E4F628-4CB7-1D4D-E1F6-3670A2B86509}"/>
              </a:ext>
            </a:extLst>
          </p:cNvPr>
          <p:cNvSpPr txBox="1"/>
          <p:nvPr/>
        </p:nvSpPr>
        <p:spPr>
          <a:xfrm>
            <a:off x="78105" y="1034039"/>
            <a:ext cx="120357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itchFamily="2" charset="2"/>
              <a:buChar char="Ø"/>
            </a:pPr>
            <a:r>
              <a:rPr lang="en" altLang="zh-CN" sz="2400" b="1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production-ready version of AI-Researcher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" altLang="zh-CN" sz="2400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https://novix.science/chat</a:t>
            </a:r>
            <a:r>
              <a:rPr lang="en" altLang="zh-CN" sz="2400" dirty="0">
                <a:solidFill>
                  <a:srgbClr val="1A1C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E64AA9D0-EEE7-19A1-613D-F63B6D62D0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0023" y="1530983"/>
            <a:ext cx="6839429" cy="4976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098962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368</TotalTime>
  <Words>2963</Words>
  <Application>Microsoft Macintosh PowerPoint</Application>
  <PresentationFormat>宽屏</PresentationFormat>
  <Paragraphs>338</Paragraphs>
  <Slides>23</Slides>
  <Notes>23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0" baseType="lpstr">
      <vt:lpstr>等线</vt:lpstr>
      <vt:lpstr>等线 Light</vt:lpstr>
      <vt:lpstr>Inter</vt:lpstr>
      <vt:lpstr>Arial</vt:lpstr>
      <vt:lpstr>Times New Roman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Duzhen Zhang</dc:creator>
  <cp:lastModifiedBy>Duzhen Zhang</cp:lastModifiedBy>
  <cp:revision>259</cp:revision>
  <dcterms:created xsi:type="dcterms:W3CDTF">2025-09-08T06:01:48Z</dcterms:created>
  <dcterms:modified xsi:type="dcterms:W3CDTF">2025-10-08T09:18:21Z</dcterms:modified>
</cp:coreProperties>
</file>